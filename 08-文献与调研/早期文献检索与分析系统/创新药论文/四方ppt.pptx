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304" r:id="rId5"/>
    <p:sldId id="309" r:id="rId6"/>
    <p:sldId id="305" r:id="rId7"/>
    <p:sldId id="306" r:id="rId8"/>
    <p:sldId id="307" r:id="rId9"/>
    <p:sldId id="337" r:id="rId10"/>
    <p:sldId id="324" r:id="rId11"/>
    <p:sldId id="338" r:id="rId12"/>
    <p:sldId id="325" r:id="rId13"/>
    <p:sldId id="327" r:id="rId14"/>
    <p:sldId id="329" r:id="rId15"/>
    <p:sldId id="330" r:id="rId16"/>
    <p:sldId id="331" r:id="rId17"/>
    <p:sldId id="334" r:id="rId18"/>
    <p:sldId id="320" r:id="rId19"/>
    <p:sldId id="321" r:id="rId20"/>
    <p:sldId id="323" r:id="rId21"/>
    <p:sldId id="322" r:id="rId22"/>
    <p:sldId id="296" r:id="rId23"/>
  </p:sldIdLst>
  <p:sldSz cx="1219517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D7BC"/>
    <a:srgbClr val="46CEAE"/>
    <a:srgbClr val="34495E"/>
    <a:srgbClr val="202A36"/>
    <a:srgbClr val="FFFFFF"/>
    <a:srgbClr val="E8E8E8"/>
    <a:srgbClr val="F9F9F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2" autoAdjust="0"/>
    <p:restoredTop sz="94660"/>
  </p:normalViewPr>
  <p:slideViewPr>
    <p:cSldViewPr showGuides="1">
      <p:cViewPr varScale="1">
        <p:scale>
          <a:sx n="113" d="100"/>
          <a:sy n="113" d="100"/>
        </p:scale>
        <p:origin x="288" y="114"/>
      </p:cViewPr>
      <p:guideLst>
        <p:guide orient="horz" pos="4319"/>
        <p:guide pos="37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47A1D-12E5-456D-BF67-C0BDB0A187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638" y="2130426"/>
            <a:ext cx="10365899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276" y="3886200"/>
            <a:ext cx="853662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4406901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012" y="1600201"/>
            <a:ext cx="7217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33862" y="1600201"/>
            <a:ext cx="72175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980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4980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974" y="273051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59" y="1435101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340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340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340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92903" y="274639"/>
            <a:ext cx="365855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3012" y="274639"/>
            <a:ext cx="1077663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600201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759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685" y="6356351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875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emf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emf"/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emf"/><Relationship Id="rId2" Type="http://schemas.openxmlformats.org/officeDocument/2006/relationships/image" Target="../media/image11.emf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10585176" cy="331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5" name="标题 49"/>
          <p:cNvSpPr txBox="1">
            <a:spLocks noChangeArrowheads="1"/>
          </p:cNvSpPr>
          <p:nvPr/>
        </p:nvSpPr>
        <p:spPr>
          <a:xfrm>
            <a:off x="2686673" y="1916832"/>
            <a:ext cx="6893835" cy="28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 smtClean="0">
                <a:solidFill>
                  <a:schemeClr val="accent1"/>
                </a:solidFill>
                <a:latin typeface="+mn-ea"/>
                <a:ea typeface="+mn-ea"/>
              </a:rPr>
              <a:t>演化</a:t>
            </a:r>
            <a:r>
              <a:rPr lang="zh-CN" altLang="en-US" sz="4000" b="1" dirty="0">
                <a:solidFill>
                  <a:schemeClr val="accent1"/>
                </a:solidFill>
                <a:latin typeface="+mn-ea"/>
                <a:ea typeface="+mn-ea"/>
              </a:rPr>
              <a:t>博弈“零基础”教学</a:t>
            </a:r>
            <a:endParaRPr lang="zh-CN" altLang="en-US" sz="4000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文章结构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9622" y="789040"/>
            <a:ext cx="11058820" cy="628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确定研究的主题（领域、相关主体、博弈焦点）</a:t>
            </a:r>
            <a:endParaRPr lang="en-US" altLang="zh-CN" sz="2800" b="1" dirty="0"/>
          </a:p>
          <a:p>
            <a:pPr algn="just">
              <a:lnSpc>
                <a:spcPct val="135000"/>
              </a:lnSpc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研究假设与模型构建</a:t>
            </a:r>
            <a:endParaRPr lang="en-US" altLang="zh-CN" sz="2800" b="1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2.1</a:t>
            </a:r>
            <a:r>
              <a:rPr lang="zh-CN" altLang="en-US" sz="2000" dirty="0"/>
              <a:t>研究假设（博弈主体、博弈策略、博弈得益）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2.2</a:t>
            </a:r>
            <a:r>
              <a:rPr lang="zh-CN" altLang="en-US" sz="2000" dirty="0"/>
              <a:t>模型构建（依据假设构建博弈支付矩阵）</a:t>
            </a:r>
            <a:endParaRPr lang="en-US" altLang="zh-CN" sz="2800" b="1" dirty="0"/>
          </a:p>
          <a:p>
            <a:pPr>
              <a:lnSpc>
                <a:spcPct val="135000"/>
              </a:lnSpc>
            </a:pPr>
            <a:r>
              <a:rPr lang="en-US" altLang="zh-CN" sz="2800" b="1" dirty="0"/>
              <a:t>3.</a:t>
            </a:r>
            <a:r>
              <a:rPr lang="zh-CN" altLang="en-US" sz="2800" b="1" dirty="0"/>
              <a:t>模型求解与分析</a:t>
            </a:r>
            <a:endParaRPr lang="en-US" altLang="zh-CN" sz="2800" b="1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3.1</a:t>
            </a:r>
            <a:r>
              <a:rPr lang="zh-CN" altLang="en-US" sz="2000" dirty="0"/>
              <a:t>单个主体均衡点稳定性分析（两方就是两个主体的稳定性、三方就是三个、四方就是四个）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3.2</a:t>
            </a:r>
            <a:r>
              <a:rPr lang="zh-CN" altLang="en-US" sz="2000" dirty="0"/>
              <a:t>系统的均衡点稳定性分析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800" b="1" dirty="0"/>
              <a:t>4.</a:t>
            </a:r>
            <a:r>
              <a:rPr lang="zh-CN" altLang="en-US" sz="2800" b="1" dirty="0"/>
              <a:t>数值仿真模拟</a:t>
            </a:r>
            <a:endParaRPr lang="en-US" altLang="zh-CN" sz="2800" b="1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参数赋值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4.1</a:t>
            </a:r>
            <a:r>
              <a:rPr lang="zh-CN" altLang="en-US" sz="2000" dirty="0"/>
              <a:t>系统初始演化路径分析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4.2</a:t>
            </a:r>
            <a:r>
              <a:rPr lang="zh-CN" altLang="en-US" sz="2000" dirty="0"/>
              <a:t>初值变动对演化结果的影响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4.3</a:t>
            </a:r>
            <a:r>
              <a:rPr lang="zh-CN" altLang="en-US" sz="2000" dirty="0"/>
              <a:t>参数的敏感性分析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15" name="星形: 五角 14"/>
          <p:cNvSpPr/>
          <p:nvPr/>
        </p:nvSpPr>
        <p:spPr>
          <a:xfrm>
            <a:off x="6312473" y="2122807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星形: 五角 15"/>
          <p:cNvSpPr/>
          <p:nvPr/>
        </p:nvSpPr>
        <p:spPr>
          <a:xfrm>
            <a:off x="8617867" y="1052736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星形: 五角 16"/>
          <p:cNvSpPr/>
          <p:nvPr/>
        </p:nvSpPr>
        <p:spPr>
          <a:xfrm>
            <a:off x="3433291" y="6151132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星形: 五角 17"/>
          <p:cNvSpPr/>
          <p:nvPr/>
        </p:nvSpPr>
        <p:spPr>
          <a:xfrm>
            <a:off x="5849054" y="2520303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星形: 五角 18"/>
          <p:cNvSpPr/>
          <p:nvPr/>
        </p:nvSpPr>
        <p:spPr>
          <a:xfrm>
            <a:off x="4568515" y="1595322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星形: 五角 19"/>
          <p:cNvSpPr/>
          <p:nvPr/>
        </p:nvSpPr>
        <p:spPr>
          <a:xfrm>
            <a:off x="2061575" y="4908892"/>
            <a:ext cx="254524" cy="188536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10585176" cy="331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5" name="标题 49"/>
          <p:cNvSpPr txBox="1">
            <a:spLocks noChangeArrowheads="1"/>
          </p:cNvSpPr>
          <p:nvPr/>
        </p:nvSpPr>
        <p:spPr>
          <a:xfrm>
            <a:off x="3020176" y="1916832"/>
            <a:ext cx="6154821" cy="28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 smtClean="0">
                <a:solidFill>
                  <a:schemeClr val="accent1"/>
                </a:solidFill>
                <a:latin typeface="+mn-ea"/>
                <a:ea typeface="+mn-ea"/>
              </a:rPr>
              <a:t>四方演化</a:t>
            </a:r>
            <a:r>
              <a:rPr lang="zh-CN" altLang="en-US" sz="4000" b="1" dirty="0">
                <a:solidFill>
                  <a:schemeClr val="accent1"/>
                </a:solidFill>
                <a:latin typeface="+mn-ea"/>
                <a:ea typeface="+mn-ea"/>
              </a:rPr>
              <a:t>博弈教学</a:t>
            </a:r>
            <a:endParaRPr lang="zh-CN" altLang="en-US" sz="4000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四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010257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096094" y="1557620"/>
                <a:ext cx="10433508" cy="380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平均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收益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复制动态方程的进一步化简形式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/>
                  <a:t> 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单个主体稳定性判定定理：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，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直接用或引用文献均可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单个主体稳定性分析步骤如下：</a:t>
                </a:r>
                <a:endParaRPr lang="en-US" altLang="zh-CN" sz="2000" b="1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/>
                  <a:t>，解得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094" y="1557620"/>
                <a:ext cx="10433508" cy="3803092"/>
              </a:xfrm>
              <a:prstGeom prst="rect">
                <a:avLst/>
              </a:prstGeom>
              <a:blipFill rotWithShape="1">
                <a:blip r:embed="rId1"/>
                <a:stretch>
                  <a:fillRect l="-1" t="-16" r="5" b="-1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010257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841003" y="1306514"/>
                <a:ext cx="10681666" cy="5767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zh-CN" altLang="en-US" sz="2000" b="1" dirty="0" smtClean="0"/>
                  <a:t>第一步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对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复制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动态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方程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求导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𝑧𝑤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>
                    <a:latin typeface="Cambria Math" panose="02040503050406030204" pitchFamily="18" charset="0"/>
                  </a:rPr>
                  <a:t>第二步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𝑧𝑤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𝑦𝑧𝑅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𝑤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>
                    <a:latin typeface="Cambria Math" panose="02040503050406030204" pitchFamily="18" charset="0"/>
                  </a:rPr>
                  <a:t>第三步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=0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解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得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>
                    <a:latin typeface="Cambria Math" panose="02040503050406030204" pitchFamily="18" charset="0"/>
                  </a:rPr>
                  <a:t>第四步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的增函数还是减函数，若是增函数，则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latin typeface="Cambria Math" panose="020405030504060302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&gt;0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稳定，当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&lt;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时，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&lt;0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稳定。反之，若是减函数，则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稳定，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&lt;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稳定。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第五步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求导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𝑑𝐺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可以看出是增函数则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稳定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。</a:t>
                </a:r>
                <a:endParaRPr lang="en-US" altLang="zh-CN" sz="20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5000"/>
                  </a:lnSpc>
                </a:pPr>
                <a:endParaRPr lang="en-US" altLang="zh-CN" sz="2000" b="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3" y="1306514"/>
                <a:ext cx="10681666" cy="5767541"/>
              </a:xfrm>
              <a:prstGeom prst="rect">
                <a:avLst/>
              </a:prstGeom>
              <a:blipFill rotWithShape="1">
                <a:blip r:embed="rId1"/>
                <a:stretch>
                  <a:fillRect l="-2" t="-6" r="-116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25658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836603" y="1334548"/>
                <a:ext cx="10681666" cy="4457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zh-CN" altLang="en-US" sz="2000" b="1" dirty="0" smtClean="0"/>
                  <a:t>第六步</a:t>
                </a:r>
                <a:r>
                  <a:rPr lang="zh-CN" altLang="en-US" sz="2000" dirty="0"/>
                  <a:t>依据前面分析的结果绘制相位图（</a:t>
                </a:r>
                <a:r>
                  <a:rPr lang="zh-CN" altLang="en-US" sz="2000" b="1" dirty="0"/>
                  <a:t>重点难点</a:t>
                </a:r>
                <a:r>
                  <a:rPr lang="zh-CN" altLang="en-US" sz="2000" dirty="0"/>
                  <a:t>）。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相位图的绘制步骤如下（</a:t>
                </a:r>
                <a:r>
                  <a:rPr lang="zh-CN" altLang="en-US" sz="2000" dirty="0"/>
                  <a:t>先会看图，再明白原理</a:t>
                </a:r>
                <a:r>
                  <a:rPr lang="zh-CN" altLang="en-US" sz="2000" b="1" dirty="0"/>
                  <a:t>）</a:t>
                </a:r>
                <a:endParaRPr lang="en-US" altLang="zh-CN" sz="2000" b="1" dirty="0"/>
              </a:p>
              <a:p>
                <a:pPr>
                  <a:lnSpc>
                    <a:spcPct val="135000"/>
                  </a:lnSpc>
                </a:pPr>
                <a:r>
                  <a:rPr lang="en-US" altLang="zh-CN" sz="2000" dirty="0"/>
                  <a:t>1.</a:t>
                </a:r>
                <a:r>
                  <a:rPr lang="zh-CN" altLang="en-US" sz="2000" dirty="0"/>
                  <a:t>判断表达式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000" dirty="0" smtClean="0"/>
                  <a:t>中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dirty="0" smtClean="0"/>
                  <a:t>的</a:t>
                </a:r>
                <a:r>
                  <a:rPr lang="zh-CN" altLang="en-US" sz="2000" dirty="0"/>
                  <a:t>关系，解决以下两个问题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dirty="0"/>
                  <a:t>是增函数还是减函数？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dirty="0"/>
                  <a:t>是一次函数（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/>
                  <a:t>）还是类反比例函数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den>
                    </m:f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/>
                  <a:t>）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反比例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平移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伸缩变换可得，因此类反比例函数是有曲率的，而一次函数是一条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直线</a:t>
                </a:r>
                <a:endParaRPr lang="zh-CN" altLang="en-US" sz="2000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03" y="1334548"/>
                <a:ext cx="10681666" cy="4457567"/>
              </a:xfrm>
              <a:prstGeom prst="rect">
                <a:avLst/>
              </a:prstGeom>
              <a:blipFill rotWithShape="1">
                <a:blip r:embed="rId1"/>
                <a:stretch>
                  <a:fillRect l="-3" t="-9" b="-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25658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836603" y="1334548"/>
                <a:ext cx="10681666" cy="4794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类</a:t>
                </a:r>
                <a:r>
                  <a:rPr lang="zh-CN" altLang="en-US" sz="2000" dirty="0" smtClean="0"/>
                  <a:t>反比例函数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/>
                  <a:t>的图像取决于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的</a:t>
                </a:r>
                <a:r>
                  <a:rPr lang="zh-CN" altLang="en-US" sz="2000" dirty="0" smtClean="0"/>
                  <a:t>值</a:t>
                </a:r>
                <a:endParaRPr lang="en-US" altLang="zh-CN" sz="2000" b="1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 smtClean="0"/>
                  <a:t>，则图像绘制如右边图</a:t>
                </a:r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所示。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/>
                  <a:t>，则</a:t>
                </a:r>
                <a:r>
                  <a:rPr lang="zh-CN" altLang="en-US" sz="2000" dirty="0" smtClean="0"/>
                  <a:t>图像</a:t>
                </a:r>
                <a:r>
                  <a:rPr lang="zh-CN" altLang="en-US" sz="2000" dirty="0"/>
                  <a:t>绘制如右边</a:t>
                </a:r>
                <a:r>
                  <a:rPr lang="zh-CN" altLang="en-US" sz="2000" dirty="0" smtClean="0"/>
                  <a:t>图</a:t>
                </a:r>
                <a:r>
                  <a:rPr lang="en-US" altLang="zh-CN" sz="2000" dirty="0" smtClean="0"/>
                  <a:t>2</a:t>
                </a:r>
                <a:r>
                  <a:rPr lang="zh-CN" altLang="en-US" sz="2000" dirty="0" smtClean="0"/>
                  <a:t>所</a:t>
                </a:r>
                <a:r>
                  <a:rPr lang="zh-CN" altLang="en-US" sz="2000" dirty="0"/>
                  <a:t>示。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通过</a:t>
                </a:r>
                <a:r>
                  <a:rPr lang="en-US" altLang="zh-CN" sz="2000" dirty="0" err="1" smtClean="0"/>
                  <a:t>Matlab</a:t>
                </a:r>
                <a:r>
                  <a:rPr lang="zh-CN" altLang="en-US" sz="2000" dirty="0" smtClean="0"/>
                  <a:t>对图像做展示。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03" y="1334548"/>
                <a:ext cx="10681666" cy="4794518"/>
              </a:xfrm>
              <a:prstGeom prst="rect">
                <a:avLst/>
              </a:prstGeom>
              <a:blipFill rotWithShape="1">
                <a:blip r:embed="rId1"/>
                <a:stretch>
                  <a:fillRect l="-3" t="-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046" y="1363892"/>
            <a:ext cx="2438400" cy="21431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16987" y="323885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783" y="3695439"/>
            <a:ext cx="2438400" cy="214312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433513" y="559025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25658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836603" y="1334548"/>
                <a:ext cx="10681666" cy="4862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zh-CN" sz="2000" b="0" dirty="0" smtClean="0"/>
                  <a:t>2.</a:t>
                </a:r>
                <a:r>
                  <a:rPr lang="zh-CN" altLang="en-US" sz="2000" b="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b="0" dirty="0" smtClean="0"/>
                  <a:t>可以</a:t>
                </a:r>
                <a:r>
                  <a:rPr lang="zh-CN" altLang="en-US" sz="2000" b="0" dirty="0"/>
                  <a:t>发现</a:t>
                </a:r>
                <a:r>
                  <a:rPr lang="zh-CN" altLang="en-US" sz="2000" b="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b="0" dirty="0" smtClean="0">
                    <a:solidFill>
                      <a:srgbClr val="FF0000"/>
                    </a:solidFill>
                  </a:rPr>
                  <a:t>是关于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b="0" dirty="0" smtClean="0">
                    <a:solidFill>
                      <a:srgbClr val="FF0000"/>
                    </a:solidFill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增减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性不能判断。</a:t>
                </a:r>
                <a:endParaRPr lang="en-US" altLang="zh-CN" sz="2000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因此，相位图存在两种绘制方法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𝑦𝑅</m:t>
                        </m:r>
                      </m:den>
                    </m:f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 smtClean="0"/>
                  <a:t>时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b="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en-US" altLang="zh-CN" sz="20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03" y="1334548"/>
                <a:ext cx="10681666" cy="4862870"/>
              </a:xfrm>
              <a:prstGeom prst="rect">
                <a:avLst/>
              </a:prstGeom>
              <a:blipFill rotWithShape="1">
                <a:blip r:embed="rId1"/>
                <a:stretch>
                  <a:fillRect l="-3" t="-8" b="-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3443136" y="4417515"/>
            <a:ext cx="7106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7074992" y="4390552"/>
            <a:ext cx="7106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9" y="3478331"/>
            <a:ext cx="2457450" cy="2143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79" y="3314821"/>
            <a:ext cx="2397497" cy="24184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09" y="3356993"/>
            <a:ext cx="2355690" cy="2376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25658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836603" y="1334548"/>
                <a:ext cx="10681666" cy="4828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zh-CN" sz="2000" b="0" dirty="0" smtClean="0"/>
                  <a:t>2.</a:t>
                </a:r>
                <a:r>
                  <a:rPr lang="zh-CN" altLang="en-US" sz="2000" b="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b="0" dirty="0" smtClean="0"/>
                  <a:t>可以</a:t>
                </a:r>
                <a:r>
                  <a:rPr lang="zh-CN" altLang="en-US" sz="2000" b="0" dirty="0"/>
                  <a:t>发现</a:t>
                </a:r>
                <a:r>
                  <a:rPr lang="zh-CN" altLang="en-US" sz="2000" b="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000" b="0" dirty="0" smtClean="0">
                    <a:solidFill>
                      <a:srgbClr val="FF0000"/>
                    </a:solidFill>
                  </a:rPr>
                  <a:t>是关于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b="0" dirty="0" smtClean="0">
                    <a:solidFill>
                      <a:srgbClr val="FF0000"/>
                    </a:solidFill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增减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性不能判断。</a:t>
                </a:r>
                <a:endParaRPr lang="en-US" altLang="zh-CN" sz="2000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因此，相位图存在两种绘制方法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𝑦𝑅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 smtClean="0"/>
                  <a:t>时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b="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en-US" altLang="zh-CN" sz="20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03" y="1334548"/>
                <a:ext cx="10681666" cy="4828951"/>
              </a:xfrm>
              <a:prstGeom prst="rect">
                <a:avLst/>
              </a:prstGeom>
              <a:blipFill rotWithShape="1">
                <a:blip r:embed="rId1"/>
                <a:stretch>
                  <a:fillRect l="-3" t="-9" b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3443136" y="4417515"/>
            <a:ext cx="7106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7074992" y="4390552"/>
            <a:ext cx="7106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45" y="3489968"/>
            <a:ext cx="2457450" cy="2143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827" y="3432818"/>
            <a:ext cx="2181225" cy="2200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73" y="3605409"/>
            <a:ext cx="2181225" cy="2200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25658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98977" y="1334548"/>
                <a:ext cx="10919292" cy="587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zh-CN" sz="2000" b="0" dirty="0"/>
                  <a:t>3.</a:t>
                </a:r>
                <a:r>
                  <a:rPr lang="zh-CN" altLang="en-US" sz="2000" b="0" dirty="0"/>
                  <a:t>绘制左半部分和右半部分并加入箭头标记。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b="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en-US" altLang="zh-CN" sz="20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加箭头的时候要结合前面的分析</a:t>
                </a:r>
                <a:r>
                  <a:rPr lang="zh-CN" altLang="en-US" sz="2000" dirty="0" smtClean="0"/>
                  <a:t>，</a:t>
                </a:r>
                <a:r>
                  <a:rPr lang="en-US" altLang="zh-CN" sz="2000" dirty="0" smtClean="0"/>
                  <a:t>w&lt;w*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演化</a:t>
                </a:r>
                <a:r>
                  <a:rPr lang="zh-CN" altLang="en-US" sz="2000" dirty="0" smtClean="0"/>
                  <a:t>，</a:t>
                </a:r>
                <a:r>
                  <a:rPr lang="en-US" altLang="zh-CN" sz="2000" dirty="0" smtClean="0"/>
                  <a:t>w&gt;w*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演化。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利用界面与轴的交点判断空间的大小</a:t>
                </a:r>
                <a:endParaRPr lang="en-US" altLang="zh-CN" sz="2000" b="1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/>
                  <a:t>相位图表明</a:t>
                </a:r>
                <a:r>
                  <a:rPr lang="zh-CN" altLang="en-US" sz="2000" dirty="0" smtClean="0"/>
                  <a:t>，公众吹哨对</a:t>
                </a:r>
                <a:r>
                  <a:rPr lang="en-US" altLang="zh-CN" sz="2000" dirty="0" smtClean="0"/>
                  <a:t>A</a:t>
                </a:r>
                <a:r>
                  <a:rPr lang="zh-CN" altLang="en-US" sz="2000" dirty="0" smtClean="0"/>
                  <a:t>地达标排放具有</a:t>
                </a:r>
                <a:r>
                  <a:rPr lang="zh-CN" altLang="en-US" sz="2000" dirty="0"/>
                  <a:t>正向激励效应。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77" y="1334548"/>
                <a:ext cx="10919292" cy="5873146"/>
              </a:xfrm>
              <a:prstGeom prst="rect">
                <a:avLst/>
              </a:prstGeom>
              <a:blipFill rotWithShape="1">
                <a:blip r:embed="rId1"/>
                <a:stretch>
                  <a:fillRect l="-2" t="-7" b="-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1" name="右箭头 30"/>
          <p:cNvSpPr/>
          <p:nvPr/>
        </p:nvSpPr>
        <p:spPr>
          <a:xfrm>
            <a:off x="3144613" y="3009751"/>
            <a:ext cx="7106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97" y="1894857"/>
            <a:ext cx="2355690" cy="23762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856" y="1935226"/>
            <a:ext cx="6886575" cy="2295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374889" y="980728"/>
            <a:ext cx="11379200" cy="5976664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65879" y="1046516"/>
                <a:ext cx="10919292" cy="6040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zh-CN" sz="2000" dirty="0"/>
                  <a:t>4.</a:t>
                </a:r>
                <a:r>
                  <a:rPr lang="zh-CN" altLang="en-US" sz="2000" dirty="0"/>
                  <a:t>相位图的进一步分析。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分析</a:t>
                </a:r>
                <a:r>
                  <a:rPr lang="en-US" altLang="zh-CN" sz="2000" b="1" dirty="0"/>
                  <a:t>1</a:t>
                </a:r>
                <a:r>
                  <a:rPr lang="zh-CN" altLang="en-US" sz="2000" dirty="0"/>
                  <a:t>：前面从相位图已知，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𝑦𝑧𝑅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000" dirty="0" smtClean="0"/>
                  <a:t>关于</a:t>
                </a:r>
                <a:r>
                  <a:rPr lang="en-US" altLang="zh-CN" sz="2000" dirty="0"/>
                  <a:t>z</a:t>
                </a:r>
                <a:r>
                  <a:rPr lang="zh-CN" altLang="en-US" sz="2000" dirty="0" smtClean="0"/>
                  <a:t>的增减性与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𝑦𝑅</m:t>
                        </m:r>
                      </m:den>
                    </m:f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 smtClean="0"/>
                  <a:t>相关，若该值大于</a:t>
                </a:r>
                <a:r>
                  <a:rPr lang="en-US" altLang="zh-CN" sz="2000" dirty="0" smtClean="0"/>
                  <a:t>0</a:t>
                </a:r>
                <a:r>
                  <a:rPr lang="zh-CN" altLang="en-US" sz="2000" dirty="0" smtClean="0"/>
                  <a:t>，则</a:t>
                </a:r>
                <a:r>
                  <a:rPr lang="en-US" altLang="zh-CN" sz="2000" dirty="0" smtClean="0"/>
                  <a:t>w</a:t>
                </a:r>
                <a:r>
                  <a:rPr lang="zh-CN" altLang="en-US" sz="2000" dirty="0" smtClean="0"/>
                  <a:t>关于</a:t>
                </a:r>
                <a:r>
                  <a:rPr lang="en-US" altLang="zh-CN" sz="2000" dirty="0" smtClean="0"/>
                  <a:t>z</a:t>
                </a:r>
                <a:r>
                  <a:rPr lang="zh-CN" altLang="en-US" sz="2000" dirty="0" smtClean="0"/>
                  <a:t>为减函数，反之则为增函数。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假定该值大于</a:t>
                </a:r>
                <a:r>
                  <a:rPr lang="en-US" altLang="zh-CN" sz="2000" dirty="0" smtClean="0"/>
                  <a:t>0</a:t>
                </a:r>
                <a:r>
                  <a:rPr lang="zh-CN" altLang="en-US" sz="2000" dirty="0" smtClean="0"/>
                  <a:t>，则</a:t>
                </a:r>
                <a:r>
                  <a:rPr lang="en-US" altLang="zh-CN" sz="2000" dirty="0" smtClean="0"/>
                  <a:t>z</a:t>
                </a:r>
                <a:r>
                  <a:rPr lang="zh-CN" altLang="en-US" sz="2000" dirty="0" smtClean="0"/>
                  <a:t>越大，</a:t>
                </a:r>
                <a:r>
                  <a:rPr lang="en-US" altLang="zh-CN" sz="2000" dirty="0" smtClean="0"/>
                  <a:t>w*</a:t>
                </a:r>
                <a:r>
                  <a:rPr lang="zh-CN" altLang="en-US" sz="2000" dirty="0" smtClean="0"/>
                  <a:t>越小，则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演化的概率越</a:t>
                </a:r>
                <a:r>
                  <a:rPr lang="zh-CN" altLang="en-US" sz="2000" dirty="0" smtClean="0"/>
                  <a:t>大，表明在此条件下，</a:t>
                </a:r>
                <a:endParaRPr lang="en-US" altLang="zh-CN" sz="2000" dirty="0" smtClean="0"/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dirty="0" smtClean="0"/>
                  <a:t>中央政府越趋向于选择实施补偿机制，则</a:t>
                </a:r>
                <a:r>
                  <a:rPr lang="en-US" altLang="zh-CN" sz="2000" dirty="0" smtClean="0"/>
                  <a:t>A</a:t>
                </a:r>
                <a:r>
                  <a:rPr lang="zh-CN" altLang="en-US" sz="2000" dirty="0" smtClean="0"/>
                  <a:t>地区越趋向于选择达标排放。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分析</a:t>
                </a:r>
                <a:r>
                  <a:rPr lang="en-US" altLang="zh-CN" sz="2000" b="1" dirty="0"/>
                  <a:t>2</a:t>
                </a:r>
                <a:r>
                  <a:rPr lang="zh-CN" altLang="en-US" sz="2000" b="1" dirty="0"/>
                  <a:t>：</a:t>
                </a:r>
                <a:r>
                  <a:rPr lang="en-US" altLang="zh-CN" sz="2000" dirty="0"/>
                  <a:t>V</a:t>
                </a:r>
                <a:r>
                  <a:rPr lang="en-US" altLang="zh-CN" sz="1200" dirty="0"/>
                  <a:t>A2</a:t>
                </a:r>
                <a:r>
                  <a:rPr lang="zh-CN" altLang="en-US" sz="2000" dirty="0"/>
                  <a:t>这个空间是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演化的空间，</a:t>
                </a:r>
                <a:r>
                  <a:rPr lang="zh-CN" altLang="en-US" sz="2000" dirty="0" smtClean="0"/>
                  <a:t>即</a:t>
                </a:r>
                <a:r>
                  <a:rPr lang="en-US" altLang="zh-CN" sz="2000" dirty="0" smtClean="0"/>
                  <a:t>A</a:t>
                </a:r>
                <a:r>
                  <a:rPr lang="zh-CN" altLang="en-US" sz="2000" dirty="0" smtClean="0"/>
                  <a:t>地区达标排放的空间，</a:t>
                </a:r>
                <a:r>
                  <a:rPr lang="zh-CN" altLang="en-US" sz="2000" dirty="0"/>
                  <a:t>该空间体积越大</a:t>
                </a:r>
                <a:r>
                  <a:rPr lang="zh-CN" altLang="en-US" sz="2000" dirty="0" smtClean="0"/>
                  <a:t>，</a:t>
                </a:r>
                <a:r>
                  <a:rPr lang="en-US" altLang="zh-CN" sz="2000" dirty="0" smtClean="0"/>
                  <a:t>A</a:t>
                </a:r>
                <a:r>
                  <a:rPr lang="zh-CN" altLang="en-US" sz="2000" dirty="0" smtClean="0"/>
                  <a:t>地区达标排放的概率越大。</a:t>
                </a:r>
                <a:r>
                  <a:rPr lang="zh-CN" altLang="en-US" sz="2000" dirty="0"/>
                  <a:t>计算</a:t>
                </a:r>
                <a:r>
                  <a:rPr lang="en-US" altLang="zh-CN" sz="2000" dirty="0"/>
                  <a:t>V</a:t>
                </a:r>
                <a:r>
                  <a:rPr lang="en-US" altLang="zh-CN" sz="1200" dirty="0"/>
                  <a:t>A2</a:t>
                </a:r>
                <a:r>
                  <a:rPr lang="zh-CN" altLang="en-US" sz="2000" dirty="0"/>
                  <a:t>的体积，可以用</a:t>
                </a:r>
                <a:r>
                  <a:rPr lang="en-US" altLang="zh-CN" sz="2000" dirty="0"/>
                  <a:t>1- V</a:t>
                </a:r>
                <a:r>
                  <a:rPr lang="en-US" altLang="zh-CN" sz="1200" dirty="0"/>
                  <a:t>A1</a:t>
                </a:r>
                <a:r>
                  <a:rPr lang="zh-CN" altLang="en-US" sz="2000" dirty="0"/>
                  <a:t>，也可以直接算</a:t>
                </a:r>
                <a:r>
                  <a:rPr lang="en-US" altLang="zh-CN" sz="2000" dirty="0"/>
                  <a:t>V</a:t>
                </a:r>
                <a:r>
                  <a:rPr lang="en-US" altLang="zh-CN" sz="1200" dirty="0"/>
                  <a:t>A2</a:t>
                </a:r>
                <a:endParaRPr lang="en-US" altLang="zh-CN" sz="1200" dirty="0"/>
              </a:p>
              <a:p>
                <a:pPr>
                  <a:lnSpc>
                    <a:spcPct val="135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𝑦𝑧𝑅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79" y="1046516"/>
                <a:ext cx="10919292" cy="6040821"/>
              </a:xfrm>
              <a:prstGeom prst="rect">
                <a:avLst/>
              </a:prstGeom>
              <a:blipFill rotWithShape="1">
                <a:blip r:embed="rId1"/>
                <a:stretch>
                  <a:fillRect l="-1" t="-1" r="-1420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374889" y="980728"/>
            <a:ext cx="11379200" cy="5544616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67532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65879" y="1046516"/>
                <a:ext cx="10919292" cy="4875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zh-CN" sz="2000" dirty="0" smtClean="0"/>
                  <a:t>V</a:t>
                </a:r>
                <a:r>
                  <a:rPr lang="en-US" altLang="zh-CN" sz="1200" dirty="0"/>
                  <a:t>A2</a:t>
                </a:r>
                <a:r>
                  <a:rPr lang="zh-CN" altLang="en-US" sz="2000" dirty="0"/>
                  <a:t>计算一下：</a:t>
                </a:r>
                <a:endParaRPr lang="en-US" altLang="zh-CN" sz="2000" dirty="0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𝑦𝑧𝑅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 smtClean="0"/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dirty="0" smtClean="0"/>
                  <a:t>为方便计算，把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令</m:t>
                    </m:r>
                  </m:oMath>
                </a14:m>
                <a:r>
                  <a:rPr lang="zh-CN" altLang="en-US" sz="2000" dirty="0" smtClean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00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𝑦𝑧𝑅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𝑦𝑅</m:t>
                                  </m:r>
                                </m:den>
                              </m:f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进而可以计算体积对各个因素的偏导数，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可以利用特征值小技巧来算。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下面</a:t>
                </a:r>
                <a:r>
                  <a:rPr lang="zh-CN" altLang="en-US" sz="2000" dirty="0"/>
                  <a:t>就是系统稳定性分析</a:t>
                </a: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79" y="1046516"/>
                <a:ext cx="10919292" cy="4875887"/>
              </a:xfrm>
              <a:prstGeom prst="rect">
                <a:avLst/>
              </a:prstGeom>
              <a:blipFill rotWithShape="1">
                <a:blip r:embed="rId1"/>
                <a:stretch>
                  <a:fillRect l="-1" t="-1" r="5" b="-2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374889" y="980728"/>
            <a:ext cx="11379200" cy="5544616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96537" y="996929"/>
            <a:ext cx="10919292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dirty="0"/>
              <a:t>         系统稳定性分析需要联立</a:t>
            </a:r>
            <a:r>
              <a:rPr lang="zh-CN" altLang="en-US" sz="2000" dirty="0" smtClean="0"/>
              <a:t>前面四个复制</a:t>
            </a:r>
            <a:r>
              <a:rPr lang="zh-CN" altLang="en-US" sz="2000" dirty="0"/>
              <a:t>动态方程构成复制动态方程组，令方程组为</a:t>
            </a:r>
            <a:r>
              <a:rPr lang="en-US" altLang="zh-CN" sz="2000" dirty="0"/>
              <a:t>0</a:t>
            </a:r>
            <a:r>
              <a:rPr lang="zh-CN" altLang="en-US" sz="2000" dirty="0"/>
              <a:t>，可解得系统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16</a:t>
            </a:r>
            <a:r>
              <a:rPr lang="zh-CN" altLang="en-US" sz="2000" dirty="0" smtClean="0"/>
              <a:t>个</a:t>
            </a:r>
            <a:r>
              <a:rPr lang="zh-CN" altLang="en-US" sz="2000" dirty="0"/>
              <a:t>纯策略均衡，当然还有多个混合策略均衡，</a:t>
            </a:r>
            <a:r>
              <a:rPr lang="zh-CN" altLang="en-US" sz="2000" b="1" dirty="0">
                <a:solidFill>
                  <a:srgbClr val="FF0000"/>
                </a:solidFill>
              </a:rPr>
              <a:t>这里先给出结论，混合策略均衡在非对称的演化博弈中必定不为</a:t>
            </a:r>
            <a:r>
              <a:rPr lang="en-US" altLang="zh-CN" sz="2000" b="1" dirty="0">
                <a:solidFill>
                  <a:srgbClr val="FF0000"/>
                </a:solidFill>
              </a:rPr>
              <a:t>ESS</a:t>
            </a:r>
            <a:r>
              <a:rPr lang="en-US" altLang="zh-CN" sz="2000" dirty="0">
                <a:solidFill>
                  <a:schemeClr val="accent1"/>
                </a:solidFill>
              </a:rPr>
              <a:t>[</a:t>
            </a:r>
            <a:r>
              <a:rPr lang="zh-CN" altLang="en-US" sz="2000" dirty="0">
                <a:solidFill>
                  <a:schemeClr val="accent1"/>
                </a:solidFill>
              </a:rPr>
              <a:t>三方多策略式博弈系统的长期演化稳定均衡特性研究</a:t>
            </a:r>
            <a:r>
              <a:rPr lang="en-US" altLang="zh-CN" sz="2000" dirty="0">
                <a:solidFill>
                  <a:schemeClr val="accent1"/>
                </a:solidFill>
              </a:rPr>
              <a:t>]</a:t>
            </a:r>
            <a:r>
              <a:rPr lang="zh-CN" altLang="en-US" sz="2000" dirty="0"/>
              <a:t>，因此无需计算，</a:t>
            </a:r>
            <a:r>
              <a:rPr lang="zh-CN" altLang="en-US" sz="2000" dirty="0">
                <a:solidFill>
                  <a:srgbClr val="FF0000"/>
                </a:solidFill>
              </a:rPr>
              <a:t>在这里个人建议大家无需计算混合策略及特征值</a:t>
            </a:r>
            <a:r>
              <a:rPr lang="zh-CN" altLang="en-US" sz="2000" dirty="0"/>
              <a:t>。即使计算后大家后面也不会用到这个点，因为稳定性分析的最终目的是得出“稳定”的判断条件，从而为下面仿真做准备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35000"/>
              </a:lnSpc>
            </a:pPr>
            <a:r>
              <a:rPr lang="zh-CN" altLang="en-US" sz="2000" dirty="0" smtClean="0"/>
              <a:t>         把</a:t>
            </a:r>
            <a:r>
              <a:rPr lang="en-US" altLang="zh-CN" sz="2000" dirty="0" smtClean="0"/>
              <a:t>16</a:t>
            </a:r>
            <a:r>
              <a:rPr lang="zh-CN" altLang="en-US" sz="2000" dirty="0" smtClean="0"/>
              <a:t>个</a:t>
            </a:r>
            <a:r>
              <a:rPr lang="zh-CN" altLang="en-US" sz="2000" dirty="0"/>
              <a:t>纯策略均衡带入雅可比矩阵后，除主对角线外的元素全部为</a:t>
            </a:r>
            <a:r>
              <a:rPr lang="en-US" altLang="zh-CN" sz="2000" dirty="0"/>
              <a:t>0</a:t>
            </a:r>
            <a:r>
              <a:rPr lang="zh-CN" altLang="en-US" sz="2000" dirty="0"/>
              <a:t>，故雅可比矩阵的主对角线元素值就是矩阵的特征值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 smtClean="0"/>
              <a:t>         得到</a:t>
            </a:r>
            <a:r>
              <a:rPr lang="zh-CN" altLang="en-US" sz="2000" dirty="0"/>
              <a:t>特征值以后先纠正大家可能存在的一个误区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         </a:t>
            </a:r>
            <a:r>
              <a:rPr lang="zh-CN" altLang="en-US" sz="2000" dirty="0">
                <a:solidFill>
                  <a:srgbClr val="FF0000"/>
                </a:solidFill>
              </a:rPr>
              <a:t>特征值是用来判断条件稳定的，而不是用来判定正负的</a:t>
            </a:r>
            <a:r>
              <a:rPr lang="zh-CN" altLang="en-US" sz="2000" dirty="0"/>
              <a:t>，除非前面研究假设中有参数关系，这个在前面三方演化博弈模型中说过。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374889" y="980728"/>
            <a:ext cx="11379200" cy="5544616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96537" y="996929"/>
                <a:ext cx="10919292" cy="7351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   下面</a:t>
                </a:r>
                <a:r>
                  <a:rPr lang="zh-CN" altLang="en-US" sz="2000" dirty="0"/>
                  <a:t>来看特征值运用小</a:t>
                </a:r>
                <a:r>
                  <a:rPr lang="zh-CN" altLang="en-US" sz="2000" dirty="0" smtClean="0"/>
                  <a:t>技巧</a:t>
                </a: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 smtClean="0"/>
                  <a:t>   技巧</a:t>
                </a:r>
                <a:r>
                  <a:rPr lang="zh-CN" altLang="en-US" sz="2000" b="1" dirty="0"/>
                  <a:t>：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用于判定参数对于主体行为的正负向激励效应。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dirty="0" smtClean="0"/>
                  <a:t>         以</a:t>
                </a:r>
                <a:r>
                  <a:rPr lang="zh-CN" altLang="en-US" sz="2000" dirty="0"/>
                  <a:t>均衡点</a:t>
                </a:r>
                <a:r>
                  <a:rPr lang="en-US" altLang="zh-CN" sz="2000" dirty="0"/>
                  <a:t>(</a:t>
                </a:r>
                <a:r>
                  <a:rPr lang="en-US" altLang="zh-CN" sz="2000" dirty="0" smtClean="0"/>
                  <a:t>1,1,1,1)</a:t>
                </a:r>
                <a:r>
                  <a:rPr lang="zh-CN" altLang="en-US" sz="2000" dirty="0"/>
                  <a:t>为例</a:t>
                </a:r>
                <a:r>
                  <a:rPr lang="en-US" altLang="zh-CN" sz="2000" dirty="0"/>
                  <a:t>,</a:t>
                </a:r>
                <a:r>
                  <a:rPr lang="zh-CN" altLang="en-US" sz="2000" dirty="0"/>
                  <a:t>我们知道令</a:t>
                </a:r>
                <a:r>
                  <a:rPr lang="en-US" altLang="zh-CN" sz="2000" dirty="0"/>
                  <a:t>(</a:t>
                </a:r>
                <a:r>
                  <a:rPr lang="en-US" altLang="zh-CN" sz="2000" dirty="0" smtClean="0"/>
                  <a:t>1,1,1,1)</a:t>
                </a:r>
                <a:r>
                  <a:rPr lang="zh-CN" altLang="en-US" sz="2000" dirty="0" smtClean="0"/>
                  <a:t>的</a:t>
                </a:r>
                <a:r>
                  <a:rPr lang="zh-CN" altLang="en-US" sz="2000" dirty="0"/>
                  <a:t>四</a:t>
                </a:r>
                <a:r>
                  <a:rPr lang="zh-CN" altLang="en-US" sz="2000" dirty="0" smtClean="0"/>
                  <a:t>个</a:t>
                </a:r>
                <a:r>
                  <a:rPr lang="zh-CN" altLang="en-US" sz="2000" dirty="0"/>
                  <a:t>特征值小于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，系统会向</a:t>
                </a:r>
                <a:r>
                  <a:rPr lang="en-US" altLang="zh-CN" sz="2000" dirty="0"/>
                  <a:t>(</a:t>
                </a:r>
                <a:r>
                  <a:rPr lang="en-US" altLang="zh-CN" sz="2000" dirty="0" smtClean="0"/>
                  <a:t>1,1,1,1)</a:t>
                </a:r>
                <a:r>
                  <a:rPr lang="zh-CN" altLang="en-US" sz="2000" dirty="0"/>
                  <a:t>演化。</a:t>
                </a:r>
                <a:r>
                  <a:rPr lang="zh-CN" altLang="en-US" sz="2000" dirty="0"/>
                  <a:t>一个特征值代表一个主体的行为，如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代表的是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的行为，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/>
                  <a:t>&lt;0</a:t>
                </a:r>
                <a:r>
                  <a:rPr lang="zh-CN" altLang="en-US" sz="2000" dirty="0"/>
                  <a:t>决定的此时是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演化，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&lt;0</a:t>
                </a:r>
                <a:r>
                  <a:rPr lang="zh-CN" altLang="en-US" sz="2000" dirty="0"/>
                  <a:t>决定的是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000" dirty="0" smtClean="0"/>
                  <a:t>向</a:t>
                </a:r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演化</a:t>
                </a:r>
                <a:r>
                  <a:rPr lang="zh-CN" altLang="en-US" sz="2000" dirty="0"/>
                  <a:t>。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特征值越小向该均衡收敛的速率就越快</a:t>
                </a:r>
                <a:r>
                  <a:rPr lang="zh-CN" altLang="en-US" sz="2000" dirty="0"/>
                  <a:t>。如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-5</a:t>
                </a:r>
                <a:r>
                  <a:rPr lang="zh-CN" altLang="en-US" sz="2000" dirty="0"/>
                  <a:t>时和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-1</a:t>
                </a:r>
                <a:r>
                  <a:rPr lang="zh-CN" altLang="en-US" sz="2000" dirty="0"/>
                  <a:t>时，则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-5</a:t>
                </a:r>
                <a:r>
                  <a:rPr lang="zh-CN" altLang="en-US" sz="2000" dirty="0"/>
                  <a:t>时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收敛的速率更快。同理，若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-3</a:t>
                </a:r>
                <a:r>
                  <a:rPr lang="zh-CN" altLang="en-US" sz="20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-2</a:t>
                </a:r>
                <a:r>
                  <a:rPr lang="zh-CN" altLang="en-US" sz="2000" dirty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-3</a:t>
                </a:r>
                <a:r>
                  <a:rPr lang="zh-CN" altLang="en-US" sz="2000" dirty="0"/>
                  <a:t>时，</a:t>
                </a:r>
                <a:r>
                  <a:rPr lang="en-US" altLang="zh-CN" sz="2000" dirty="0"/>
                  <a:t>y</a:t>
                </a:r>
                <a:r>
                  <a:rPr lang="zh-CN" altLang="en-US" sz="2000" dirty="0" smtClean="0"/>
                  <a:t>向</a:t>
                </a:r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收敛</a:t>
                </a:r>
                <a:r>
                  <a:rPr lang="zh-CN" altLang="en-US" sz="2000" dirty="0"/>
                  <a:t>的速率更快。于是可以看到，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zh-CN" altLang="en-US" sz="20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越大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越小，</a:t>
                </a:r>
                <a:r>
                  <a:rPr lang="zh-CN" altLang="en-US" sz="2000" dirty="0"/>
                  <a:t>故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的速率越缓慢，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表明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对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向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演化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是正向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激励效应。同理，看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CN" sz="2000" dirty="0" smtClean="0">
                    <a:solidFill>
                      <a:srgbClr val="FF0000"/>
                    </a:solidFill>
                  </a:rPr>
                  <a:t>0,1,1,1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这个点，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越大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DejaVu Math TeX Gyre" panose="02000503000000000000" charset="0"/>
                          </a:rPr>
                          <m:t> 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</a:rPr>
                  <a:t>越大，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故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对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向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演化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是负向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激励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。</a:t>
                </a:r>
                <a:r>
                  <a:rPr lang="zh-CN" altLang="en-US" sz="2000" dirty="0" smtClean="0"/>
                  <a:t>其他参数的正负向激励效应也可以用特征值的方式来看。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r>
                  <a:rPr lang="zh-CN" altLang="en-US" sz="2000" b="1" dirty="0"/>
                  <a:t>与前面结合起来</a:t>
                </a:r>
                <a:r>
                  <a:rPr lang="zh-CN" altLang="en-US" sz="2000" dirty="0"/>
                  <a:t>，立刻可以看出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zh-CN" altLang="en-US" sz="2000" dirty="0"/>
                  <a:t>对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向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是正向激励，所以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/>
                  <a:t>，同理可判定任意参数对任意主体行为的影响。</a:t>
                </a: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  <a:p>
                <a:pPr>
                  <a:lnSpc>
                    <a:spcPct val="135000"/>
                  </a:lnSpc>
                </a:pPr>
                <a:endParaRPr lang="en-US" altLang="zh-CN" sz="2000" dirty="0" smtClean="0"/>
              </a:p>
              <a:p>
                <a:pPr>
                  <a:lnSpc>
                    <a:spcPct val="135000"/>
                  </a:lnSpc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7" y="996929"/>
                <a:ext cx="10919292" cy="7351243"/>
              </a:xfrm>
              <a:prstGeom prst="rect">
                <a:avLst/>
              </a:prstGeom>
              <a:blipFill rotWithShape="1">
                <a:blip r:embed="rId1"/>
                <a:stretch>
                  <a:fillRect l="-2" t="-8" r="-191" b="-43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五角星 20"/>
          <p:cNvSpPr/>
          <p:nvPr/>
        </p:nvSpPr>
        <p:spPr>
          <a:xfrm>
            <a:off x="584062" y="1165624"/>
            <a:ext cx="170258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五角星 29"/>
          <p:cNvSpPr/>
          <p:nvPr/>
        </p:nvSpPr>
        <p:spPr>
          <a:xfrm>
            <a:off x="581186" y="1596377"/>
            <a:ext cx="170258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模型求解分析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374889" y="614321"/>
            <a:ext cx="11379200" cy="5911023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0963" y="550235"/>
            <a:ext cx="10919292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dirty="0"/>
              <a:t>其实，特征值还有别的小技巧，比如“波动”行为的判定原理（</a:t>
            </a:r>
            <a:r>
              <a:rPr lang="zh-CN" altLang="en-US" sz="2000" dirty="0">
                <a:solidFill>
                  <a:srgbClr val="FF0000"/>
                </a:solidFill>
              </a:rPr>
              <a:t>动态奖惩常用</a:t>
            </a:r>
            <a:r>
              <a:rPr lang="zh-CN" altLang="en-US" sz="2000" dirty="0"/>
              <a:t>）、如何让参数变动更敏感等等。等大家基础稳固一些，或者在仿真里遇到的时候我们再说。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由于特征值是条件稳定，所以系统往往存在多个</a:t>
            </a:r>
            <a:r>
              <a:rPr lang="en-US" altLang="zh-CN" sz="2000" dirty="0"/>
              <a:t>ESS</a:t>
            </a:r>
            <a:r>
              <a:rPr lang="zh-CN" altLang="en-US" sz="2000" dirty="0"/>
              <a:t>，一般大家都会选择自己最期望的</a:t>
            </a:r>
            <a:r>
              <a:rPr lang="en-US" altLang="zh-CN" sz="2000" dirty="0"/>
              <a:t>ESS</a:t>
            </a:r>
            <a:r>
              <a:rPr lang="zh-CN" altLang="en-US" sz="2000" dirty="0"/>
              <a:t>做简单分析或对可以稳定的</a:t>
            </a:r>
            <a:r>
              <a:rPr lang="en-US" altLang="zh-CN" sz="2000" dirty="0"/>
              <a:t>ESS</a:t>
            </a:r>
            <a:r>
              <a:rPr lang="zh-CN" altLang="en-US" sz="2000" dirty="0"/>
              <a:t>进行分情况分析。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然后下面就可以进行仿真部分了！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我们先看一下如何用</a:t>
            </a:r>
            <a:r>
              <a:rPr lang="en-US" altLang="zh-CN" sz="2000" dirty="0" err="1"/>
              <a:t>matlab</a:t>
            </a:r>
            <a:r>
              <a:rPr lang="zh-CN" altLang="en-US" sz="2000" dirty="0"/>
              <a:t>算复制动态方程和纯策略均衡点的特征值。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20" name="矩形 19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三方演化博弈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数值仿真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463833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4639" y="1346563"/>
            <a:ext cx="10681666" cy="4626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b="1" dirty="0"/>
              <a:t>参数赋值（</a:t>
            </a:r>
            <a:r>
              <a:rPr lang="zh-CN" altLang="en-US" sz="2000" b="1" dirty="0">
                <a:solidFill>
                  <a:srgbClr val="FF0000"/>
                </a:solidFill>
              </a:rPr>
              <a:t>数值仿真的前提</a:t>
            </a:r>
            <a:r>
              <a:rPr lang="zh-CN" altLang="en-US" sz="2000" b="1" dirty="0"/>
              <a:t>）：</a:t>
            </a:r>
            <a:endParaRPr lang="en-US" altLang="zh-CN" sz="2000" b="1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       一依据稳定性结果；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       二是依据现实案例（极难获得全部数据，同时数据存在量纲差异）。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       </a:t>
            </a:r>
            <a:r>
              <a:rPr lang="zh-CN" altLang="en-US" sz="2000" dirty="0"/>
              <a:t>三是部分现实案例、部分稳定性结果（本质上还是稳定性结果）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/>
              <a:t>仿真部分做三类图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/>
              <a:t>一是初始演化路径图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/>
              <a:t>二是初值变动对演化结果的影响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/>
              <a:t>三是参数敏感性分析图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r>
              <a:rPr lang="zh-CN" altLang="en-US" sz="2000" dirty="0" smtClean="0"/>
              <a:t>四方</a:t>
            </a:r>
            <a:r>
              <a:rPr lang="zh-CN" altLang="en-US" sz="2000" dirty="0"/>
              <a:t>演化博弈的仿真图往往采用三维和二维结合的</a:t>
            </a:r>
            <a:r>
              <a:rPr lang="zh-CN" altLang="en-US" sz="2000" dirty="0" smtClean="0"/>
              <a:t>方式，并列图也常用。</a:t>
            </a:r>
            <a:endParaRPr lang="en-US" altLang="zh-CN" sz="2000" dirty="0"/>
          </a:p>
        </p:txBody>
      </p:sp>
      <p:sp>
        <p:nvSpPr>
          <p:cNvPr id="17" name="矩形 16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数值仿真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463833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4639" y="1346563"/>
            <a:ext cx="10681666" cy="421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dirty="0" smtClean="0"/>
              <a:t>四方初始</a:t>
            </a:r>
            <a:r>
              <a:rPr lang="zh-CN" altLang="en-US" sz="2000" dirty="0"/>
              <a:t>演化路径图样图：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17" name="矩形 16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119" y="1988840"/>
            <a:ext cx="6830913" cy="3998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数值仿真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463833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4639" y="1346563"/>
            <a:ext cx="10681666" cy="421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dirty="0" smtClean="0"/>
              <a:t>四方初值</a:t>
            </a:r>
            <a:r>
              <a:rPr lang="zh-CN" altLang="en-US" sz="2000" dirty="0"/>
              <a:t>变动对演化结果的影响图样图，也可做三维图：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17" name="矩形 16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091" y="2105466"/>
            <a:ext cx="3883740" cy="32868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345" y="2050926"/>
            <a:ext cx="3915389" cy="3286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>
            <a:off x="841003" y="505764"/>
            <a:ext cx="8571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六边形 63"/>
          <p:cNvSpPr/>
          <p:nvPr/>
        </p:nvSpPr>
        <p:spPr>
          <a:xfrm>
            <a:off x="241896" y="125398"/>
            <a:ext cx="481345" cy="414953"/>
          </a:xfrm>
          <a:prstGeom prst="hexagon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12843" y="188639"/>
            <a:ext cx="933216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前言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347503" y="187549"/>
            <a:ext cx="1582732" cy="334417"/>
          </a:xfrm>
          <a:prstGeom prst="rect">
            <a:avLst/>
          </a:prstGeom>
          <a:solidFill>
            <a:srgbClr val="46CEAE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数值仿真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六边形 66"/>
          <p:cNvSpPr/>
          <p:nvPr/>
        </p:nvSpPr>
        <p:spPr>
          <a:xfrm>
            <a:off x="624979" y="392472"/>
            <a:ext cx="261790" cy="225682"/>
          </a:xfrm>
          <a:prstGeom prst="hexagon">
            <a:avLst/>
          </a:prstGeom>
          <a:solidFill>
            <a:srgbClr val="46CEA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Freeform 126"/>
          <p:cNvSpPr>
            <a:spLocks noChangeAspect="1" noEditPoints="1"/>
          </p:cNvSpPr>
          <p:nvPr/>
        </p:nvSpPr>
        <p:spPr bwMode="auto">
          <a:xfrm>
            <a:off x="366158" y="217753"/>
            <a:ext cx="232819" cy="291328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2" name="组合 2"/>
          <p:cNvGrpSpPr/>
          <p:nvPr/>
        </p:nvGrpSpPr>
        <p:grpSpPr bwMode="auto">
          <a:xfrm>
            <a:off x="407987" y="1268760"/>
            <a:ext cx="11379200" cy="5463833"/>
            <a:chOff x="-234950" y="-597159"/>
            <a:chExt cx="7862887" cy="3686434"/>
          </a:xfrm>
          <a:noFill/>
        </p:grpSpPr>
        <p:sp>
          <p:nvSpPr>
            <p:cNvPr id="23" name="椭圆 3"/>
            <p:cNvSpPr>
              <a:spLocks noChangeArrowheads="1"/>
            </p:cNvSpPr>
            <p:nvPr/>
          </p:nvSpPr>
          <p:spPr bwMode="auto">
            <a:xfrm>
              <a:off x="3424237" y="2932112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4" name="椭圆 7"/>
            <p:cNvSpPr>
              <a:spLocks noChangeArrowheads="1"/>
            </p:cNvSpPr>
            <p:nvPr/>
          </p:nvSpPr>
          <p:spPr bwMode="auto">
            <a:xfrm>
              <a:off x="2135187" y="2925762"/>
              <a:ext cx="96838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5" name="椭圆 8"/>
            <p:cNvSpPr>
              <a:spLocks noChangeArrowheads="1"/>
            </p:cNvSpPr>
            <p:nvPr/>
          </p:nvSpPr>
          <p:spPr bwMode="auto">
            <a:xfrm>
              <a:off x="2779712" y="2932112"/>
              <a:ext cx="95250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6" name="椭圆 9"/>
            <p:cNvSpPr>
              <a:spLocks noChangeArrowheads="1"/>
            </p:cNvSpPr>
            <p:nvPr/>
          </p:nvSpPr>
          <p:spPr bwMode="auto">
            <a:xfrm>
              <a:off x="1516062" y="2921000"/>
              <a:ext cx="96838" cy="157162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7" name="椭圆 10"/>
            <p:cNvSpPr>
              <a:spLocks noChangeArrowheads="1"/>
            </p:cNvSpPr>
            <p:nvPr/>
          </p:nvSpPr>
          <p:spPr bwMode="auto">
            <a:xfrm>
              <a:off x="906462" y="2916237"/>
              <a:ext cx="96838" cy="157163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8" name="椭圆 11"/>
            <p:cNvSpPr>
              <a:spLocks noChangeArrowheads="1"/>
            </p:cNvSpPr>
            <p:nvPr/>
          </p:nvSpPr>
          <p:spPr bwMode="auto">
            <a:xfrm>
              <a:off x="306387" y="2914650"/>
              <a:ext cx="95250" cy="155575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altLang="en-US" sz="1800">
                <a:solidFill>
                  <a:srgbClr val="FFFFFF"/>
                </a:solidFill>
                <a:sym typeface="+mn-lt"/>
              </a:endParaRPr>
            </a:p>
          </p:txBody>
        </p: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-234950" y="-597159"/>
              <a:ext cx="7862887" cy="334670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lIns="4248000" rIns="252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endParaRPr lang="zh-CN" altLang="en-US" sz="1400">
                <a:solidFill>
                  <a:srgbClr val="A6A6A6"/>
                </a:solidFill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4639" y="1346563"/>
            <a:ext cx="10681666" cy="421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dirty="0" smtClean="0"/>
              <a:t>四方参数</a:t>
            </a:r>
            <a:r>
              <a:rPr lang="zh-CN" altLang="en-US" sz="2000" dirty="0"/>
              <a:t>敏感性分析样图，也可做三维图：</a:t>
            </a: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  <a:p>
            <a:pPr>
              <a:lnSpc>
                <a:spcPct val="135000"/>
              </a:lnSpc>
            </a:pPr>
            <a:endParaRPr lang="en-US" altLang="zh-CN" sz="2000" dirty="0"/>
          </a:p>
        </p:txBody>
      </p:sp>
      <p:sp>
        <p:nvSpPr>
          <p:cNvPr id="17" name="矩形 16"/>
          <p:cNvSpPr/>
          <p:nvPr/>
        </p:nvSpPr>
        <p:spPr>
          <a:xfrm>
            <a:off x="8977907" y="188639"/>
            <a:ext cx="1368152" cy="334417"/>
          </a:xfrm>
          <a:prstGeom prst="rect">
            <a:avLst/>
          </a:prstGeom>
          <a:solidFill>
            <a:srgbClr val="46C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四方</a:t>
            </a:r>
            <a:r>
              <a:rPr lang="zh-CN" altLang="en-US" sz="1400" b="1" dirty="0">
                <a:solidFill>
                  <a:schemeClr val="tx1"/>
                </a:solidFill>
              </a:rPr>
              <a:t>演化博弈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26" y="2276872"/>
            <a:ext cx="4312753" cy="3234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651" y="2276872"/>
            <a:ext cx="4312754" cy="3234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23092" y="1700808"/>
            <a:ext cx="12241359" cy="3601229"/>
          </a:xfrm>
          <a:prstGeom prst="rect">
            <a:avLst/>
          </a:prstGeom>
          <a:solidFill>
            <a:srgbClr val="202A36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23093" y="1917661"/>
            <a:ext cx="12241360" cy="3123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" y="2061677"/>
            <a:ext cx="12218266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>
            <a:spLocks noChangeArrowheads="1"/>
          </p:cNvSpPr>
          <p:nvPr/>
        </p:nvSpPr>
        <p:spPr bwMode="auto">
          <a:xfrm>
            <a:off x="3289275" y="2958001"/>
            <a:ext cx="60486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b="1" dirty="0">
                <a:solidFill>
                  <a:srgbClr val="46CEA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谢谢大家的观看</a:t>
            </a:r>
            <a:endParaRPr lang="zh-CN" altLang="en-US" sz="6600" b="1" dirty="0">
              <a:solidFill>
                <a:srgbClr val="46CEA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6741368"/>
            <a:ext cx="12195175" cy="116632"/>
          </a:xfrm>
          <a:prstGeom prst="rect">
            <a:avLst/>
          </a:prstGeom>
          <a:solidFill>
            <a:srgbClr val="46CEAE"/>
          </a:solidFill>
          <a:ln>
            <a:solidFill>
              <a:srgbClr val="46CE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4645</Words>
  <Application>WPS 表格</Application>
  <PresentationFormat>自定义</PresentationFormat>
  <Paragraphs>290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Cambria Math</vt:lpstr>
      <vt:lpstr>Kingsoft Math</vt:lpstr>
      <vt:lpstr>Calibri</vt:lpstr>
      <vt:lpstr>Helvetica Neue</vt:lpstr>
      <vt:lpstr>汉仪书宋二KW</vt:lpstr>
      <vt:lpstr>宋体</vt:lpstr>
      <vt:lpstr>Arial Unicode MS</vt:lpstr>
      <vt:lpstr>DejaVu Math TeX Gyre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http://www.deepbbs.org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深度联盟http://www.deepbbs.org</dc:creator>
  <cp:lastModifiedBy>W</cp:lastModifiedBy>
  <cp:revision>270</cp:revision>
  <dcterms:created xsi:type="dcterms:W3CDTF">2025-05-16T08:15:06Z</dcterms:created>
  <dcterms:modified xsi:type="dcterms:W3CDTF">2025-05-16T08:15:06Z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3DB06CFE8CB17CB209F426682E215F06_42</vt:lpwstr>
  </property>
  <property fmtid="{D5CDD505-2E9C-101B-9397-08002B2CF9AE}" pid="3" name="KSOProductBuildVer">
    <vt:lpwstr>2052-6.11.0.8885</vt:lpwstr>
  </property>
</Properties>
</file>