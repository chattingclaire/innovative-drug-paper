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71" r:id="rId18"/>
    <p:sldId id="272" r:id="rId19"/>
    <p:sldId id="273" r:id="rId20"/>
    <p:sldId id="274" r:id="rId21"/>
    <p:sldId id="277" r:id="rId22"/>
    <p:sldId id="275" r:id="rId23"/>
  </p:sldIdLst>
  <p:sldSz cx="12192000" cy="6858000"/>
  <p:notesSz cx="6858000" cy="9144000"/>
  <p:embeddedFontLst>
    <p:embeddedFont>
      <p:font typeface="PingFang SC" panose="020B0400000000000000" charset="-122"/>
      <p:regular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font" Target="fonts/font1.fntdata"/><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创新药领域政策工具与实施效果研究报告</a:t>
            </a:r>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CONTENTS目录政策工具分类与详细解析分阶段实施路线图详细规划国内外政策效果对比与启示核心挑战与政策建议</a:t>
            </a:r>
            <a:endParaRPr kumimoji="1"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政策工具分类与详细解析01</a:t>
            </a:r>
            <a:endParaRPr kumimoji="1"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研发驱动型工具靶点研发预警系统通过大数据监测全球药物靶点研发动态，对过度重复的领域（如PD- 1/L1）实施申报限制，避免资源浪费。其理论基础源于市场失灵理论，即自由市场无法有效分配高风险研发资源，需政府干预以提高社会总福利。
中国实践：2023年国家药监局（NMPA）对PD- 1/L1靶点启动预警机制，要求新申报项目必须证明显著临床优势（如头对头临床试验设计）。
效果：同靶点申报数量下降35%（2023年数据）。资源转向新靶点（如Claudin 18.2、CD47等），2024年相关项目增长50%。
挑战：预警阈值设定需动态调整，避免误伤真正创新（如双抗药物可能被误判为同质化）。企业可能转向“数据包装”，通过调整试验设计规避监管。政府与企业按比例分担早期研发风险（通常政府承担50- 80%），降低企业试错成本。其理论依据为创新生态系统理论，强调公私合作对突破性技术的必要性。
美国BARDA：2020年资助Moderna的mRNA新冠※※※※，政府承担75%的早期风险，最终疫苗上市时间缩短至9个月（原需3- 5年）。
效果：高风险领域研发成功率提升至18%（行业平均10%）。吸引企业投入※※病、罕见病等低回报领域（BARDA支持的埃博拉※※※※项目增长40%）。
挑战：政府资金退出机制复杂（如销售分成比例争议）。可能引发企业依赖政府资助的道德风险。风险共担基金（如美国BARDA）</a:t>
            </a:r>
            <a:endParaRPr kumimoji="1"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市场激活型工具疗效挂钩支付（PBRSAs）允许企业对不同国家市场采取差异定价且不公开具体价格，以保护议价能力。其理论依据为三级价格歧视，即通过市场分割实现社会福利最大化。
中国PD- 1案例：信达生物的信迪利单抗对东南亚国家实施价格保密，2024年海外授权单价较公开市场提高20%。
效果：跨境交易额从2020年的50亿美元增至2024年的350亿美元。企业国际议价能力提升（如百济神州与诺华合作溢价30%）。
挑战：可能引发国际价格联盟指控（如WTO反倾销调查）。低收入国家可及性下降（如非洲国家无法获得低价药）。全球价格保密协议根据药物实际疗效分阶段支付费用（如“完全缓解后付费”），将支付方风险从预付制转向结果导向制。其核心理论为价值医疗理论，即支付应对应真实临床获益。
意大利CAR- T案例：诺华的Kymriah采用“完全缓解后付费”模式，2023年销售额提升40%，但医保支出仅增长15%。
效果：支付效率提升：无效药物支出减少30%（OECD, 2022）。企业更关注长期疗效：后续随访数据完整率从60%提升至85%。
挑战：疗效标准易被操纵（如选择易达成的替代终点）。数据追踪成本高（需建立全国性电子病历系统）。</a:t>
            </a:r>
            <a:endParaRPr kumimoji="1"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生态优化型工具数据独占期延长统一跨国卫生技术评估（HTA）标准，减少重复评估导致的准入延迟。其理论依据为区域一体化理论，即制度协同可降低交易成本。
欧盟HTA法规：2021年实施后，27国新药准入时间从平均18个月缩短至7个月。
效果：药价平均下降35%（企业通过规模效应降低成本）。市场渗透率从50%提升至62%（2023）。
挑战：小国丧失定价自主权（如波兰创新药覆盖率下降25%）。企业需同时满足多国报销规则，行政成本增加。在专利保护期外延长企业临床数据的排他使用权（通常延长2- 4年），防止仿制药企直接引用原研数据。其理论源于动态效率理论，即更强的独占性可激励高风险投资。
日本实践：2023年PMDA对阿尔茨海默病新药Lecanemab授予10年数据保护，吸引礼来、罗氏追加投资15亿美元。
效果：本土药企市场份额从20%提升至28%（2023）。首创新药（First- in- Class）占比从10%增至18%。
挑战：仿制药延迟上市导致患者短期负担加重。可能抑制后续改良型药物（Me- Better）研发。HTA区域协同机制（欧盟HTA法规）</a:t>
            </a:r>
            <a:endParaRPr kumimoji="1"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数字赋能型工具真实世界证据（RWE）审批利用真实世界数据（如电子病历、医保数据）替代部分临床试验证据，加速审评流程。其理论源自循证医学，强调多维证据整合。
中国海南试点：青光眼新药Netarsudil通过RWE替代III期试验，审评周期从5年缩短至3年。
效果：24个进口药加速上市，节省研发费用55亿元（2020- 2024）。吸引强生、默沙东等企业在海南设立数据中心。
挑战：基层医院数据质量合格率仅72%（《中国卫生信息管理杂志》2024）。数据隐私保护机制不完善。区块链专利管理通过区块链技术实现专利数据不可篡改、跨国实时确权。其理论基于分布式账本技术，可降低知识产权交易成本。
新加坡IPOS平台：2022年处理辉瑞与BioNTech的mRNA专利纠纷，处理时间从平均18个月缩至3个月。
效果：跨国专利纠纷处理时间减少70%。专利许可费透明度提升（企业投诉率下降50%）。
挑战：跨国司法管辖权冲突（如中美区块链数据互认难题）。技术更新快，监管规则滞后。</a:t>
            </a:r>
            <a:endParaRPr kumimoji="1"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分阶段实施路线图详细规划02</a:t>
            </a:r>
            <a:endParaRPr kumimoji="1"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短期阶段（2025-2027）：试点突破与区域协作建立省级RWE数据平台政策依据：国家药监局2023年发布的《真实世界证据支持药物研发指导原则》明确要求“探索区域化RWE数据平台建设”。
实施意义：通过区域试点验证数据采集标准与隐私保护机制，为全国推广积累经验。
挑战：基层医疗机构数据质量参差不齐（如电子病历完整性不足），需建立统一的数据清洗标准。启动“中国-东盟HTA联盟”筹备政策依据：商务部《“十四五”医药产业发展规划》（2023年）提出“推动与东盟国家医药监管协同”。
实施意义：通过区域卫生技术评估（HTA）标准互认，降低东南亚市场准入成本。
挑战：东盟国家经济发展水平差异大（如新加坡与老挝），需设计差异化参与机制。</a:t>
            </a:r>
            <a:endParaRPr kumimoji="1"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中期阶段（2028-2030）：制度推广与国际规则参与医保预算单列创新药支出政策依据：国家药监局《ICH工作计划》（2028年）提出“推动RWE国际互认”。
实施意义：缩短中美欧三地双报时间差，提升国产药全球化效率。
挑战：欧美对中国RWE数据质量标准认可度不足，需通过第三方国际认证（如ISO标准）。与FDA、EMA签署RWE数据互认协议政策依据：国家医保局《关于深化医保支付方式改革的指导意见》（2025年）提出“探索创新药支付单列管理”。
实施意义：避免创新药费用挤占仿制药预算，缓解基金赤字压力（2024年赤字率8.5%）。
操作难点：需建立动态调整机制，防止企业虚报研发成本套取资金。</a:t>
            </a:r>
            <a:endParaRPr kumimoji="1"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长期阶段（2031-2035）：全产业链闭环与全球领导力0102政策依据：国务院《国家生物经济中长期发展规划（2031- 2040）》提出“建立产学研用一体化创新链”。
实施意义：通过国家实验室主导基础研究（如基因编辑技术），企业专注转化（如CAR- T疗法），医保/商保覆盖支付，形成正向循环。
挑战：需打破部门壁垒（如科技部与医保局的资源分配矛盾），建立跨部门协调机制。构建“基础研究-转化应用-支付回收”闭环政策依据：商务部《“一带一路”医药合作行动计划》（2032年）提出“推动中国标准国际化”。
实施意义：通过标准输出提升议价权，减少重复审评成本。
挑战：需平衡标准推广与本地化需求（如伊斯兰国家宗教伦理限制）。“一带一路”国家采用中国审评标准≥50%</a:t>
            </a:r>
            <a:endParaRPr kumimoji="1"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国内外政策效果对比与启示03</a:t>
            </a:r>
            <a:endParaRPr kumimoji="1"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美国政策效果01美国凭借灵活的支付工具（如商保覆盖）和加速审批制度，实现高市场渗透率与研发回报。</a:t>
            </a:r>
            <a:endParaRPr kumimoji="1"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核心挑战与政策建议04</a:t>
            </a:r>
            <a:endParaRPr kumimoji="1"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支付端挑战与建议0102医保基金赤字率扩大（2024年达8.5%）与商保覆盖不足（5.3%）双重压力。建议：医保单列预算+疗效挂钩支付（分阶段付款）+商保创新药目录。</a:t>
            </a:r>
            <a:endParaRPr kumimoji="1"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国际端挑战与建议0102跨境交易额增长（350亿美元）但定价权缺失（海外单价仅为欧美30%）。建议：主导“中国- 东盟HTA联盟”，统一东南亚准入标准。推动RWE数据国际互认（与FDA、EMA签署协议）。</a:t>
            </a:r>
            <a:endParaRPr kumimoji="1"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国际端挑战与建议0102跨境交易额增长（350亿美元）但定价权缺失（海外单价仅为欧美30%）。建议：主导“中国- 东盟HTA联盟”，统一东南亚准入标准。推动RWE数据国际互认（与FDA、EMA签署协议）。</a:t>
            </a:r>
            <a:endParaRPr kumimoji="1"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kumimoji="1" lang="zh-CN" altLang="en-US" dirty="0"/>
              <a:t>谢谢大家</a:t>
            </a:r>
            <a:endParaRPr kumimoji="1"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1" r:id="rId1"/>
  </p:sldLayoutIdLst>
  <p:txStyles>
    <p:titleStyle/>
    <p:bodyStyle/>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a:stretch>
            <a:fillRect/>
          </a:stretch>
        </p:blipFill>
        <p:spPr>
          <a:xfrm>
            <a:off x="0" y="0"/>
            <a:ext cx="12192000" cy="6858000"/>
          </a:xfrm>
          <a:prstGeom prst="rect">
            <a:avLst/>
          </a:prstGeom>
          <a:noFill/>
          <a:ln>
            <a:noFill/>
          </a:ln>
        </p:spPr>
      </p:pic>
      <p:sp>
        <p:nvSpPr>
          <p:cNvPr id="3" name="标题 1"/>
          <p:cNvSpPr txBox="1"/>
          <p:nvPr/>
        </p:nvSpPr>
        <p:spPr>
          <a:xfrm>
            <a:off x="660399" y="3200400"/>
            <a:ext cx="4507501" cy="28575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r>
              <a:rPr kumimoji="1" lang="en-US" altLang="zh-CN" sz="1800">
                <a:ln w="12700">
                  <a:noFill/>
                </a:ln>
                <a:solidFill>
                  <a:srgbClr val="FFFFFF">
                    <a:alpha val="100000"/>
                  </a:srgbClr>
                </a:solidFill>
                <a:latin typeface="OPPOSans R"/>
                <a:ea typeface="OPPOSans R"/>
                <a:cs typeface="OPPOSans R"/>
              </a:rPr>
              <a:t> </a:t>
            </a:r>
            <a:endParaRPr kumimoji="1" lang="zh-CN" altLang="en-US"/>
          </a:p>
        </p:txBody>
      </p:sp>
      <p:sp>
        <p:nvSpPr>
          <p:cNvPr id="4" name="标题 1"/>
          <p:cNvSpPr txBox="1"/>
          <p:nvPr/>
        </p:nvSpPr>
        <p:spPr>
          <a:xfrm>
            <a:off x="8637016" y="5300543"/>
            <a:ext cx="939800" cy="1557457"/>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1102005"/>
            <a:ext cx="7442557" cy="2384363"/>
          </a:xfrm>
          <a:prstGeom prst="rect">
            <a:avLst/>
          </a:prstGeom>
          <a:noFill/>
          <a:ln cap="sq">
            <a:noFill/>
          </a:ln>
        </p:spPr>
        <p:txBody>
          <a:bodyPr vert="horz" wrap="square" lIns="91440" tIns="45720" rIns="91440" bIns="45720" rtlCol="0" anchor="t"/>
          <a:lstStyle/>
          <a:p>
            <a:pPr algn="l">
              <a:lnSpc>
                <a:spcPct val="100000"/>
              </a:lnSpc>
            </a:pPr>
            <a:r>
              <a:rPr kumimoji="1" lang="en-US" altLang="zh-CN" sz="5900">
                <a:ln w="12700">
                  <a:noFill/>
                </a:ln>
                <a:solidFill>
                  <a:srgbClr val="080808">
                    <a:alpha val="100000"/>
                  </a:srgbClr>
                </a:solidFill>
                <a:latin typeface="OPPOSans R"/>
                <a:ea typeface="OPPOSans R"/>
                <a:cs typeface="OPPOSans R"/>
              </a:rPr>
              <a:t>创新药领域政策工具与实施效果研究报告</a:t>
            </a:r>
            <a:endParaRPr kumimoji="1" lang="zh-CN" altLang="en-US"/>
          </a:p>
        </p:txBody>
      </p:sp>
      <p:sp>
        <p:nvSpPr>
          <p:cNvPr id="6" name="标题 1"/>
          <p:cNvSpPr txBox="1"/>
          <p:nvPr>
            <p:custDataLst>
              <p:tags r:id="rId2"/>
            </p:custDataLst>
          </p:nvPr>
        </p:nvSpPr>
        <p:spPr>
          <a:xfrm>
            <a:off x="695325" y="3645180"/>
            <a:ext cx="7442557" cy="2384363"/>
          </a:xfrm>
          <a:prstGeom prst="rect">
            <a:avLst/>
          </a:prstGeom>
          <a:noFill/>
          <a:ln cap="sq">
            <a:noFill/>
          </a:ln>
        </p:spPr>
        <p:txBody>
          <a:bodyPr vert="horz" wrap="square" lIns="91440" tIns="45720" rIns="91440" bIns="45720" rtlCol="0" anchor="t"/>
          <a:p>
            <a:pPr algn="l">
              <a:lnSpc>
                <a:spcPct val="100000"/>
              </a:lnSpc>
            </a:pPr>
            <a:r>
              <a:rPr kumimoji="1" lang="zh-CN" altLang="en-US">
                <a:ln w="12700">
                  <a:noFill/>
                </a:ln>
                <a:solidFill>
                  <a:srgbClr val="080808">
                    <a:alpha val="100000"/>
                  </a:srgbClr>
                </a:solidFill>
                <a:latin typeface="OPPOSans R"/>
                <a:ea typeface="OPPOSans R"/>
                <a:cs typeface="OPPOSans R"/>
              </a:rPr>
              <a:t>汇报人</a:t>
            </a:r>
            <a:r>
              <a:rPr kumimoji="1" lang="en-US" altLang="zh-CN">
                <a:ln w="12700">
                  <a:noFill/>
                </a:ln>
                <a:solidFill>
                  <a:srgbClr val="080808">
                    <a:alpha val="100000"/>
                  </a:srgbClr>
                </a:solidFill>
                <a:latin typeface="OPPOSans R"/>
                <a:ea typeface="OPPOSans R"/>
                <a:cs typeface="OPPOSans R"/>
              </a:rPr>
              <a:t>：</a:t>
            </a:r>
            <a:r>
              <a:rPr kumimoji="1" lang="zh-CN" altLang="en-US">
                <a:ln w="12700">
                  <a:noFill/>
                </a:ln>
                <a:solidFill>
                  <a:srgbClr val="080808">
                    <a:alpha val="100000"/>
                  </a:srgbClr>
                </a:solidFill>
                <a:latin typeface="OPPOSans R"/>
                <a:ea typeface="OPPOSans R"/>
                <a:cs typeface="OPPOSans R"/>
              </a:rPr>
              <a:t>陈海婷</a:t>
            </a:r>
            <a:r>
              <a:rPr kumimoji="1" lang="en-US" altLang="zh-CN">
                <a:ln w="12700">
                  <a:noFill/>
                </a:ln>
                <a:solidFill>
                  <a:srgbClr val="080808">
                    <a:alpha val="100000"/>
                  </a:srgbClr>
                </a:solidFill>
                <a:latin typeface="OPPOSans R"/>
                <a:ea typeface="OPPOSans R"/>
                <a:cs typeface="OPPOSans R"/>
              </a:rPr>
              <a:t> </a:t>
            </a:r>
            <a:endParaRPr kumimoji="1" lang="en-US" altLang="zh-CN">
              <a:ln w="12700">
                <a:noFill/>
              </a:ln>
              <a:solidFill>
                <a:srgbClr val="080808">
                  <a:alpha val="100000"/>
                </a:srgbClr>
              </a:solidFill>
              <a:latin typeface="OPPOSans R"/>
              <a:ea typeface="OPPOSans R"/>
              <a:cs typeface="OPPOSans R"/>
            </a:endParaRPr>
          </a:p>
          <a:p>
            <a:pPr algn="l">
              <a:lnSpc>
                <a:spcPct val="100000"/>
              </a:lnSpc>
            </a:pPr>
            <a:r>
              <a:rPr kumimoji="1" lang="zh-CN" altLang="en-US">
                <a:ln w="12700">
                  <a:noFill/>
                </a:ln>
                <a:solidFill>
                  <a:srgbClr val="080808">
                    <a:alpha val="100000"/>
                  </a:srgbClr>
                </a:solidFill>
                <a:latin typeface="OPPOSans R"/>
                <a:ea typeface="OPPOSans R"/>
                <a:cs typeface="OPPOSans R"/>
              </a:rPr>
              <a:t>时间</a:t>
            </a:r>
            <a:r>
              <a:rPr kumimoji="1" lang="en-US" altLang="zh-CN">
                <a:ln w="12700">
                  <a:noFill/>
                </a:ln>
                <a:solidFill>
                  <a:srgbClr val="080808">
                    <a:alpha val="100000"/>
                  </a:srgbClr>
                </a:solidFill>
                <a:latin typeface="OPPOSans R"/>
                <a:ea typeface="OPPOSans R"/>
                <a:cs typeface="OPPOSans R"/>
              </a:rPr>
              <a:t>：3</a:t>
            </a:r>
            <a:r>
              <a:rPr kumimoji="1" lang="zh-CN" altLang="en-US">
                <a:ln w="12700">
                  <a:noFill/>
                </a:ln>
                <a:solidFill>
                  <a:srgbClr val="080808">
                    <a:alpha val="100000"/>
                  </a:srgbClr>
                </a:solidFill>
                <a:latin typeface="OPPOSans R"/>
                <a:ea typeface="OPPOSans R"/>
                <a:cs typeface="OPPOSans R"/>
              </a:rPr>
              <a:t>月</a:t>
            </a:r>
            <a:r>
              <a:rPr kumimoji="1" lang="en-US" altLang="zh-CN">
                <a:ln w="12700">
                  <a:noFill/>
                </a:ln>
                <a:solidFill>
                  <a:srgbClr val="080808">
                    <a:alpha val="100000"/>
                  </a:srgbClr>
                </a:solidFill>
                <a:latin typeface="OPPOSans R"/>
                <a:ea typeface="OPPOSans R"/>
                <a:cs typeface="OPPOSans R"/>
              </a:rPr>
              <a:t>24</a:t>
            </a:r>
            <a:r>
              <a:rPr kumimoji="1" lang="zh-CN" altLang="en-US">
                <a:ln w="12700">
                  <a:noFill/>
                </a:ln>
                <a:solidFill>
                  <a:srgbClr val="080808">
                    <a:alpha val="100000"/>
                  </a:srgbClr>
                </a:solidFill>
                <a:latin typeface="OPPOSans R"/>
                <a:ea typeface="OPPOSans R"/>
                <a:cs typeface="OPPOSans R"/>
              </a:rPr>
              <a:t>日</a:t>
            </a:r>
            <a:endParaRPr kumimoji="1" lang="zh-CN" altLang="en-US">
              <a:ln w="12700">
                <a:noFill/>
              </a:ln>
              <a:solidFill>
                <a:srgbClr val="080808">
                  <a:alpha val="100000"/>
                </a:srgbClr>
              </a:solidFill>
              <a:latin typeface="OPPOSans R"/>
              <a:ea typeface="OPPOSans R"/>
              <a:cs typeface="OPPOSans 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8857452" y="6438900"/>
            <a:ext cx="2661448" cy="215900"/>
          </a:xfrm>
          <a:prstGeom prst="rect">
            <a:avLst/>
          </a:prstGeom>
          <a:noFill/>
          <a:ln>
            <a:noFill/>
          </a:ln>
        </p:spPr>
        <p:txBody>
          <a:bodyPr vert="horz" wrap="square" lIns="91440" tIns="45720" rIns="91440" bIns="45720" rtlCol="0" anchor="ctr"/>
          <a:lstStyle/>
          <a:p>
            <a:pPr algn="r">
              <a:lnSpc>
                <a:spcPct val="110000"/>
              </a:lnSpc>
            </a:pPr>
            <a:endParaRPr kumimoji="1" lang="zh-CN" altLang="en-US"/>
          </a:p>
        </p:txBody>
      </p:sp>
      <p:grpSp>
        <p:nvGrpSpPr>
          <p:cNvPr id="4" name="组合 3"/>
          <p:cNvGrpSpPr/>
          <p:nvPr/>
        </p:nvGrpSpPr>
        <p:grpSpPr>
          <a:xfrm>
            <a:off x="5500805" y="2295040"/>
            <a:ext cx="1097280" cy="979269"/>
            <a:chOff x="5500805" y="2295040"/>
            <a:chExt cx="1097280" cy="979269"/>
          </a:xfrm>
        </p:grpSpPr>
        <p:sp>
          <p:nvSpPr>
            <p:cNvPr id="5" name="标题 1"/>
            <p:cNvSpPr txBox="1"/>
            <p:nvPr/>
          </p:nvSpPr>
          <p:spPr>
            <a:xfrm>
              <a:off x="5500805" y="2928869"/>
              <a:ext cx="1097280" cy="345440"/>
            </a:xfrm>
            <a:prstGeom prst="rect">
              <a:avLst/>
            </a:prstGeom>
            <a:noFill/>
            <a:ln w="12700" cap="sq">
              <a:noFill/>
              <a:miter/>
            </a:ln>
          </p:spPr>
          <p:txBody>
            <a:bodyPr vert="horz" wrap="none" lIns="91440" tIns="45720" rIns="91440" bIns="45720" rtlCol="0" anchor="t">
              <a:spAutoFit/>
            </a:bodyPr>
            <a:lstStyle/>
            <a:p>
              <a:pPr algn="ctr">
                <a:lnSpc>
                  <a:spcPct val="110000"/>
                </a:lnSpc>
              </a:pPr>
              <a:r>
                <a:rPr kumimoji="1" lang="en-US" altLang="zh-CN" sz="1800">
                  <a:ln w="12700">
                    <a:noFill/>
                  </a:ln>
                  <a:solidFill>
                    <a:srgbClr val="FFFFFF">
                      <a:alpha val="100000"/>
                    </a:srgbClr>
                  </a:solidFill>
                  <a:latin typeface="OPPOSans R"/>
                  <a:ea typeface="OPPOSans R"/>
                  <a:cs typeface="OPPOSans R"/>
                </a:rPr>
                <a:t>述职报告</a:t>
              </a:r>
              <a:endParaRPr kumimoji="1" lang="zh-CN" altLang="en-US"/>
            </a:p>
          </p:txBody>
        </p:sp>
        <p:sp>
          <p:nvSpPr>
            <p:cNvPr id="6" name="标题 1"/>
            <p:cNvSpPr txBox="1"/>
            <p:nvPr/>
          </p:nvSpPr>
          <p:spPr>
            <a:xfrm>
              <a:off x="5648280" y="2295040"/>
              <a:ext cx="754380" cy="701040"/>
            </a:xfrm>
            <a:prstGeom prst="rect">
              <a:avLst/>
            </a:prstGeom>
            <a:noFill/>
            <a:ln>
              <a:noFill/>
            </a:ln>
          </p:spPr>
          <p:txBody>
            <a:bodyPr vert="horz" wrap="none" lIns="91440" tIns="45720" rIns="91440" bIns="45720" rtlCol="0" anchor="b">
              <a:spAutoFit/>
            </a:bodyPr>
            <a:lstStyle/>
            <a:p>
              <a:pPr algn="ctr">
                <a:lnSpc>
                  <a:spcPct val="110000"/>
                </a:lnSpc>
              </a:pPr>
              <a:r>
                <a:rPr kumimoji="1" lang="en-US" altLang="zh-CN" sz="4400">
                  <a:ln w="12700">
                    <a:noFill/>
                  </a:ln>
                  <a:solidFill>
                    <a:srgbClr val="FFFFFF">
                      <a:alpha val="100000"/>
                    </a:srgbClr>
                  </a:solidFill>
                  <a:latin typeface="OPPOSans R"/>
                  <a:ea typeface="OPPOSans R"/>
                  <a:cs typeface="OPPOSans R"/>
                </a:rPr>
                <a:t>01</a:t>
              </a:r>
              <a:endParaRPr kumimoji="1" lang="zh-CN" altLang="en-US"/>
            </a:p>
          </p:txBody>
        </p:sp>
      </p:grpSp>
      <p:sp>
        <p:nvSpPr>
          <p:cNvPr id="7" name="标题 1"/>
          <p:cNvSpPr txBox="1"/>
          <p:nvPr/>
        </p:nvSpPr>
        <p:spPr>
          <a:xfrm>
            <a:off x="12700" y="0"/>
            <a:ext cx="12192000" cy="6858000"/>
          </a:xfrm>
          <a:custGeom>
            <a:avLst/>
            <a:gdLst>
              <a:gd name="connsiteX0" fmla="*/ 5611611 w 12236383"/>
              <a:gd name="connsiteY0" fmla="*/ 0 h 6858000"/>
              <a:gd name="connsiteX1" fmla="*/ 12236383 w 12236383"/>
              <a:gd name="connsiteY1" fmla="*/ 0 h 6858000"/>
              <a:gd name="connsiteX2" fmla="*/ 12236383 w 12236383"/>
              <a:gd name="connsiteY2" fmla="*/ 6371227 h 6858000"/>
              <a:gd name="connsiteX3" fmla="*/ 12196315 w 12236383"/>
              <a:gd name="connsiteY3" fmla="*/ 6366625 h 6858000"/>
              <a:gd name="connsiteX4" fmla="*/ 11127961 w 12236383"/>
              <a:gd name="connsiteY4" fmla="*/ 6363881 h 6858000"/>
              <a:gd name="connsiteX5" fmla="*/ 8508586 w 12236383"/>
              <a:gd name="connsiteY5" fmla="*/ 6106706 h 6858000"/>
              <a:gd name="connsiteX6" fmla="*/ 6891643 w 12236383"/>
              <a:gd name="connsiteY6" fmla="*/ 6854344 h 6858000"/>
              <a:gd name="connsiteX7" fmla="*/ 6885800 w 12236383"/>
              <a:gd name="connsiteY7" fmla="*/ 6858000 h 6858000"/>
              <a:gd name="connsiteX8" fmla="*/ 0 w 12236383"/>
              <a:gd name="connsiteY8" fmla="*/ 6858000 h 6858000"/>
              <a:gd name="connsiteX9" fmla="*/ 0 w 12236383"/>
              <a:gd name="connsiteY9" fmla="*/ 524132 h 6858000"/>
              <a:gd name="connsiteX10" fmla="*/ 171448 w 12236383"/>
              <a:gd name="connsiteY10" fmla="*/ 506611 h 6858000"/>
              <a:gd name="connsiteX11" fmla="*/ 1066798 w 12236383"/>
              <a:gd name="connsiteY11" fmla="*/ 533400 h 6858000"/>
              <a:gd name="connsiteX12" fmla="*/ 3933824 w 12236383"/>
              <a:gd name="connsiteY12" fmla="*/ 771525 h 6858000"/>
              <a:gd name="connsiteX13" fmla="*/ 5558779 w 12236383"/>
              <a:gd name="connsiteY13" fmla="*/ 39085 h 6858000"/>
            </a:gdLst>
            <a:ahLst/>
            <a:cxnLst/>
            <a:rect l="l" t="t" r="r" b="b"/>
            <a:pathLst>
              <a:path w="12236383" h="6858000">
                <a:moveTo>
                  <a:pt x="5611611" y="0"/>
                </a:moveTo>
                <a:lnTo>
                  <a:pt x="12236383" y="0"/>
                </a:lnTo>
                <a:lnTo>
                  <a:pt x="12236383" y="6371227"/>
                </a:lnTo>
                <a:lnTo>
                  <a:pt x="12196315" y="6366625"/>
                </a:lnTo>
                <a:cubicBezTo>
                  <a:pt x="11922827" y="6346022"/>
                  <a:pt x="11558570" y="6364873"/>
                  <a:pt x="11127961" y="6363881"/>
                </a:cubicBezTo>
                <a:cubicBezTo>
                  <a:pt x="10438986" y="6362294"/>
                  <a:pt x="9272174" y="5990818"/>
                  <a:pt x="8508586" y="6106706"/>
                </a:cubicBezTo>
                <a:cubicBezTo>
                  <a:pt x="7935896" y="6193622"/>
                  <a:pt x="7313199" y="6589505"/>
                  <a:pt x="6891643" y="6854344"/>
                </a:cubicBezTo>
                <a:lnTo>
                  <a:pt x="6885800" y="6858000"/>
                </a:lnTo>
                <a:lnTo>
                  <a:pt x="0" y="6858000"/>
                </a:lnTo>
                <a:lnTo>
                  <a:pt x="0" y="524132"/>
                </a:lnTo>
                <a:lnTo>
                  <a:pt x="171448" y="506611"/>
                </a:lnTo>
                <a:cubicBezTo>
                  <a:pt x="423464" y="487363"/>
                  <a:pt x="700880" y="492919"/>
                  <a:pt x="1066798" y="533400"/>
                </a:cubicBezTo>
                <a:cubicBezTo>
                  <a:pt x="1798635" y="614362"/>
                  <a:pt x="3152774" y="942975"/>
                  <a:pt x="3933824" y="771525"/>
                </a:cubicBezTo>
                <a:cubicBezTo>
                  <a:pt x="4373164" y="675085"/>
                  <a:pt x="5117398" y="343068"/>
                  <a:pt x="5558779" y="39085"/>
                </a:cubicBezTo>
                <a:close/>
              </a:path>
            </a:pathLst>
          </a:custGeom>
          <a:solidFill>
            <a:schemeClr val="accent1">
              <a:alpha val="95000"/>
            </a:schemeClr>
          </a:solidFill>
          <a:ln w="127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6357257" y="5919660"/>
            <a:ext cx="6341457" cy="1134283"/>
          </a:xfrm>
          <a:custGeom>
            <a:avLst/>
            <a:gdLst>
              <a:gd name="connsiteX0" fmla="*/ 0 w 6341457"/>
              <a:gd name="connsiteY0" fmla="*/ 1134283 h 1134283"/>
              <a:gd name="connsiteX1" fmla="*/ 2075180 w 6341457"/>
              <a:gd name="connsiteY1" fmla="*/ 33374 h 1134283"/>
              <a:gd name="connsiteX2" fmla="*/ 4645660 w 6341457"/>
              <a:gd name="connsiteY2" fmla="*/ 287011 h 1134283"/>
              <a:gd name="connsiteX3" fmla="*/ 6076769 w 6341457"/>
              <a:gd name="connsiteY3" fmla="*/ 303703 h 1134283"/>
              <a:gd name="connsiteX4" fmla="*/ 6244409 w 6341457"/>
              <a:gd name="connsiteY4" fmla="*/ 472069 h 1134283"/>
            </a:gdLst>
            <a:ahLst/>
            <a:cxnLst/>
            <a:rect l="l" t="t" r="r" b="b"/>
            <a:pathLst>
              <a:path w="6341457" h="1134283">
                <a:moveTo>
                  <a:pt x="0" y="1134283"/>
                </a:moveTo>
                <a:cubicBezTo>
                  <a:pt x="538238" y="678292"/>
                  <a:pt x="1300903" y="174586"/>
                  <a:pt x="2075180" y="33374"/>
                </a:cubicBezTo>
                <a:cubicBezTo>
                  <a:pt x="2849457" y="-107838"/>
                  <a:pt x="3978729" y="241956"/>
                  <a:pt x="4645660" y="287011"/>
                </a:cubicBezTo>
                <a:cubicBezTo>
                  <a:pt x="5312591" y="332066"/>
                  <a:pt x="5602273" y="280359"/>
                  <a:pt x="6076769" y="303703"/>
                </a:cubicBezTo>
                <a:cubicBezTo>
                  <a:pt x="6386407" y="296446"/>
                  <a:pt x="6399228" y="475697"/>
                  <a:pt x="6244409" y="472069"/>
                </a:cubicBezTo>
              </a:path>
            </a:pathLst>
          </a:custGeom>
          <a:noFill/>
          <a:ln w="12700" cap="flat">
            <a:solidFill>
              <a:schemeClr val="bg1"/>
            </a:solidFill>
            <a:miter/>
          </a:ln>
          <a:effectLst/>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190500" y="-53341"/>
            <a:ext cx="6088380" cy="1017339"/>
          </a:xfrm>
          <a:custGeom>
            <a:avLst/>
            <a:gdLst>
              <a:gd name="connsiteX0" fmla="*/ 0 w 6088380"/>
              <a:gd name="connsiteY0" fmla="*/ 739140 h 1017339"/>
              <a:gd name="connsiteX1" fmla="*/ 838200 w 6088380"/>
              <a:gd name="connsiteY1" fmla="*/ 662940 h 1017339"/>
              <a:gd name="connsiteX2" fmla="*/ 3985260 w 6088380"/>
              <a:gd name="connsiteY2" fmla="*/ 998220 h 1017339"/>
              <a:gd name="connsiteX3" fmla="*/ 6088380 w 6088380"/>
              <a:gd name="connsiteY3" fmla="*/ 0 h 1017339"/>
            </a:gdLst>
            <a:ahLst/>
            <a:cxnLst/>
            <a:rect l="l" t="t" r="r" b="b"/>
            <a:pathLst>
              <a:path w="6088380" h="1017339">
                <a:moveTo>
                  <a:pt x="0" y="739140"/>
                </a:moveTo>
                <a:cubicBezTo>
                  <a:pt x="104140" y="699135"/>
                  <a:pt x="173990" y="619760"/>
                  <a:pt x="838200" y="662940"/>
                </a:cubicBezTo>
                <a:cubicBezTo>
                  <a:pt x="1502410" y="706120"/>
                  <a:pt x="3110230" y="1108710"/>
                  <a:pt x="3985260" y="998220"/>
                </a:cubicBezTo>
                <a:cubicBezTo>
                  <a:pt x="4860290" y="887730"/>
                  <a:pt x="5333365" y="478155"/>
                  <a:pt x="6088380" y="0"/>
                </a:cubicBezTo>
              </a:path>
            </a:pathLst>
          </a:custGeom>
          <a:noFill/>
          <a:ln w="12700" cap="flat">
            <a:solidFill>
              <a:schemeClr val="bg1"/>
            </a:solidFill>
            <a:miter/>
          </a:ln>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3033485" y="1334136"/>
            <a:ext cx="6121400" cy="1003300"/>
          </a:xfrm>
          <a:prstGeom prst="rect">
            <a:avLst/>
          </a:prstGeom>
          <a:noFill/>
          <a:ln>
            <a:noFill/>
          </a:ln>
        </p:spPr>
        <p:txBody>
          <a:bodyPr vert="horz" wrap="square" lIns="0" tIns="0" rIns="0" bIns="0" rtlCol="0" anchor="t">
            <a:spAutoFit/>
          </a:bodyPr>
          <a:lstStyle/>
          <a:p>
            <a:pPr algn="ctr">
              <a:lnSpc>
                <a:spcPct val="110000"/>
              </a:lnSpc>
            </a:pPr>
            <a:r>
              <a:rPr kumimoji="1" lang="en-US" altLang="zh-CN" sz="7200">
                <a:ln w="12700">
                  <a:noFill/>
                </a:ln>
                <a:solidFill>
                  <a:srgbClr val="FFFFFF">
                    <a:alpha val="1440"/>
                  </a:srgbClr>
                </a:solidFill>
                <a:latin typeface="OPPOSans H"/>
                <a:ea typeface="OPPOSans H"/>
                <a:cs typeface="OPPOSans H"/>
              </a:rPr>
              <a:t>CONTENTS</a:t>
            </a:r>
            <a:endParaRPr kumimoji="1" lang="zh-CN" altLang="en-US"/>
          </a:p>
        </p:txBody>
      </p:sp>
      <p:cxnSp>
        <p:nvCxnSpPr>
          <p:cNvPr id="11" name="标题 1"/>
          <p:cNvCxnSpPr/>
          <p:nvPr/>
        </p:nvCxnSpPr>
        <p:spPr>
          <a:xfrm>
            <a:off x="1922138" y="4275700"/>
            <a:ext cx="8356857" cy="0"/>
          </a:xfrm>
          <a:prstGeom prst="line">
            <a:avLst/>
          </a:prstGeom>
          <a:noFill/>
          <a:ln w="12700" cap="sq">
            <a:solidFill>
              <a:schemeClr val="bg1">
                <a:alpha val="80000"/>
              </a:schemeClr>
            </a:solidFill>
            <a:miter/>
          </a:ln>
        </p:spPr>
      </p:cxnSp>
      <p:sp>
        <p:nvSpPr>
          <p:cNvPr id="12" name="标题 1"/>
          <p:cNvSpPr txBox="1"/>
          <p:nvPr/>
        </p:nvSpPr>
        <p:spPr>
          <a:xfrm>
            <a:off x="1922138" y="4203700"/>
            <a:ext cx="144000" cy="144000"/>
          </a:xfrm>
          <a:prstGeom prst="ellipse">
            <a:avLst/>
          </a:prstGeom>
          <a:solidFill>
            <a:schemeClr val="accent1"/>
          </a:solidFill>
          <a:ln w="9525" cap="flat">
            <a:solidFill>
              <a:schemeClr val="bg1"/>
            </a:solidFill>
            <a:miter/>
          </a:ln>
          <a:effectLst/>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4659756" y="4203700"/>
            <a:ext cx="144000" cy="144000"/>
          </a:xfrm>
          <a:prstGeom prst="ellipse">
            <a:avLst/>
          </a:prstGeom>
          <a:solidFill>
            <a:schemeClr val="accent1"/>
          </a:solidFill>
          <a:ln w="9525" cap="flat">
            <a:solidFill>
              <a:schemeClr val="bg1"/>
            </a:solidFill>
            <a:miter/>
          </a:ln>
          <a:effectLst/>
        </p:spPr>
        <p:txBody>
          <a:bodyPr vert="horz" wrap="square" lIns="91440" tIns="45720" rIns="91440" bIns="45720" rtlCol="0" anchor="ctr"/>
          <a:lstStyle/>
          <a:p>
            <a:pPr algn="ctr">
              <a:lnSpc>
                <a:spcPct val="110000"/>
              </a:lnSpc>
            </a:pPr>
            <a:endParaRPr kumimoji="1" lang="zh-CN" altLang="en-US"/>
          </a:p>
        </p:txBody>
      </p:sp>
      <p:sp>
        <p:nvSpPr>
          <p:cNvPr id="14" name="标题 1"/>
          <p:cNvSpPr txBox="1"/>
          <p:nvPr/>
        </p:nvSpPr>
        <p:spPr>
          <a:xfrm>
            <a:off x="7397375" y="4203700"/>
            <a:ext cx="144000" cy="144000"/>
          </a:xfrm>
          <a:prstGeom prst="ellipse">
            <a:avLst/>
          </a:prstGeom>
          <a:solidFill>
            <a:schemeClr val="accent1"/>
          </a:solidFill>
          <a:ln w="9525" cap="flat">
            <a:solidFill>
              <a:schemeClr val="bg1"/>
            </a:solidFill>
            <a:miter/>
          </a:ln>
          <a:effectLst/>
        </p:spPr>
        <p:txBody>
          <a:bodyPr vert="horz" wrap="square" lIns="91440" tIns="45720" rIns="91440" bIns="45720" rtlCol="0" anchor="ctr"/>
          <a:lstStyle/>
          <a:p>
            <a:pPr algn="ctr">
              <a:lnSpc>
                <a:spcPct val="110000"/>
              </a:lnSpc>
            </a:pPr>
            <a:endParaRPr kumimoji="1" lang="zh-CN" altLang="en-US"/>
          </a:p>
        </p:txBody>
      </p:sp>
      <p:sp>
        <p:nvSpPr>
          <p:cNvPr id="15" name="标题 1"/>
          <p:cNvSpPr txBox="1"/>
          <p:nvPr/>
        </p:nvSpPr>
        <p:spPr>
          <a:xfrm>
            <a:off x="10134995" y="4203700"/>
            <a:ext cx="144000" cy="144000"/>
          </a:xfrm>
          <a:prstGeom prst="ellipse">
            <a:avLst/>
          </a:prstGeom>
          <a:solidFill>
            <a:schemeClr val="accent1"/>
          </a:solidFill>
          <a:ln w="9525" cap="flat">
            <a:solidFill>
              <a:schemeClr val="bg1"/>
            </a:solidFill>
            <a:miter/>
          </a:ln>
          <a:effectLst/>
        </p:spPr>
        <p:txBody>
          <a:bodyPr vert="horz" wrap="square" lIns="91440" tIns="45720" rIns="91440" bIns="45720" rtlCol="0" anchor="ctr"/>
          <a:lstStyle/>
          <a:p>
            <a:pPr algn="ctr">
              <a:lnSpc>
                <a:spcPct val="110000"/>
              </a:lnSpc>
            </a:pPr>
            <a:endParaRPr kumimoji="1" lang="zh-CN" altLang="en-US"/>
          </a:p>
        </p:txBody>
      </p:sp>
      <p:grpSp>
        <p:nvGrpSpPr>
          <p:cNvPr id="16" name="组合 15"/>
          <p:cNvGrpSpPr/>
          <p:nvPr/>
        </p:nvGrpSpPr>
        <p:grpSpPr>
          <a:xfrm>
            <a:off x="4079899" y="2692923"/>
            <a:ext cx="1303714" cy="1303714"/>
            <a:chOff x="4079899" y="2692923"/>
            <a:chExt cx="1303714" cy="1303714"/>
          </a:xfrm>
        </p:grpSpPr>
        <p:sp>
          <p:nvSpPr>
            <p:cNvPr id="17" name="标题 1"/>
            <p:cNvSpPr txBox="1"/>
            <p:nvPr/>
          </p:nvSpPr>
          <p:spPr>
            <a:xfrm>
              <a:off x="4173022" y="2786046"/>
              <a:ext cx="1117468" cy="1117468"/>
            </a:xfrm>
            <a:prstGeom prst="ellipse">
              <a:avLst/>
            </a:prstGeom>
            <a:solidFill>
              <a:schemeClr val="bg1">
                <a:alpha val="95000"/>
              </a:schemeClr>
            </a:solidFill>
            <a:ln w="2222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4126460" y="2739484"/>
              <a:ext cx="1210592" cy="1210592"/>
            </a:xfrm>
            <a:prstGeom prst="ellipse">
              <a:avLst/>
            </a:prstGeom>
            <a:noFill/>
            <a:ln w="9525" cap="flat">
              <a:gradFill>
                <a:gsLst>
                  <a:gs pos="0">
                    <a:schemeClr val="accent1">
                      <a:lumMod val="20000"/>
                      <a:lumOff val="80000"/>
                      <a:alpha val="80000"/>
                    </a:schemeClr>
                  </a:gs>
                  <a:gs pos="100000">
                    <a:schemeClr val="accent1">
                      <a:lumMod val="60000"/>
                      <a:lumOff val="40000"/>
                      <a:alpha val="0"/>
                    </a:schemeClr>
                  </a:gs>
                </a:gsLst>
                <a:lin ang="5400000" scaled="0"/>
              </a:gradFill>
              <a:miter/>
            </a:ln>
            <a:effectLst/>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4079899" y="2692923"/>
              <a:ext cx="1303714" cy="1303714"/>
            </a:xfrm>
            <a:prstGeom prst="ellipse">
              <a:avLst/>
            </a:prstGeom>
            <a:noFill/>
            <a:ln w="9525" cap="flat">
              <a:gradFill>
                <a:gsLst>
                  <a:gs pos="0">
                    <a:schemeClr val="bg1">
                      <a:alpha val="20000"/>
                    </a:schemeClr>
                  </a:gs>
                  <a:gs pos="66000">
                    <a:schemeClr val="accent1">
                      <a:lumMod val="60000"/>
                      <a:lumOff val="40000"/>
                      <a:alpha val="0"/>
                    </a:schemeClr>
                  </a:gs>
                </a:gsLst>
                <a:lin ang="5400000" scaled="0"/>
              </a:gradFill>
              <a:miter/>
            </a:ln>
            <a:effectLst/>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4523320" y="3136344"/>
              <a:ext cx="416872" cy="416872"/>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accent1"/>
            </a:solidFill>
            <a:ln w="781" cap="flat">
              <a:noFill/>
              <a:miter/>
            </a:ln>
            <a:effectLst/>
          </p:spPr>
          <p:txBody>
            <a:bodyPr vert="horz" wrap="square" lIns="91440" tIns="45720" rIns="91440" bIns="45720" rtlCol="0" anchor="ctr"/>
            <a:lstStyle/>
            <a:p>
              <a:pPr algn="l">
                <a:lnSpc>
                  <a:spcPct val="110000"/>
                </a:lnSpc>
              </a:pPr>
              <a:endParaRPr kumimoji="1" lang="zh-CN" altLang="en-US"/>
            </a:p>
          </p:txBody>
        </p:sp>
      </p:grpSp>
      <p:grpSp>
        <p:nvGrpSpPr>
          <p:cNvPr id="21" name="组合 20"/>
          <p:cNvGrpSpPr/>
          <p:nvPr/>
        </p:nvGrpSpPr>
        <p:grpSpPr>
          <a:xfrm>
            <a:off x="9555138" y="2692923"/>
            <a:ext cx="1303714" cy="1303714"/>
            <a:chOff x="9555138" y="2692923"/>
            <a:chExt cx="1303714" cy="1303714"/>
          </a:xfrm>
        </p:grpSpPr>
        <p:sp>
          <p:nvSpPr>
            <p:cNvPr id="22" name="标题 1"/>
            <p:cNvSpPr txBox="1"/>
            <p:nvPr/>
          </p:nvSpPr>
          <p:spPr>
            <a:xfrm>
              <a:off x="9648261" y="2786046"/>
              <a:ext cx="1117468" cy="1117468"/>
            </a:xfrm>
            <a:prstGeom prst="ellipse">
              <a:avLst/>
            </a:prstGeom>
            <a:solidFill>
              <a:schemeClr val="bg1">
                <a:alpha val="95000"/>
              </a:schemeClr>
            </a:solidFill>
            <a:ln w="2222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9601699" y="2739484"/>
              <a:ext cx="1210592" cy="1210592"/>
            </a:xfrm>
            <a:prstGeom prst="ellipse">
              <a:avLst/>
            </a:prstGeom>
            <a:noFill/>
            <a:ln w="9525" cap="flat">
              <a:gradFill>
                <a:gsLst>
                  <a:gs pos="0">
                    <a:schemeClr val="accent1">
                      <a:lumMod val="20000"/>
                      <a:lumOff val="80000"/>
                      <a:alpha val="80000"/>
                    </a:schemeClr>
                  </a:gs>
                  <a:gs pos="100000">
                    <a:schemeClr val="accent1">
                      <a:lumMod val="60000"/>
                      <a:lumOff val="40000"/>
                      <a:alpha val="0"/>
                    </a:schemeClr>
                  </a:gs>
                </a:gsLst>
                <a:lin ang="5400000" scaled="0"/>
              </a:gradFill>
              <a:miter/>
            </a:ln>
            <a:effectLst/>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a:off x="9555138" y="2692923"/>
              <a:ext cx="1303714" cy="1303714"/>
            </a:xfrm>
            <a:prstGeom prst="ellipse">
              <a:avLst/>
            </a:prstGeom>
            <a:noFill/>
            <a:ln w="9525" cap="flat">
              <a:gradFill>
                <a:gsLst>
                  <a:gs pos="0">
                    <a:schemeClr val="bg1">
                      <a:alpha val="20000"/>
                    </a:schemeClr>
                  </a:gs>
                  <a:gs pos="66000">
                    <a:schemeClr val="accent1">
                      <a:lumMod val="60000"/>
                      <a:lumOff val="40000"/>
                      <a:alpha val="0"/>
                    </a:schemeClr>
                  </a:gs>
                </a:gsLst>
                <a:lin ang="5400000" scaled="0"/>
              </a:gradFill>
              <a:miter/>
            </a:ln>
            <a:effectLst/>
          </p:spPr>
          <p:txBody>
            <a:bodyPr vert="horz" wrap="square" lIns="91440" tIns="45720" rIns="91440" bIns="45720" rtlCol="0" anchor="ctr"/>
            <a:lstStyle/>
            <a:p>
              <a:pPr algn="ctr">
                <a:lnSpc>
                  <a:spcPct val="110000"/>
                </a:lnSpc>
              </a:pPr>
              <a:endParaRPr kumimoji="1" lang="zh-CN" altLang="en-US"/>
            </a:p>
          </p:txBody>
        </p:sp>
        <p:sp>
          <p:nvSpPr>
            <p:cNvPr id="25" name="标题 1"/>
            <p:cNvSpPr txBox="1"/>
            <p:nvPr/>
          </p:nvSpPr>
          <p:spPr>
            <a:xfrm>
              <a:off x="9968915" y="3136344"/>
              <a:ext cx="476161" cy="416872"/>
            </a:xfrm>
            <a:custGeom>
              <a:avLst/>
              <a:gdLst>
                <a:gd name="connsiteX0" fmla="*/ 411293 w 822401"/>
                <a:gd name="connsiteY0" fmla="*/ 234366 h 720000"/>
                <a:gd name="connsiteX1" fmla="*/ 536928 w 822401"/>
                <a:gd name="connsiteY1" fmla="*/ 360000 h 720000"/>
                <a:gd name="connsiteX2" fmla="*/ 411293 w 822401"/>
                <a:gd name="connsiteY2" fmla="*/ 485635 h 720000"/>
                <a:gd name="connsiteX3" fmla="*/ 285659 w 822401"/>
                <a:gd name="connsiteY3" fmla="*/ 360000 h 720000"/>
                <a:gd name="connsiteX4" fmla="*/ 411293 w 822401"/>
                <a:gd name="connsiteY4" fmla="*/ 234366 h 720000"/>
                <a:gd name="connsiteX5" fmla="*/ 411293 w 822401"/>
                <a:gd name="connsiteY5" fmla="*/ 178938 h 720000"/>
                <a:gd name="connsiteX6" fmla="*/ 230231 w 822401"/>
                <a:gd name="connsiteY6" fmla="*/ 360000 h 720000"/>
                <a:gd name="connsiteX7" fmla="*/ 411293 w 822401"/>
                <a:gd name="connsiteY7" fmla="*/ 541063 h 720000"/>
                <a:gd name="connsiteX8" fmla="*/ 592355 w 822401"/>
                <a:gd name="connsiteY8" fmla="*/ 360000 h 720000"/>
                <a:gd name="connsiteX9" fmla="*/ 411293 w 822401"/>
                <a:gd name="connsiteY9" fmla="*/ 178938 h 720000"/>
                <a:gd name="connsiteX10" fmla="*/ 219884 w 822401"/>
                <a:gd name="connsiteY10" fmla="*/ 0 h 720000"/>
                <a:gd name="connsiteX11" fmla="*/ 602517 w 822401"/>
                <a:gd name="connsiteY11" fmla="*/ 0 h 720000"/>
                <a:gd name="connsiteX12" fmla="*/ 627275 w 822401"/>
                <a:gd name="connsiteY12" fmla="*/ 14319 h 720000"/>
                <a:gd name="connsiteX13" fmla="*/ 818591 w 822401"/>
                <a:gd name="connsiteY13" fmla="*/ 345682 h 720000"/>
                <a:gd name="connsiteX14" fmla="*/ 818591 w 822401"/>
                <a:gd name="connsiteY14" fmla="*/ 374319 h 720000"/>
                <a:gd name="connsiteX15" fmla="*/ 627367 w 822401"/>
                <a:gd name="connsiteY15" fmla="*/ 705682 h 720000"/>
                <a:gd name="connsiteX16" fmla="*/ 602609 w 822401"/>
                <a:gd name="connsiteY16" fmla="*/ 720000 h 720000"/>
                <a:gd name="connsiteX17" fmla="*/ 219977 w 822401"/>
                <a:gd name="connsiteY17" fmla="*/ 720000 h 720000"/>
                <a:gd name="connsiteX18" fmla="*/ 195219 w 822401"/>
                <a:gd name="connsiteY18" fmla="*/ 705682 h 720000"/>
                <a:gd name="connsiteX19" fmla="*/ 3811 w 822401"/>
                <a:gd name="connsiteY19" fmla="*/ 374319 h 720000"/>
                <a:gd name="connsiteX20" fmla="*/ 3811 w 822401"/>
                <a:gd name="connsiteY20" fmla="*/ 345682 h 720000"/>
                <a:gd name="connsiteX21" fmla="*/ 195127 w 822401"/>
                <a:gd name="connsiteY21" fmla="*/ 14319 h 720000"/>
                <a:gd name="connsiteX22" fmla="*/ 219884 w 822401"/>
                <a:gd name="connsiteY22" fmla="*/ 0 h 720000"/>
              </a:gdLst>
              <a:ahLst/>
              <a:cxnLst/>
              <a:rect l="l" t="t" r="r" b="b"/>
              <a:pathLst>
                <a:path w="822401" h="720000">
                  <a:moveTo>
                    <a:pt x="411293" y="234366"/>
                  </a:moveTo>
                  <a:cubicBezTo>
                    <a:pt x="480577" y="234366"/>
                    <a:pt x="536928" y="290716"/>
                    <a:pt x="536928" y="360000"/>
                  </a:cubicBezTo>
                  <a:cubicBezTo>
                    <a:pt x="536928" y="429284"/>
                    <a:pt x="480577" y="485635"/>
                    <a:pt x="411293" y="485635"/>
                  </a:cubicBezTo>
                  <a:cubicBezTo>
                    <a:pt x="342009" y="485635"/>
                    <a:pt x="285659" y="429284"/>
                    <a:pt x="285659" y="360000"/>
                  </a:cubicBezTo>
                  <a:cubicBezTo>
                    <a:pt x="285659" y="290716"/>
                    <a:pt x="342009" y="234366"/>
                    <a:pt x="411293" y="234366"/>
                  </a:cubicBezTo>
                  <a:close/>
                  <a:moveTo>
                    <a:pt x="411293" y="178938"/>
                  </a:moveTo>
                  <a:cubicBezTo>
                    <a:pt x="311432" y="178938"/>
                    <a:pt x="230231" y="260139"/>
                    <a:pt x="230231" y="360000"/>
                  </a:cubicBezTo>
                  <a:cubicBezTo>
                    <a:pt x="230231" y="459862"/>
                    <a:pt x="311432" y="541063"/>
                    <a:pt x="411293" y="541063"/>
                  </a:cubicBezTo>
                  <a:cubicBezTo>
                    <a:pt x="511154" y="541063"/>
                    <a:pt x="592355" y="459862"/>
                    <a:pt x="592355" y="360000"/>
                  </a:cubicBezTo>
                  <a:cubicBezTo>
                    <a:pt x="592355" y="260139"/>
                    <a:pt x="511154" y="178938"/>
                    <a:pt x="411293" y="178938"/>
                  </a:cubicBezTo>
                  <a:close/>
                  <a:moveTo>
                    <a:pt x="219884" y="0"/>
                  </a:moveTo>
                  <a:lnTo>
                    <a:pt x="602517" y="0"/>
                  </a:lnTo>
                  <a:cubicBezTo>
                    <a:pt x="612679" y="0"/>
                    <a:pt x="622194" y="5451"/>
                    <a:pt x="627275" y="14319"/>
                  </a:cubicBezTo>
                  <a:lnTo>
                    <a:pt x="818591" y="345682"/>
                  </a:lnTo>
                  <a:cubicBezTo>
                    <a:pt x="823672" y="354550"/>
                    <a:pt x="823672" y="365451"/>
                    <a:pt x="818591" y="374319"/>
                  </a:cubicBezTo>
                  <a:lnTo>
                    <a:pt x="627367" y="705682"/>
                  </a:lnTo>
                  <a:cubicBezTo>
                    <a:pt x="622286" y="714550"/>
                    <a:pt x="612771" y="720000"/>
                    <a:pt x="602609" y="720000"/>
                  </a:cubicBezTo>
                  <a:lnTo>
                    <a:pt x="219977" y="720000"/>
                  </a:lnTo>
                  <a:cubicBezTo>
                    <a:pt x="209815" y="720000"/>
                    <a:pt x="200300" y="714550"/>
                    <a:pt x="195219" y="705682"/>
                  </a:cubicBezTo>
                  <a:lnTo>
                    <a:pt x="3811" y="374319"/>
                  </a:lnTo>
                  <a:cubicBezTo>
                    <a:pt x="-1270" y="365543"/>
                    <a:pt x="-1270" y="354550"/>
                    <a:pt x="3811" y="345682"/>
                  </a:cubicBezTo>
                  <a:lnTo>
                    <a:pt x="195127" y="14319"/>
                  </a:lnTo>
                  <a:cubicBezTo>
                    <a:pt x="200208" y="5451"/>
                    <a:pt x="209723" y="0"/>
                    <a:pt x="219884" y="0"/>
                  </a:cubicBezTo>
                  <a:close/>
                </a:path>
              </a:pathLst>
            </a:custGeom>
            <a:solidFill>
              <a:schemeClr val="accent1"/>
            </a:solidFill>
            <a:ln w="781" cap="flat">
              <a:noFill/>
              <a:miter/>
            </a:ln>
            <a:effectLst/>
          </p:spPr>
          <p:txBody>
            <a:bodyPr vert="horz" wrap="square" lIns="91440" tIns="45720" rIns="91440" bIns="45720" rtlCol="0" anchor="ctr"/>
            <a:lstStyle/>
            <a:p>
              <a:pPr algn="l">
                <a:lnSpc>
                  <a:spcPct val="110000"/>
                </a:lnSpc>
              </a:pPr>
              <a:endParaRPr kumimoji="1" lang="zh-CN" altLang="en-US"/>
            </a:p>
          </p:txBody>
        </p:sp>
      </p:grpSp>
      <p:grpSp>
        <p:nvGrpSpPr>
          <p:cNvPr id="26" name="组合 25"/>
          <p:cNvGrpSpPr/>
          <p:nvPr/>
        </p:nvGrpSpPr>
        <p:grpSpPr>
          <a:xfrm>
            <a:off x="1342281" y="2692923"/>
            <a:ext cx="1303714" cy="1303714"/>
            <a:chOff x="1342281" y="2692923"/>
            <a:chExt cx="1303714" cy="1303714"/>
          </a:xfrm>
        </p:grpSpPr>
        <p:sp>
          <p:nvSpPr>
            <p:cNvPr id="27" name="标题 1"/>
            <p:cNvSpPr txBox="1"/>
            <p:nvPr/>
          </p:nvSpPr>
          <p:spPr>
            <a:xfrm>
              <a:off x="1435404" y="2786046"/>
              <a:ext cx="1117468" cy="1117468"/>
            </a:xfrm>
            <a:prstGeom prst="ellipse">
              <a:avLst/>
            </a:prstGeom>
            <a:solidFill>
              <a:schemeClr val="bg1">
                <a:alpha val="95000"/>
              </a:schemeClr>
            </a:solidFill>
            <a:ln w="2222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28" name="标题 1"/>
            <p:cNvSpPr txBox="1"/>
            <p:nvPr/>
          </p:nvSpPr>
          <p:spPr>
            <a:xfrm>
              <a:off x="1388842" y="2739484"/>
              <a:ext cx="1210592" cy="1210592"/>
            </a:xfrm>
            <a:prstGeom prst="ellipse">
              <a:avLst/>
            </a:prstGeom>
            <a:noFill/>
            <a:ln w="9525" cap="flat">
              <a:gradFill>
                <a:gsLst>
                  <a:gs pos="0">
                    <a:schemeClr val="accent1">
                      <a:lumMod val="20000"/>
                      <a:lumOff val="80000"/>
                      <a:alpha val="80000"/>
                    </a:schemeClr>
                  </a:gs>
                  <a:gs pos="100000">
                    <a:schemeClr val="accent1">
                      <a:lumMod val="60000"/>
                      <a:lumOff val="40000"/>
                      <a:alpha val="0"/>
                    </a:schemeClr>
                  </a:gs>
                </a:gsLst>
                <a:lin ang="5400000" scaled="0"/>
              </a:gradFill>
              <a:miter/>
            </a:ln>
            <a:effectLst/>
          </p:spPr>
          <p:txBody>
            <a:bodyPr vert="horz" wrap="square" lIns="91440" tIns="45720" rIns="91440" bIns="45720" rtlCol="0" anchor="ctr"/>
            <a:lstStyle/>
            <a:p>
              <a:pPr algn="ctr">
                <a:lnSpc>
                  <a:spcPct val="110000"/>
                </a:lnSpc>
              </a:pPr>
              <a:endParaRPr kumimoji="1" lang="zh-CN" altLang="en-US"/>
            </a:p>
          </p:txBody>
        </p:sp>
        <p:sp>
          <p:nvSpPr>
            <p:cNvPr id="29" name="标题 1"/>
            <p:cNvSpPr txBox="1"/>
            <p:nvPr/>
          </p:nvSpPr>
          <p:spPr>
            <a:xfrm>
              <a:off x="1342281" y="2692923"/>
              <a:ext cx="1303714" cy="1303714"/>
            </a:xfrm>
            <a:prstGeom prst="ellipse">
              <a:avLst/>
            </a:prstGeom>
            <a:noFill/>
            <a:ln w="9525" cap="flat">
              <a:gradFill>
                <a:gsLst>
                  <a:gs pos="0">
                    <a:schemeClr val="bg1">
                      <a:alpha val="20000"/>
                    </a:schemeClr>
                  </a:gs>
                  <a:gs pos="66000">
                    <a:schemeClr val="accent1">
                      <a:lumMod val="60000"/>
                      <a:lumOff val="40000"/>
                      <a:alpha val="0"/>
                    </a:schemeClr>
                  </a:gs>
                </a:gsLst>
                <a:lin ang="5400000" scaled="0"/>
              </a:gradFill>
              <a:miter/>
            </a:ln>
            <a:effectLst/>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a:off x="1801719" y="3136344"/>
              <a:ext cx="384838" cy="416873"/>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accent1"/>
            </a:solidFill>
            <a:ln w="781" cap="flat">
              <a:noFill/>
              <a:miter/>
            </a:ln>
            <a:effectLst/>
          </p:spPr>
          <p:txBody>
            <a:bodyPr vert="horz" wrap="square" lIns="91440" tIns="45720" rIns="91440" bIns="45720" rtlCol="0" anchor="ctr"/>
            <a:lstStyle/>
            <a:p>
              <a:pPr algn="l">
                <a:lnSpc>
                  <a:spcPct val="110000"/>
                </a:lnSpc>
              </a:pPr>
              <a:endParaRPr kumimoji="1" lang="zh-CN" altLang="en-US"/>
            </a:p>
          </p:txBody>
        </p:sp>
      </p:grpSp>
      <p:grpSp>
        <p:nvGrpSpPr>
          <p:cNvPr id="31" name="组合 30"/>
          <p:cNvGrpSpPr/>
          <p:nvPr/>
        </p:nvGrpSpPr>
        <p:grpSpPr>
          <a:xfrm>
            <a:off x="6817518" y="2692923"/>
            <a:ext cx="1303714" cy="1303714"/>
            <a:chOff x="6817518" y="2692923"/>
            <a:chExt cx="1303714" cy="1303714"/>
          </a:xfrm>
        </p:grpSpPr>
        <p:sp>
          <p:nvSpPr>
            <p:cNvPr id="32" name="标题 1"/>
            <p:cNvSpPr txBox="1"/>
            <p:nvPr/>
          </p:nvSpPr>
          <p:spPr>
            <a:xfrm>
              <a:off x="6910641" y="2786046"/>
              <a:ext cx="1117468" cy="1117468"/>
            </a:xfrm>
            <a:prstGeom prst="ellipse">
              <a:avLst/>
            </a:prstGeom>
            <a:solidFill>
              <a:schemeClr val="bg1">
                <a:alpha val="95000"/>
              </a:schemeClr>
            </a:solidFill>
            <a:ln w="22225"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6864079" y="2739484"/>
              <a:ext cx="1210592" cy="1210592"/>
            </a:xfrm>
            <a:prstGeom prst="ellipse">
              <a:avLst/>
            </a:prstGeom>
            <a:noFill/>
            <a:ln w="9525" cap="flat">
              <a:gradFill>
                <a:gsLst>
                  <a:gs pos="0">
                    <a:schemeClr val="accent1">
                      <a:lumMod val="20000"/>
                      <a:lumOff val="80000"/>
                      <a:alpha val="80000"/>
                    </a:schemeClr>
                  </a:gs>
                  <a:gs pos="100000">
                    <a:schemeClr val="accent1">
                      <a:lumMod val="60000"/>
                      <a:lumOff val="40000"/>
                      <a:alpha val="0"/>
                    </a:schemeClr>
                  </a:gs>
                </a:gsLst>
                <a:lin ang="5400000" scaled="0"/>
              </a:gradFill>
              <a:miter/>
            </a:ln>
            <a:effectLst/>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6817518" y="2692923"/>
              <a:ext cx="1303714" cy="1303714"/>
            </a:xfrm>
            <a:prstGeom prst="ellipse">
              <a:avLst/>
            </a:prstGeom>
            <a:noFill/>
            <a:ln w="9525" cap="flat">
              <a:gradFill>
                <a:gsLst>
                  <a:gs pos="0">
                    <a:schemeClr val="bg1">
                      <a:alpha val="20000"/>
                    </a:schemeClr>
                  </a:gs>
                  <a:gs pos="66000">
                    <a:schemeClr val="accent1">
                      <a:lumMod val="60000"/>
                      <a:lumOff val="40000"/>
                      <a:alpha val="0"/>
                    </a:schemeClr>
                  </a:gs>
                </a:gsLst>
                <a:lin ang="5400000" scaled="0"/>
              </a:gradFill>
              <a:miter/>
            </a:ln>
            <a:effectLst/>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flipH="1" flipV="1">
              <a:off x="7253990" y="3136344"/>
              <a:ext cx="430770" cy="416873"/>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accent1"/>
            </a:solidFill>
            <a:ln w="781" cap="flat">
              <a:noFill/>
              <a:miter/>
            </a:ln>
            <a:effectLst/>
          </p:spPr>
          <p:txBody>
            <a:bodyPr vert="horz" wrap="square" lIns="91440" tIns="45720" rIns="91440" bIns="45720" rtlCol="0" anchor="ctr"/>
            <a:lstStyle/>
            <a:p>
              <a:pPr algn="l">
                <a:lnSpc>
                  <a:spcPct val="110000"/>
                </a:lnSpc>
              </a:pPr>
              <a:endParaRPr kumimoji="1" lang="zh-CN" altLang="en-US"/>
            </a:p>
          </p:txBody>
        </p:sp>
      </p:grpSp>
      <p:sp>
        <p:nvSpPr>
          <p:cNvPr id="36" name="标题 1"/>
          <p:cNvSpPr txBox="1"/>
          <p:nvPr/>
        </p:nvSpPr>
        <p:spPr>
          <a:xfrm>
            <a:off x="4907280" y="952045"/>
            <a:ext cx="2377440" cy="1354217"/>
          </a:xfrm>
          <a:prstGeom prst="rect">
            <a:avLst/>
          </a:prstGeom>
          <a:noFill/>
          <a:ln>
            <a:noFill/>
          </a:ln>
        </p:spPr>
        <p:txBody>
          <a:bodyPr vert="horz" wrap="square" lIns="0" tIns="0" rIns="0" bIns="0" rtlCol="0" anchor="t"/>
          <a:lstStyle/>
          <a:p>
            <a:pPr algn="dist">
              <a:lnSpc>
                <a:spcPct val="110000"/>
              </a:lnSpc>
            </a:pPr>
            <a:r>
              <a:rPr kumimoji="1" lang="en-US" altLang="zh-CN" sz="8800">
                <a:ln w="12700">
                  <a:noFill/>
                </a:ln>
                <a:solidFill>
                  <a:srgbClr val="FFFFFF">
                    <a:alpha val="100000"/>
                  </a:srgbClr>
                </a:solidFill>
                <a:latin typeface="OPPOSans H"/>
                <a:ea typeface="OPPOSans H"/>
                <a:cs typeface="OPPOSans H"/>
              </a:rPr>
              <a:t>目录</a:t>
            </a:r>
            <a:endParaRPr kumimoji="1" lang="zh-CN" altLang="en-US"/>
          </a:p>
        </p:txBody>
      </p:sp>
      <p:sp>
        <p:nvSpPr>
          <p:cNvPr id="37" name="标题 1"/>
          <p:cNvSpPr txBox="1"/>
          <p:nvPr/>
        </p:nvSpPr>
        <p:spPr>
          <a:xfrm>
            <a:off x="1019175" y="4711810"/>
            <a:ext cx="1949926" cy="1303709"/>
          </a:xfrm>
          <a:prstGeom prst="rect">
            <a:avLst/>
          </a:prstGeom>
          <a:noFill/>
          <a:ln cap="sq">
            <a:noFill/>
          </a:ln>
        </p:spPr>
        <p:txBody>
          <a:bodyPr vert="horz" wrap="square" lIns="0" tIns="0" rIns="0" bIns="0" rtlCol="0" anchor="t"/>
          <a:lstStyle/>
          <a:p>
            <a:pPr algn="ctr">
              <a:lnSpc>
                <a:spcPct val="110000"/>
              </a:lnSpc>
            </a:pPr>
            <a:r>
              <a:rPr kumimoji="1" lang="en-US" altLang="zh-CN" sz="2800">
                <a:ln w="12700">
                  <a:noFill/>
                </a:ln>
                <a:solidFill>
                  <a:srgbClr val="FFFFFF">
                    <a:alpha val="100000"/>
                  </a:srgbClr>
                </a:solidFill>
                <a:latin typeface="OPPOSans H"/>
                <a:ea typeface="OPPOSans H"/>
                <a:cs typeface="OPPOSans H"/>
              </a:rPr>
              <a:t>政策工具分类与详细解析</a:t>
            </a:r>
            <a:endParaRPr kumimoji="1" lang="zh-CN" altLang="en-US"/>
          </a:p>
        </p:txBody>
      </p:sp>
      <p:sp>
        <p:nvSpPr>
          <p:cNvPr id="38" name="标题 1"/>
          <p:cNvSpPr txBox="1"/>
          <p:nvPr/>
        </p:nvSpPr>
        <p:spPr>
          <a:xfrm>
            <a:off x="3756794" y="4711810"/>
            <a:ext cx="1949926" cy="1303709"/>
          </a:xfrm>
          <a:prstGeom prst="rect">
            <a:avLst/>
          </a:prstGeom>
          <a:noFill/>
          <a:ln cap="sq">
            <a:noFill/>
          </a:ln>
        </p:spPr>
        <p:txBody>
          <a:bodyPr vert="horz" wrap="square" lIns="0" tIns="0" rIns="0" bIns="0" rtlCol="0" anchor="t"/>
          <a:lstStyle/>
          <a:p>
            <a:pPr algn="ctr">
              <a:lnSpc>
                <a:spcPct val="110000"/>
              </a:lnSpc>
            </a:pPr>
            <a:r>
              <a:rPr kumimoji="1" lang="en-US" altLang="zh-CN" sz="2800">
                <a:ln w="12700">
                  <a:noFill/>
                </a:ln>
                <a:solidFill>
                  <a:srgbClr val="FFFFFF">
                    <a:alpha val="100000"/>
                  </a:srgbClr>
                </a:solidFill>
                <a:latin typeface="OPPOSans H"/>
                <a:ea typeface="OPPOSans H"/>
                <a:cs typeface="OPPOSans H"/>
              </a:rPr>
              <a:t>分阶段实施路线图详细规划</a:t>
            </a:r>
            <a:endParaRPr kumimoji="1" lang="zh-CN" altLang="en-US"/>
          </a:p>
        </p:txBody>
      </p:sp>
      <p:sp>
        <p:nvSpPr>
          <p:cNvPr id="39" name="标题 1"/>
          <p:cNvSpPr txBox="1"/>
          <p:nvPr/>
        </p:nvSpPr>
        <p:spPr>
          <a:xfrm>
            <a:off x="6494413" y="4711810"/>
            <a:ext cx="1949926" cy="1303709"/>
          </a:xfrm>
          <a:prstGeom prst="rect">
            <a:avLst/>
          </a:prstGeom>
          <a:noFill/>
          <a:ln cap="sq">
            <a:noFill/>
          </a:ln>
        </p:spPr>
        <p:txBody>
          <a:bodyPr vert="horz" wrap="square" lIns="0" tIns="0" rIns="0" bIns="0" rtlCol="0" anchor="t"/>
          <a:lstStyle/>
          <a:p>
            <a:pPr algn="ctr">
              <a:lnSpc>
                <a:spcPct val="110000"/>
              </a:lnSpc>
            </a:pPr>
            <a:r>
              <a:rPr kumimoji="1" lang="en-US" altLang="zh-CN" sz="2800">
                <a:ln w="12700">
                  <a:noFill/>
                </a:ln>
                <a:solidFill>
                  <a:srgbClr val="FFFFFF">
                    <a:alpha val="100000"/>
                  </a:srgbClr>
                </a:solidFill>
                <a:latin typeface="OPPOSans H"/>
                <a:ea typeface="OPPOSans H"/>
                <a:cs typeface="OPPOSans H"/>
              </a:rPr>
              <a:t>国内外政策效果对比与启示</a:t>
            </a:r>
            <a:endParaRPr kumimoji="1" lang="zh-CN" altLang="en-US"/>
          </a:p>
        </p:txBody>
      </p:sp>
      <p:sp>
        <p:nvSpPr>
          <p:cNvPr id="40" name="标题 1"/>
          <p:cNvSpPr txBox="1"/>
          <p:nvPr/>
        </p:nvSpPr>
        <p:spPr>
          <a:xfrm>
            <a:off x="9232032" y="4711810"/>
            <a:ext cx="1949926" cy="1303709"/>
          </a:xfrm>
          <a:prstGeom prst="rect">
            <a:avLst/>
          </a:prstGeom>
          <a:noFill/>
          <a:ln cap="sq">
            <a:noFill/>
          </a:ln>
        </p:spPr>
        <p:txBody>
          <a:bodyPr vert="horz" wrap="square" lIns="0" tIns="0" rIns="0" bIns="0" rtlCol="0" anchor="t"/>
          <a:lstStyle/>
          <a:p>
            <a:pPr algn="ctr">
              <a:lnSpc>
                <a:spcPct val="110000"/>
              </a:lnSpc>
            </a:pPr>
            <a:r>
              <a:rPr kumimoji="1" lang="en-US" altLang="zh-CN" sz="2800">
                <a:ln w="12700">
                  <a:noFill/>
                </a:ln>
                <a:solidFill>
                  <a:srgbClr val="FFFFFF">
                    <a:alpha val="100000"/>
                  </a:srgbClr>
                </a:solidFill>
                <a:latin typeface="OPPOSans H"/>
                <a:ea typeface="OPPOSans H"/>
                <a:cs typeface="OPPOSans H"/>
              </a:rPr>
              <a:t>核心挑战与政策建议</a:t>
            </a:r>
            <a:endParaRPr kumimoji="1"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a:stretch>
            <a:fillRect/>
          </a:stretch>
        </p:blipFill>
        <p:spPr>
          <a:xfrm>
            <a:off x="0" y="0"/>
            <a:ext cx="12192000" cy="6858000"/>
          </a:xfrm>
          <a:prstGeom prst="rect">
            <a:avLst/>
          </a:prstGeom>
          <a:noFill/>
          <a:ln>
            <a:noFill/>
          </a:ln>
        </p:spPr>
      </p:pic>
      <p:sp>
        <p:nvSpPr>
          <p:cNvPr id="3" name="标题 1"/>
          <p:cNvSpPr txBox="1"/>
          <p:nvPr/>
        </p:nvSpPr>
        <p:spPr>
          <a:xfrm>
            <a:off x="10973954" y="3790950"/>
            <a:ext cx="587664" cy="3057525"/>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336800" y="2768276"/>
            <a:ext cx="8169564" cy="2048037"/>
          </a:xfrm>
          <a:prstGeom prst="rect">
            <a:avLst/>
          </a:prstGeom>
          <a:noFill/>
          <a:ln>
            <a:noFill/>
          </a:ln>
        </p:spPr>
        <p:txBody>
          <a:bodyPr vert="horz" wrap="square" lIns="91440" tIns="45720" rIns="91440" bIns="45720" rtlCol="0" anchor="t"/>
          <a:lstStyle/>
          <a:p>
            <a:pPr algn="l">
              <a:lnSpc>
                <a:spcPct val="110000"/>
              </a:lnSpc>
            </a:pPr>
            <a:r>
              <a:rPr kumimoji="1" lang="en-US" altLang="zh-CN" sz="5500">
                <a:ln w="12700">
                  <a:noFill/>
                </a:ln>
                <a:solidFill>
                  <a:srgbClr val="000000">
                    <a:alpha val="100000"/>
                  </a:srgbClr>
                </a:solidFill>
                <a:latin typeface="OPPOSans R"/>
                <a:ea typeface="OPPOSans R"/>
                <a:cs typeface="OPPOSans R"/>
              </a:rPr>
              <a:t>政策工具分类与详细解析</a:t>
            </a:r>
            <a:endParaRPr kumimoji="1" lang="zh-CN" altLang="en-US"/>
          </a:p>
        </p:txBody>
      </p:sp>
      <p:sp>
        <p:nvSpPr>
          <p:cNvPr id="5"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6" name="标题 1"/>
          <p:cNvSpPr txBox="1"/>
          <p:nvPr/>
        </p:nvSpPr>
        <p:spPr>
          <a:xfrm>
            <a:off x="3420836" y="749301"/>
            <a:ext cx="3576864" cy="1695450"/>
          </a:xfrm>
          <a:prstGeom prst="rect">
            <a:avLst/>
          </a:prstGeom>
          <a:noFill/>
          <a:ln>
            <a:noFill/>
          </a:ln>
        </p:spPr>
        <p:txBody>
          <a:bodyPr vert="horz" wrap="square" lIns="91440" tIns="45720" rIns="91440" bIns="45720" rtlCol="0" anchor="b"/>
          <a:lstStyle/>
          <a:p>
            <a:pPr algn="r">
              <a:lnSpc>
                <a:spcPct val="90000"/>
              </a:lnSpc>
            </a:pPr>
            <a:r>
              <a:rPr kumimoji="1" lang="en-US" altLang="zh-CN" sz="9600">
                <a:ln w="12700">
                  <a:noFill/>
                </a:ln>
                <a:solidFill>
                  <a:srgbClr val="080808">
                    <a:alpha val="100000"/>
                  </a:srgbClr>
                </a:solidFill>
                <a:latin typeface="OPPOSans R"/>
                <a:ea typeface="OPPOSans R"/>
                <a:cs typeface="OPPOSans R"/>
              </a:rPr>
              <a:t>01</a:t>
            </a:r>
            <a:endParaRPr kumimoji="1" lang="zh-CN" altLang="en-US"/>
          </a:p>
        </p:txBody>
      </p:sp>
      <p:cxnSp>
        <p:nvCxnSpPr>
          <p:cNvPr id="7" name="标题 1"/>
          <p:cNvCxnSpPr/>
          <p:nvPr/>
        </p:nvCxnSpPr>
        <p:spPr>
          <a:xfrm>
            <a:off x="660400" y="5305425"/>
            <a:ext cx="9836150" cy="0"/>
          </a:xfrm>
          <a:prstGeom prst="line">
            <a:avLst/>
          </a:prstGeom>
          <a:noFill/>
          <a:ln w="5080" cap="sq">
            <a:solidFill>
              <a:schemeClr val="tx1"/>
            </a:solidFill>
            <a:miter/>
          </a:ln>
        </p:spPr>
      </p:cxnSp>
      <p:cxnSp>
        <p:nvCxnSpPr>
          <p:cNvPr id="8" name="标题 1"/>
          <p:cNvCxnSpPr/>
          <p:nvPr/>
        </p:nvCxnSpPr>
        <p:spPr>
          <a:xfrm>
            <a:off x="655411" y="5305425"/>
            <a:ext cx="1116239" cy="0"/>
          </a:xfrm>
          <a:prstGeom prst="line">
            <a:avLst/>
          </a:prstGeom>
          <a:noFill/>
          <a:ln w="50800" cap="sq">
            <a:solidFill>
              <a:schemeClr val="tx1"/>
            </a:solidFill>
            <a:miter/>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407035" y="116205"/>
            <a:ext cx="7175500" cy="676910"/>
          </a:xfrm>
          <a:prstGeom prst="rect">
            <a:avLst/>
          </a:prstGeom>
          <a:noFill/>
        </p:spPr>
        <p:txBody>
          <a:bodyPr vert="horz" wrap="square" lIns="0" tIns="0" rIns="0" bIns="0" rtlCol="0" anchor="ctr">
            <a:spAutoFit/>
          </a:bodyPr>
          <a:lstStyle/>
          <a:p>
            <a:pPr algn="l">
              <a:lnSpc>
                <a:spcPct val="110000"/>
              </a:lnSpc>
            </a:pPr>
            <a:r>
              <a:rPr kumimoji="1" lang="en-US" altLang="zh-CN" sz="4000">
                <a:ln w="12700">
                  <a:noFill/>
                </a:ln>
                <a:solidFill>
                  <a:srgbClr val="333333">
                    <a:alpha val="100000"/>
                  </a:srgbClr>
                </a:solidFill>
                <a:latin typeface="Source Han Sans CN Bold"/>
                <a:ea typeface="Source Han Sans CN Bold"/>
                <a:cs typeface="Source Han Sans CN Bold"/>
              </a:rPr>
              <a:t>研发驱动型工具</a:t>
            </a:r>
            <a:endParaRPr kumimoji="1" lang="en-US" altLang="zh-CN" sz="4000">
              <a:ln w="12700">
                <a:noFill/>
              </a:ln>
              <a:solidFill>
                <a:srgbClr val="333333">
                  <a:alpha val="100000"/>
                </a:srgbClr>
              </a:solidFill>
              <a:latin typeface="Source Han Sans CN Bold"/>
              <a:ea typeface="Source Han Sans CN Bold"/>
              <a:cs typeface="Source Han Sans CN Bold"/>
            </a:endParaRPr>
          </a:p>
        </p:txBody>
      </p:sp>
      <p:sp>
        <p:nvSpPr>
          <p:cNvPr id="4" name="标题 1"/>
          <p:cNvSpPr txBox="1"/>
          <p:nvPr/>
        </p:nvSpPr>
        <p:spPr>
          <a:xfrm>
            <a:off x="645160" y="3673475"/>
            <a:ext cx="5348605" cy="2641600"/>
          </a:xfrm>
          <a:prstGeom prst="rect">
            <a:avLst/>
          </a:prstGeom>
          <a:solidFill>
            <a:schemeClr val="bg1"/>
          </a:solidFill>
          <a:ln w="19050" cap="flat">
            <a:solidFill>
              <a:schemeClr val="bg1"/>
            </a:solidFill>
            <a:miter/>
          </a:ln>
          <a:effectLst>
            <a:outerShdw blurRad="381000" dist="190500" dir="5400000" sx="102000" sy="102000" algn="t" rotWithShape="0">
              <a:schemeClr val="accent1">
                <a:lumMod val="50000"/>
                <a:alpha val="10000"/>
              </a:schemeClr>
            </a:outerShdw>
          </a:effectLst>
        </p:spPr>
        <p:txBody>
          <a:bodyPr vert="horz" wrap="square" lIns="0" tIns="0" rIns="0" bIns="0" rtlCol="0" anchor="ctr"/>
          <a:lstStyle/>
          <a:p>
            <a:pPr algn="ctr">
              <a:lnSpc>
                <a:spcPct val="110000"/>
              </a:lnSpc>
            </a:pPr>
            <a:endParaRPr kumimoji="1" lang="zh-CN" altLang="en-US"/>
          </a:p>
        </p:txBody>
      </p:sp>
      <p:sp>
        <p:nvSpPr>
          <p:cNvPr id="6" name="标题 1"/>
          <p:cNvSpPr txBox="1"/>
          <p:nvPr/>
        </p:nvSpPr>
        <p:spPr>
          <a:xfrm>
            <a:off x="6297295" y="3627755"/>
            <a:ext cx="5142865" cy="2715895"/>
          </a:xfrm>
          <a:prstGeom prst="rect">
            <a:avLst/>
          </a:prstGeom>
          <a:solidFill>
            <a:schemeClr val="bg1"/>
          </a:solidFill>
          <a:ln w="19050" cap="flat">
            <a:solidFill>
              <a:schemeClr val="bg1"/>
            </a:solidFill>
            <a:miter/>
          </a:ln>
          <a:effectLst>
            <a:outerShdw blurRad="381000" dist="190500" dir="5400000" sx="102000" sy="102000" algn="t" rotWithShape="0">
              <a:schemeClr val="accent1">
                <a:lumMod val="50000"/>
                <a:alpha val="10000"/>
              </a:schemeClr>
            </a:outerShdw>
          </a:effectLst>
        </p:spPr>
        <p:txBody>
          <a:bodyPr vert="horz" wrap="square" lIns="0" tIns="0" rIns="0" bIns="0" rtlCol="0" anchor="ctr"/>
          <a:lstStyle/>
          <a:p>
            <a:pPr algn="ctr">
              <a:lnSpc>
                <a:spcPct val="110000"/>
              </a:lnSpc>
            </a:pPr>
            <a:endParaRPr kumimoji="1" lang="zh-CN" altLang="en-US"/>
          </a:p>
        </p:txBody>
      </p:sp>
      <p:sp>
        <p:nvSpPr>
          <p:cNvPr id="10" name="标题 1"/>
          <p:cNvSpPr txBox="1"/>
          <p:nvPr/>
        </p:nvSpPr>
        <p:spPr>
          <a:xfrm>
            <a:off x="911361" y="3720401"/>
            <a:ext cx="4004699" cy="382836"/>
          </a:xfrm>
          <a:prstGeom prst="rect">
            <a:avLst/>
          </a:prstGeom>
          <a:noFill/>
          <a:ln cap="sq">
            <a:noFill/>
          </a:ln>
          <a:effectLst/>
        </p:spPr>
        <p:txBody>
          <a:bodyPr vert="horz" wrap="square" lIns="64008" tIns="32004" rIns="64008" bIns="32004" rtlCol="0" anchor="ctr"/>
          <a:lstStyle/>
          <a:p>
            <a:pPr algn="l">
              <a:lnSpc>
                <a:spcPct val="110000"/>
              </a:lnSpc>
            </a:pPr>
            <a:r>
              <a:rPr kumimoji="1" lang="en-US" altLang="zh-CN" sz="1600">
                <a:ln w="12700">
                  <a:noFill/>
                </a:ln>
                <a:solidFill>
                  <a:srgbClr val="0129A7">
                    <a:alpha val="100000"/>
                  </a:srgbClr>
                </a:solidFill>
                <a:latin typeface="Source Han Sans CN Bold"/>
                <a:ea typeface="Source Han Sans CN Bold"/>
                <a:cs typeface="Source Han Sans CN Bold"/>
              </a:rPr>
              <a:t>靶点研发预警系统</a:t>
            </a:r>
            <a:endParaRPr kumimoji="1" lang="zh-CN" altLang="en-US"/>
          </a:p>
        </p:txBody>
      </p:sp>
      <p:sp>
        <p:nvSpPr>
          <p:cNvPr id="11" name="标题 1"/>
          <p:cNvSpPr txBox="1"/>
          <p:nvPr/>
        </p:nvSpPr>
        <p:spPr>
          <a:xfrm>
            <a:off x="911225" y="4171315"/>
            <a:ext cx="4765675" cy="1652905"/>
          </a:xfrm>
          <a:prstGeom prst="rect">
            <a:avLst/>
          </a:prstGeom>
          <a:noFill/>
          <a:ln cap="sq">
            <a:noFill/>
          </a:ln>
        </p:spPr>
        <p:txBody>
          <a:bodyPr vert="horz" wrap="square" lIns="38102" tIns="38102" rIns="38102" bIns="38102" rtlCol="0" anchor="t"/>
          <a:lstStyle/>
          <a:p>
            <a:pPr algn="l">
              <a:lnSpc>
                <a:spcPct val="150000"/>
              </a:lnSpc>
            </a:pPr>
            <a:r>
              <a:rPr kumimoji="1" lang="en-US" altLang="zh-CN" sz="900">
                <a:ln w="12700">
                  <a:noFill/>
                </a:ln>
                <a:solidFill>
                  <a:srgbClr val="0129A7">
                    <a:alpha val="100000"/>
                  </a:srgbClr>
                </a:solidFill>
                <a:latin typeface="Source Han Sans"/>
                <a:ea typeface="Source Han Sans"/>
                <a:cs typeface="Source Han Sans"/>
              </a:rPr>
              <a:t>通过大数据监测全球药物靶点研发动态，对过度重复的领域（如PD- 1/L1）实施申报限制，避免资源浪费。其理论基础源于市场失灵理论，即自由市场无法有效分配高风险研发资源，需政府干预以提高社会总福利。
中国实践：2023年国家药监局（NMPA）对PD- 1/L1靶点启动预警机制，要求新申报项目必须证明显著临床优势（如头对头临床试验设计）。
效果：同靶点申报数量下降35%（2023年数据）。资源转向新靶点（如Claudin 18.2、CD47等），2024年相关项目增长50%。
挑战：预警阈值设定需动态调整，避免误伤真正创新（如双抗药物可能被误判为同质化）。企业可能转向“数据包装”，通过调整试验设计规避监管。</a:t>
            </a:r>
            <a:endParaRPr kumimoji="1" lang="en-US" altLang="zh-CN" sz="900">
              <a:ln w="12700">
                <a:noFill/>
              </a:ln>
              <a:solidFill>
                <a:srgbClr val="0129A7">
                  <a:alpha val="100000"/>
                </a:srgbClr>
              </a:solidFill>
              <a:latin typeface="Source Han Sans"/>
              <a:ea typeface="Source Han Sans"/>
              <a:cs typeface="Source Han Sans"/>
            </a:endParaRPr>
          </a:p>
        </p:txBody>
      </p:sp>
      <p:sp>
        <p:nvSpPr>
          <p:cNvPr id="12" name="标题 1"/>
          <p:cNvSpPr txBox="1"/>
          <p:nvPr/>
        </p:nvSpPr>
        <p:spPr>
          <a:xfrm>
            <a:off x="6560820" y="4195445"/>
            <a:ext cx="4564380" cy="1652270"/>
          </a:xfrm>
          <a:prstGeom prst="rect">
            <a:avLst/>
          </a:prstGeom>
          <a:noFill/>
          <a:ln cap="sq">
            <a:noFill/>
          </a:ln>
        </p:spPr>
        <p:txBody>
          <a:bodyPr vert="horz" wrap="square" lIns="38102" tIns="38102" rIns="38102" bIns="38102" rtlCol="0" anchor="t"/>
          <a:lstStyle/>
          <a:p>
            <a:pPr algn="l">
              <a:lnSpc>
                <a:spcPct val="150000"/>
              </a:lnSpc>
            </a:pPr>
            <a:r>
              <a:rPr kumimoji="1" lang="en-US" altLang="zh-CN" sz="900">
                <a:ln w="12700">
                  <a:noFill/>
                </a:ln>
                <a:solidFill>
                  <a:srgbClr val="0129A7">
                    <a:alpha val="100000"/>
                  </a:srgbClr>
                </a:solidFill>
                <a:latin typeface="Source Han Sans"/>
                <a:ea typeface="Source Han Sans"/>
                <a:cs typeface="Source Han Sans"/>
              </a:rPr>
              <a:t>政府与企业按比例分担早期研发风险（通常政府承担50- 80%），降低企业试错成本。其理论依据为创新生态系统理论，强调公私合作对突破性技术的必要性。
美国BARDA：2020年资助Moderna的mRNA新冠，政府承担75%的早期风险，最终疫苗上市时间缩短至9个月（原需3- 5年）。
效果：高风险领域研发成功率提升至18%（行业平均10%）。吸引企业投入※※病、罕见病等低回报领域（BARDA支持的埃博拉※※※※项目增长40%）。
挑战：政府资金退出机制复杂（如销售分成比例争议）。可能引发企业依赖政府资助的道德风险。</a:t>
            </a:r>
            <a:endParaRPr kumimoji="1" lang="en-US" altLang="zh-CN" sz="900">
              <a:ln w="12700">
                <a:noFill/>
              </a:ln>
              <a:solidFill>
                <a:srgbClr val="0129A7">
                  <a:alpha val="100000"/>
                </a:srgbClr>
              </a:solidFill>
              <a:latin typeface="Source Han Sans"/>
              <a:ea typeface="Source Han Sans"/>
              <a:cs typeface="Source Han Sans"/>
            </a:endParaRPr>
          </a:p>
        </p:txBody>
      </p:sp>
      <p:sp>
        <p:nvSpPr>
          <p:cNvPr id="13" name="标题 1"/>
          <p:cNvSpPr txBox="1"/>
          <p:nvPr/>
        </p:nvSpPr>
        <p:spPr>
          <a:xfrm>
            <a:off x="6456246" y="3763581"/>
            <a:ext cx="4004699" cy="382836"/>
          </a:xfrm>
          <a:prstGeom prst="rect">
            <a:avLst/>
          </a:prstGeom>
          <a:noFill/>
          <a:ln cap="sq">
            <a:noFill/>
          </a:ln>
          <a:effectLst/>
        </p:spPr>
        <p:txBody>
          <a:bodyPr vert="horz" wrap="square" lIns="64008" tIns="32004" rIns="64008" bIns="32004" rtlCol="0" anchor="ctr"/>
          <a:lstStyle/>
          <a:p>
            <a:pPr algn="l">
              <a:lnSpc>
                <a:spcPct val="110000"/>
              </a:lnSpc>
            </a:pPr>
            <a:r>
              <a:rPr kumimoji="1" lang="en-US" altLang="zh-CN" sz="1600">
                <a:ln w="12700">
                  <a:noFill/>
                </a:ln>
                <a:solidFill>
                  <a:srgbClr val="0129A7">
                    <a:alpha val="100000"/>
                  </a:srgbClr>
                </a:solidFill>
                <a:latin typeface="Source Han Sans CN Bold"/>
                <a:ea typeface="Source Han Sans CN Bold"/>
                <a:cs typeface="Source Han Sans CN Bold"/>
              </a:rPr>
              <a:t>风险共担基金（如美国BARDA）</a:t>
            </a:r>
            <a:endParaRPr kumimoji="1" lang="zh-CN" altLang="en-US"/>
          </a:p>
        </p:txBody>
      </p:sp>
      <p:graphicFrame>
        <p:nvGraphicFramePr>
          <p:cNvPr id="14" name="表格 13"/>
          <p:cNvGraphicFramePr/>
          <p:nvPr>
            <p:custDataLst>
              <p:tags r:id="rId1"/>
            </p:custDataLst>
          </p:nvPr>
        </p:nvGraphicFramePr>
        <p:xfrm>
          <a:off x="562610" y="840105"/>
          <a:ext cx="11042015" cy="7283450"/>
        </p:xfrm>
        <a:graphic>
          <a:graphicData uri="http://schemas.openxmlformats.org/drawingml/2006/table">
            <a:tbl>
              <a:tblPr/>
              <a:tblGrid>
                <a:gridCol w="1024890"/>
                <a:gridCol w="2828925"/>
                <a:gridCol w="2353945"/>
                <a:gridCol w="2616200"/>
                <a:gridCol w="2218055"/>
              </a:tblGrid>
              <a:tr h="603250">
                <a:tc>
                  <a:txBody>
                    <a:bodyPr/>
                    <a:p>
                      <a:pPr marL="0" indent="0" algn="l"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工具类型</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a:latin typeface="华文宋体" panose="02010600040101010101" charset="-122"/>
                          <a:ea typeface="华文宋体" panose="02010600040101010101" charset="-122"/>
                        </a:rPr>
                        <a:t>定义与理论依据</a:t>
                      </a:r>
                      <a:endParaRPr lang="zh-CN" altLang="en-US" sz="1400" b="1">
                        <a:latin typeface="华文宋体" panose="02010600040101010101" charset="-122"/>
                        <a:ea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典型案例</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实施效果</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挑战与问题</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r>
              <a:tr h="1883410">
                <a:tc>
                  <a:txBody>
                    <a:bodyPr/>
                    <a:p>
                      <a:pPr marL="0" indent="0" algn="l" fontAlgn="ctr">
                        <a:spcBef>
                          <a:spcPct val="0"/>
                        </a:spcBef>
                        <a:spcAft>
                          <a:spcPct val="0"/>
                        </a:spcAft>
                      </a:pPr>
                      <a:r>
                        <a:rPr lang="en-US" altLang="zh-CN" sz="1400">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研发驱动型工具</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lang="en-US" altLang="zh-CN" sz="1400">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定义</a:t>
                      </a:r>
                      <a:r>
                        <a:rPr lang="zh-CN" altLang="en-US" sz="1400">
                          <a:latin typeface="华文宋体" panose="02010600040101010101" charset="-122"/>
                          <a:ea typeface="华文宋体" panose="02010600040101010101" charset="-122"/>
                          <a:cs typeface="华文宋体" panose="02010600040101010101" charset="-122"/>
                        </a:rPr>
                        <a:t>：通过资金支持、风险分担直接促进技术突破。</a:t>
                      </a:r>
                      <a:br>
                        <a:rPr lang="zh-CN" altLang="en-US" sz="1400">
                          <a:latin typeface="华文宋体" panose="02010600040101010101" charset="-122"/>
                          <a:ea typeface="华文宋体" panose="02010600040101010101" charset="-122"/>
                          <a:cs typeface="华文宋体" panose="02010600040101010101" charset="-122"/>
                        </a:rPr>
                      </a:br>
                      <a:r>
                        <a:rPr lang="zh-CN" altLang="en-US" sz="1400" b="1">
                          <a:latin typeface="华文宋体" panose="02010600040101010101" charset="-122"/>
                          <a:ea typeface="华文宋体" panose="02010600040101010101" charset="-122"/>
                          <a:cs typeface="华文宋体" panose="02010600040101010101" charset="-122"/>
                        </a:rPr>
                        <a:t>理论</a:t>
                      </a:r>
                      <a:r>
                        <a:rPr lang="zh-CN" altLang="en-US" sz="1400">
                          <a:latin typeface="华文宋体" panose="02010600040101010101" charset="-122"/>
                          <a:ea typeface="华文宋体" panose="02010600040101010101" charset="-122"/>
                          <a:cs typeface="华文宋体" panose="02010600040101010101" charset="-122"/>
                        </a:rPr>
                        <a:t>：市场失灵理论（</a:t>
                      </a:r>
                      <a:r>
                        <a:rPr lang="en-US" altLang="zh-CN" sz="1400">
                          <a:latin typeface="华文宋体" panose="02010600040101010101" charset="-122"/>
                          <a:ea typeface="华文宋体" panose="02010600040101010101" charset="-122"/>
                          <a:cs typeface="华文宋体" panose="02010600040101010101" charset="-122"/>
                        </a:rPr>
                        <a:t>Arrow,1962</a:t>
                      </a:r>
                      <a:r>
                        <a:rPr lang="zh-CN" altLang="en-US" sz="1400">
                          <a:latin typeface="华文宋体" panose="02010600040101010101" charset="-122"/>
                          <a:ea typeface="华文宋体" panose="02010600040101010101" charset="-122"/>
                          <a:cs typeface="华文宋体" panose="02010600040101010101" charset="-122"/>
                        </a:rPr>
                        <a:t>），政府需干预高风险领域。</a:t>
                      </a:r>
                      <a:endParaRPr lang="zh-CN" altLang="en-US"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lang="en-US" altLang="zh-CN" sz="1400">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中国靶点研发预警系统</a:t>
                      </a:r>
                      <a:r>
                        <a:rPr lang="zh-CN" altLang="en-US" sz="1400">
                          <a:latin typeface="华文宋体" panose="02010600040101010101" charset="-122"/>
                          <a:ea typeface="华文宋体" panose="02010600040101010101" charset="-122"/>
                          <a:cs typeface="华文宋体" panose="02010600040101010101" charset="-122"/>
                        </a:rPr>
                        <a:t>：监测</a:t>
                      </a:r>
                      <a:r>
                        <a:rPr lang="en-US" altLang="zh-CN" sz="1400">
                          <a:latin typeface="华文宋体" panose="02010600040101010101" charset="-122"/>
                          <a:ea typeface="华文宋体" panose="02010600040101010101" charset="-122"/>
                          <a:cs typeface="华文宋体" panose="02010600040101010101" charset="-122"/>
                        </a:rPr>
                        <a:t>PD-1/L1</a:t>
                      </a:r>
                      <a:r>
                        <a:rPr lang="zh-CN" altLang="en-US" sz="1400">
                          <a:latin typeface="华文宋体" panose="02010600040101010101" charset="-122"/>
                          <a:ea typeface="华文宋体" panose="02010600040101010101" charset="-122"/>
                          <a:cs typeface="华文宋体" panose="02010600040101010101" charset="-122"/>
                        </a:rPr>
                        <a:t>等热门靶点，限制重复申报。</a:t>
                      </a:r>
                      <a:br>
                        <a:rPr lang="zh-CN" altLang="en-US" sz="1400">
                          <a:latin typeface="华文宋体" panose="02010600040101010101" charset="-122"/>
                          <a:ea typeface="华文宋体" panose="02010600040101010101" charset="-122"/>
                          <a:cs typeface="华文宋体" panose="02010600040101010101" charset="-122"/>
                        </a:rPr>
                      </a:br>
                      <a:r>
                        <a:rPr lang="zh-CN" altLang="en-US" sz="1400" b="1">
                          <a:latin typeface="华文宋体" panose="02010600040101010101" charset="-122"/>
                          <a:ea typeface="华文宋体" panose="02010600040101010101" charset="-122"/>
                          <a:cs typeface="华文宋体" panose="02010600040101010101" charset="-122"/>
                        </a:rPr>
                        <a:t>美国</a:t>
                      </a:r>
                      <a:r>
                        <a:rPr lang="en-US" altLang="zh-CN" sz="1400" b="1">
                          <a:latin typeface="华文宋体" panose="02010600040101010101" charset="-122"/>
                          <a:ea typeface="华文宋体" panose="02010600040101010101" charset="-122"/>
                          <a:cs typeface="华文宋体" panose="02010600040101010101" charset="-122"/>
                        </a:rPr>
                        <a:t>BARDA</a:t>
                      </a:r>
                      <a:r>
                        <a:rPr lang="zh-CN" altLang="en-US" sz="1400" b="1">
                          <a:latin typeface="华文宋体" panose="02010600040101010101" charset="-122"/>
                          <a:ea typeface="华文宋体" panose="02010600040101010101" charset="-122"/>
                          <a:cs typeface="华文宋体" panose="02010600040101010101" charset="-122"/>
                        </a:rPr>
                        <a:t>基金</a:t>
                      </a:r>
                      <a:r>
                        <a:rPr lang="zh-CN" altLang="en-US" sz="1400">
                          <a:latin typeface="华文宋体" panose="02010600040101010101" charset="-122"/>
                          <a:ea typeface="华文宋体" panose="02010600040101010101" charset="-122"/>
                          <a:cs typeface="华文宋体" panose="02010600040101010101" charset="-122"/>
                        </a:rPr>
                        <a:t>：政府与企业共担早期研发风险。</a:t>
                      </a:r>
                      <a:endParaRPr lang="zh-CN" altLang="en-US"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lang="en-US" altLang="zh-CN" sz="1400">
                          <a:latin typeface="华文宋体" panose="02010600040101010101" charset="-122"/>
                          <a:ea typeface="华文宋体" panose="02010600040101010101" charset="-122"/>
                          <a:cs typeface="华文宋体" panose="02010600040101010101" charset="-122"/>
                        </a:rPr>
                        <a:t>-</a:t>
                      </a:r>
                      <a:r>
                        <a:rPr lang="zh-CN" altLang="en-US" sz="1400">
                          <a:latin typeface="华文宋体" panose="02010600040101010101" charset="-122"/>
                          <a:ea typeface="华文宋体" panose="02010600040101010101" charset="-122"/>
                          <a:cs typeface="华文宋体" panose="02010600040101010101" charset="-122"/>
                        </a:rPr>
                        <a:t>中国</a:t>
                      </a:r>
                      <a:r>
                        <a:rPr lang="en-US" altLang="zh-CN" sz="1400">
                          <a:latin typeface="华文宋体" panose="02010600040101010101" charset="-122"/>
                          <a:ea typeface="华文宋体" panose="02010600040101010101" charset="-122"/>
                          <a:cs typeface="华文宋体" panose="02010600040101010101" charset="-122"/>
                        </a:rPr>
                        <a:t>PD-1</a:t>
                      </a:r>
                      <a:r>
                        <a:rPr lang="zh-CN" altLang="en-US" sz="1400">
                          <a:latin typeface="华文宋体" panose="02010600040101010101" charset="-122"/>
                          <a:ea typeface="华文宋体" panose="02010600040101010101" charset="-122"/>
                          <a:cs typeface="华文宋体" panose="02010600040101010101" charset="-122"/>
                        </a:rPr>
                        <a:t>项目减少</a:t>
                      </a:r>
                      <a:r>
                        <a:rPr lang="en-US" altLang="zh-CN" sz="1400">
                          <a:latin typeface="华文宋体" panose="02010600040101010101" charset="-122"/>
                          <a:ea typeface="华文宋体" panose="02010600040101010101" charset="-122"/>
                          <a:cs typeface="华文宋体" panose="02010600040101010101" charset="-122"/>
                        </a:rPr>
                        <a:t>35%</a:t>
                      </a:r>
                      <a:r>
                        <a:rPr lang="zh-CN" altLang="en-US" sz="1400">
                          <a:latin typeface="华文宋体" panose="02010600040101010101" charset="-122"/>
                          <a:ea typeface="华文宋体" panose="02010600040101010101" charset="-122"/>
                          <a:cs typeface="华文宋体" panose="02010600040101010101" charset="-122"/>
                        </a:rPr>
                        <a:t>（</a:t>
                      </a:r>
                      <a:r>
                        <a:rPr lang="en-US" altLang="zh-CN" sz="1400">
                          <a:latin typeface="华文宋体" panose="02010600040101010101" charset="-122"/>
                          <a:ea typeface="华文宋体" panose="02010600040101010101" charset="-122"/>
                          <a:cs typeface="华文宋体" panose="02010600040101010101" charset="-122"/>
                        </a:rPr>
                        <a:t>2023</a:t>
                      </a:r>
                      <a:r>
                        <a:rPr lang="zh-CN" altLang="en-US" sz="1400">
                          <a:latin typeface="华文宋体" panose="02010600040101010101" charset="-122"/>
                          <a:ea typeface="华文宋体" panose="02010600040101010101" charset="-122"/>
                          <a:cs typeface="华文宋体" panose="02010600040101010101" charset="-122"/>
                        </a:rPr>
                        <a:t>）</a:t>
                      </a:r>
                      <a:br>
                        <a:rPr lang="zh-CN" altLang="en-US" sz="1400">
                          <a:latin typeface="华文宋体" panose="02010600040101010101" charset="-122"/>
                          <a:ea typeface="华文宋体" panose="02010600040101010101" charset="-122"/>
                          <a:cs typeface="华文宋体" panose="02010600040101010101" charset="-122"/>
                        </a:rPr>
                      </a:br>
                      <a:r>
                        <a:rPr lang="en-US" altLang="zh-CN" sz="1400">
                          <a:latin typeface="华文宋体" panose="02010600040101010101" charset="-122"/>
                          <a:ea typeface="华文宋体" panose="02010600040101010101" charset="-122"/>
                          <a:cs typeface="华文宋体" panose="02010600040101010101" charset="-122"/>
                        </a:rPr>
                        <a:t>-Moderna</a:t>
                      </a:r>
                      <a:r>
                        <a:rPr lang="zh-CN" altLang="en-US" sz="1400">
                          <a:latin typeface="华文宋体" panose="02010600040101010101" charset="-122"/>
                          <a:ea typeface="华文宋体" panose="02010600040101010101" charset="-122"/>
                          <a:cs typeface="华文宋体" panose="02010600040101010101" charset="-122"/>
                        </a:rPr>
                        <a:t>新冠疫苗研发周期缩短至</a:t>
                      </a:r>
                      <a:r>
                        <a:rPr lang="en-US" altLang="zh-CN" sz="1400">
                          <a:latin typeface="华文宋体" panose="02010600040101010101" charset="-122"/>
                          <a:ea typeface="华文宋体" panose="02010600040101010101" charset="-122"/>
                          <a:cs typeface="华文宋体" panose="02010600040101010101" charset="-122"/>
                        </a:rPr>
                        <a:t>9</a:t>
                      </a:r>
                      <a:r>
                        <a:rPr lang="zh-CN" altLang="en-US" sz="1400">
                          <a:latin typeface="华文宋体" panose="02010600040101010101" charset="-122"/>
                          <a:ea typeface="华文宋体" panose="02010600040101010101" charset="-122"/>
                          <a:cs typeface="华文宋体" panose="02010600040101010101" charset="-122"/>
                        </a:rPr>
                        <a:t>个月（</a:t>
                      </a:r>
                      <a:r>
                        <a:rPr lang="en-US" altLang="zh-CN" sz="1400">
                          <a:latin typeface="华文宋体" panose="02010600040101010101" charset="-122"/>
                          <a:ea typeface="华文宋体" panose="02010600040101010101" charset="-122"/>
                          <a:cs typeface="华文宋体" panose="02010600040101010101" charset="-122"/>
                        </a:rPr>
                        <a:t>FDA,2021</a:t>
                      </a:r>
                      <a:r>
                        <a:rPr lang="zh-CN" altLang="en-US" sz="1400">
                          <a:latin typeface="华文宋体" panose="02010600040101010101" charset="-122"/>
                          <a:ea typeface="华文宋体" panose="02010600040101010101" charset="-122"/>
                          <a:cs typeface="华文宋体" panose="02010600040101010101" charset="-122"/>
                        </a:rPr>
                        <a:t>）</a:t>
                      </a:r>
                      <a:endParaRPr lang="zh-CN" altLang="en-US"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lang="en-US" altLang="zh-CN" sz="1400">
                          <a:latin typeface="华文宋体" panose="02010600040101010101" charset="-122"/>
                          <a:ea typeface="华文宋体" panose="02010600040101010101" charset="-122"/>
                          <a:cs typeface="华文宋体" panose="02010600040101010101" charset="-122"/>
                        </a:rPr>
                        <a:t>-</a:t>
                      </a:r>
                      <a:r>
                        <a:rPr lang="zh-CN" altLang="en-US" sz="1400">
                          <a:latin typeface="华文宋体" panose="02010600040101010101" charset="-122"/>
                          <a:ea typeface="华文宋体" panose="02010600040101010101" charset="-122"/>
                          <a:cs typeface="华文宋体" panose="02010600040101010101" charset="-122"/>
                        </a:rPr>
                        <a:t>高风险靶点研发停滞（如双抗药物）</a:t>
                      </a:r>
                      <a:br>
                        <a:rPr lang="zh-CN" altLang="en-US" sz="1400">
                          <a:latin typeface="华文宋体" panose="02010600040101010101" charset="-122"/>
                          <a:ea typeface="华文宋体" panose="02010600040101010101" charset="-122"/>
                          <a:cs typeface="华文宋体" panose="02010600040101010101" charset="-122"/>
                        </a:rPr>
                      </a:br>
                      <a:r>
                        <a:rPr lang="en-US" altLang="zh-CN" sz="1400">
                          <a:latin typeface="华文宋体" panose="02010600040101010101" charset="-122"/>
                          <a:ea typeface="华文宋体" panose="02010600040101010101" charset="-122"/>
                          <a:cs typeface="华文宋体" panose="02010600040101010101" charset="-122"/>
                        </a:rPr>
                        <a:t>-</a:t>
                      </a:r>
                      <a:r>
                        <a:rPr lang="zh-CN" altLang="en-US" sz="1400">
                          <a:latin typeface="华文宋体" panose="02010600040101010101" charset="-122"/>
                          <a:ea typeface="华文宋体" panose="02010600040101010101" charset="-122"/>
                          <a:cs typeface="华文宋体" panose="02010600040101010101" charset="-122"/>
                        </a:rPr>
                        <a:t>政府资金退出机制不完善（如</a:t>
                      </a:r>
                      <a:r>
                        <a:rPr lang="en-US" altLang="zh-CN" sz="1400">
                          <a:latin typeface="华文宋体" panose="02010600040101010101" charset="-122"/>
                          <a:ea typeface="华文宋体" panose="02010600040101010101" charset="-122"/>
                          <a:cs typeface="华文宋体" panose="02010600040101010101" charset="-122"/>
                        </a:rPr>
                        <a:t>BARDA</a:t>
                      </a:r>
                      <a:r>
                        <a:rPr lang="zh-CN" altLang="en-US" sz="1400">
                          <a:latin typeface="华文宋体" panose="02010600040101010101" charset="-122"/>
                          <a:ea typeface="华文宋体" panose="02010600040101010101" charset="-122"/>
                          <a:cs typeface="华文宋体" panose="02010600040101010101" charset="-122"/>
                        </a:rPr>
                        <a:t>销售分成争议）</a:t>
                      </a:r>
                      <a:endParaRPr lang="zh-CN" altLang="en-US"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96850" y="266700"/>
            <a:ext cx="7175500" cy="673100"/>
          </a:xfrm>
          <a:prstGeom prst="rect">
            <a:avLst/>
          </a:prstGeom>
          <a:noFill/>
        </p:spPr>
        <p:txBody>
          <a:bodyPr vert="horz" wrap="square" lIns="0" tIns="0" rIns="0" bIns="0" rtlCol="0" anchor="ctr">
            <a:spAutoFit/>
          </a:bodyPr>
          <a:lstStyle/>
          <a:p>
            <a:pPr algn="l">
              <a:lnSpc>
                <a:spcPct val="110000"/>
              </a:lnSpc>
            </a:pPr>
            <a:r>
              <a:rPr kumimoji="1" lang="en-US" altLang="zh-CN" sz="4800">
                <a:ln w="12700">
                  <a:noFill/>
                </a:ln>
                <a:solidFill>
                  <a:srgbClr val="333333">
                    <a:alpha val="100000"/>
                  </a:srgbClr>
                </a:solidFill>
                <a:latin typeface="Source Han Sans CN Bold"/>
                <a:ea typeface="Source Han Sans CN Bold"/>
                <a:cs typeface="Source Han Sans CN Bold"/>
              </a:rPr>
              <a:t>市场激活型工具</a:t>
            </a:r>
            <a:endParaRPr kumimoji="1" lang="zh-CN" altLang="en-US"/>
          </a:p>
        </p:txBody>
      </p:sp>
      <p:grpSp>
        <p:nvGrpSpPr>
          <p:cNvPr id="12" name="组合 11"/>
          <p:cNvGrpSpPr/>
          <p:nvPr/>
        </p:nvGrpSpPr>
        <p:grpSpPr>
          <a:xfrm>
            <a:off x="5951855" y="3863340"/>
            <a:ext cx="5262245" cy="2740660"/>
            <a:chOff x="13105" y="5118"/>
            <a:chExt cx="5896" cy="5441"/>
          </a:xfrm>
        </p:grpSpPr>
        <p:sp>
          <p:nvSpPr>
            <p:cNvPr id="2" name="标题 1"/>
            <p:cNvSpPr txBox="1"/>
            <p:nvPr/>
          </p:nvSpPr>
          <p:spPr>
            <a:xfrm>
              <a:off x="13949" y="10140"/>
              <a:ext cx="4191" cy="34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4" name="标题 1"/>
            <p:cNvSpPr txBox="1"/>
            <p:nvPr/>
          </p:nvSpPr>
          <p:spPr>
            <a:xfrm>
              <a:off x="13105" y="5173"/>
              <a:ext cx="5896" cy="5386"/>
            </a:xfrm>
            <a:prstGeom prst="rect">
              <a:avLst/>
            </a:prstGeom>
            <a:solidFill>
              <a:schemeClr val="bg1">
                <a:lumMod val="95000"/>
              </a:schemeClr>
            </a:solidFill>
            <a:ln w="12700" cap="sq">
              <a:solidFill>
                <a:schemeClr val="bg1">
                  <a:lumMod val="95000"/>
                </a:schemeClr>
              </a:solidFill>
              <a:miter/>
            </a:ln>
            <a:effectLst/>
          </p:spPr>
          <p:txBody>
            <a:bodyPr vert="horz" wrap="square" lIns="0" tIns="0" rIns="0" bIns="0" rtlCol="0" anchor="t"/>
            <a:lstStyle/>
            <a:p>
              <a:pPr algn="just">
                <a:lnSpc>
                  <a:spcPct val="110000"/>
                </a:lnSpc>
              </a:pPr>
              <a:endParaRPr kumimoji="1" lang="zh-CN" altLang="en-US"/>
            </a:p>
          </p:txBody>
        </p:sp>
        <p:sp>
          <p:nvSpPr>
            <p:cNvPr id="5" name="标题 1"/>
            <p:cNvSpPr txBox="1"/>
            <p:nvPr/>
          </p:nvSpPr>
          <p:spPr>
            <a:xfrm>
              <a:off x="13501" y="5118"/>
              <a:ext cx="5102" cy="1134"/>
            </a:xfrm>
            <a:prstGeom prst="rect">
              <a:avLst/>
            </a:prstGeom>
            <a:noFill/>
            <a:ln>
              <a:noFill/>
            </a:ln>
            <a:effectLst/>
          </p:spPr>
          <p:txBody>
            <a:bodyPr vert="horz" wrap="square" lIns="0" tIns="0" rIns="0" bIns="0" rtlCol="0" anchor="b"/>
            <a:lstStyle/>
            <a:p>
              <a:pPr algn="l">
                <a:lnSpc>
                  <a:spcPct val="130000"/>
                </a:lnSpc>
              </a:pPr>
              <a:r>
                <a:rPr kumimoji="1" lang="en-US" altLang="zh-CN">
                  <a:ln w="12700">
                    <a:noFill/>
                  </a:ln>
                  <a:solidFill>
                    <a:srgbClr val="0236DE">
                      <a:alpha val="100000"/>
                    </a:srgbClr>
                  </a:solidFill>
                  <a:latin typeface="Source Han Sans CN Bold"/>
                  <a:ea typeface="Source Han Sans CN Bold"/>
                  <a:cs typeface="Source Han Sans CN Bold"/>
                  <a:sym typeface="+mn-ea"/>
                </a:rPr>
                <a:t>疗效挂钩支付（PBRSAs）</a:t>
              </a:r>
              <a:endParaRPr kumimoji="1" lang="zh-CN" altLang="en-US"/>
            </a:p>
          </p:txBody>
        </p:sp>
        <p:sp>
          <p:nvSpPr>
            <p:cNvPr id="6" name="标题 1"/>
            <p:cNvSpPr txBox="1"/>
            <p:nvPr/>
          </p:nvSpPr>
          <p:spPr>
            <a:xfrm>
              <a:off x="13502" y="6679"/>
              <a:ext cx="5102" cy="3402"/>
            </a:xfrm>
            <a:prstGeom prst="rect">
              <a:avLst/>
            </a:prstGeom>
            <a:noFill/>
            <a:ln>
              <a:noFill/>
            </a:ln>
            <a:effectLst/>
          </p:spPr>
          <p:txBody>
            <a:bodyPr vert="horz" wrap="square" lIns="0" tIns="0" rIns="0" bIns="0" rtlCol="0" anchor="t"/>
            <a:lstStyle/>
            <a:p>
              <a:pPr algn="l">
                <a:lnSpc>
                  <a:spcPct val="150000"/>
                </a:lnSpc>
              </a:pPr>
              <a:r>
                <a:rPr kumimoji="1" lang="en-US" altLang="zh-CN" sz="965">
                  <a:ln w="12700">
                    <a:noFill/>
                  </a:ln>
                  <a:solidFill>
                    <a:srgbClr val="262626">
                      <a:alpha val="100000"/>
                    </a:srgbClr>
                  </a:solidFill>
                  <a:latin typeface="Source Han Sans"/>
                  <a:ea typeface="Source Han Sans"/>
                  <a:cs typeface="Source Han Sans"/>
                </a:rPr>
                <a:t>根据药物实际疗效分阶段支付费用（如“完全缓解后付费”），将支付方风险从预付制转向结果导向制。其核心理论为价值医疗理论，即支付应对应真实临床获益。
意大利CAR- T案例：诺华的Kymriah采用“完全缓解后付费”模式，2023年销售额提升40%，但医保支出仅增长15%。
效果：支付效率提升：无效药物支出减少30%（OECD, 2022）。企业更关注长期疗效：后续随访数据完整率从60%提升至85%。
挑战：疗效标准易被操纵（如选择易达成的替代终点）。数据追踪成本高（需建立全国性电子病历系统）。</a:t>
              </a:r>
              <a:endParaRPr kumimoji="1" lang="zh-CN" altLang="en-US"/>
            </a:p>
          </p:txBody>
        </p:sp>
      </p:grpSp>
      <p:grpSp>
        <p:nvGrpSpPr>
          <p:cNvPr id="13" name="组合 12"/>
          <p:cNvGrpSpPr/>
          <p:nvPr/>
        </p:nvGrpSpPr>
        <p:grpSpPr>
          <a:xfrm>
            <a:off x="1116087" y="3788913"/>
            <a:ext cx="4299631" cy="2819488"/>
            <a:chOff x="414" y="5018"/>
            <a:chExt cx="5896" cy="5541"/>
          </a:xfrm>
        </p:grpSpPr>
        <p:sp>
          <p:nvSpPr>
            <p:cNvPr id="7" name="标题 1"/>
            <p:cNvSpPr txBox="1"/>
            <p:nvPr/>
          </p:nvSpPr>
          <p:spPr>
            <a:xfrm>
              <a:off x="414" y="5173"/>
              <a:ext cx="5896" cy="5386"/>
            </a:xfrm>
            <a:prstGeom prst="rect">
              <a:avLst/>
            </a:prstGeom>
            <a:solidFill>
              <a:schemeClr val="bg1"/>
            </a:solidFill>
            <a:ln w="12700" cap="sq">
              <a:solidFill>
                <a:schemeClr val="bg1"/>
              </a:solidFill>
              <a:miter/>
            </a:ln>
            <a:effectLst>
              <a:outerShdw blurRad="381000" dist="127000" dir="5400000" sx="102000" sy="102000" algn="t" rotWithShape="0">
                <a:schemeClr val="accent1">
                  <a:lumMod val="40000"/>
                  <a:lumOff val="60000"/>
                  <a:alpha val="15000"/>
                </a:schemeClr>
              </a:outerShdw>
            </a:effectLst>
          </p:spPr>
          <p:txBody>
            <a:bodyPr vert="horz" wrap="square" lIns="0" tIns="0" rIns="0" bIns="0" rtlCol="0" anchor="t"/>
            <a:lstStyle/>
            <a:p>
              <a:pPr algn="just">
                <a:lnSpc>
                  <a:spcPct val="110000"/>
                </a:lnSpc>
              </a:pPr>
              <a:endParaRPr kumimoji="1" lang="zh-CN" altLang="en-US"/>
            </a:p>
          </p:txBody>
        </p:sp>
        <p:sp>
          <p:nvSpPr>
            <p:cNvPr id="8" name="标题 1"/>
            <p:cNvSpPr txBox="1"/>
            <p:nvPr/>
          </p:nvSpPr>
          <p:spPr>
            <a:xfrm>
              <a:off x="414" y="5173"/>
              <a:ext cx="5896" cy="113"/>
            </a:xfrm>
            <a:prstGeom prst="rect">
              <a:avLst/>
            </a:prstGeom>
            <a:solidFill>
              <a:schemeClr val="accent1"/>
            </a:solidFill>
            <a:ln cap="sq">
              <a:noFill/>
              <a:prstDash val="solid"/>
              <a:miter/>
            </a:ln>
            <a:effectLst/>
          </p:spPr>
          <p:txBody>
            <a:bodyPr vert="horz" wrap="square" lIns="274320" tIns="0" rIns="182880" bIns="274320" rtlCol="0" anchor="b"/>
            <a:lstStyle/>
            <a:p>
              <a:pPr algn="l">
                <a:lnSpc>
                  <a:spcPct val="130000"/>
                </a:lnSpc>
              </a:pPr>
              <a:endParaRPr kumimoji="1" lang="zh-CN" altLang="en-US"/>
            </a:p>
          </p:txBody>
        </p:sp>
        <p:grpSp>
          <p:nvGrpSpPr>
            <p:cNvPr id="11" name="组合 10"/>
            <p:cNvGrpSpPr/>
            <p:nvPr/>
          </p:nvGrpSpPr>
          <p:grpSpPr>
            <a:xfrm>
              <a:off x="627" y="5018"/>
              <a:ext cx="5200" cy="4817"/>
              <a:chOff x="627" y="5018"/>
              <a:chExt cx="5200" cy="4817"/>
            </a:xfrm>
          </p:grpSpPr>
          <p:sp>
            <p:nvSpPr>
              <p:cNvPr id="9" name="标题 1"/>
              <p:cNvSpPr txBox="1"/>
              <p:nvPr/>
            </p:nvSpPr>
            <p:spPr>
              <a:xfrm>
                <a:off x="725" y="5018"/>
                <a:ext cx="5102" cy="1134"/>
              </a:xfrm>
              <a:prstGeom prst="rect">
                <a:avLst/>
              </a:prstGeom>
              <a:noFill/>
              <a:ln>
                <a:noFill/>
              </a:ln>
            </p:spPr>
            <p:txBody>
              <a:bodyPr vert="horz" wrap="square" lIns="0" tIns="0" rIns="0" bIns="0" rtlCol="0" anchor="b"/>
              <a:lstStyle/>
              <a:p>
                <a:pPr algn="l">
                  <a:lnSpc>
                    <a:spcPct val="130000"/>
                  </a:lnSpc>
                </a:pPr>
                <a:r>
                  <a:rPr kumimoji="1" lang="en-US" altLang="zh-CN">
                    <a:ln w="12700">
                      <a:noFill/>
                    </a:ln>
                    <a:solidFill>
                      <a:srgbClr val="262626">
                        <a:alpha val="100000"/>
                      </a:srgbClr>
                    </a:solidFill>
                    <a:latin typeface="Source Han Sans CN Bold"/>
                    <a:ea typeface="Source Han Sans CN Bold"/>
                    <a:cs typeface="Source Han Sans CN Bold"/>
                    <a:sym typeface="+mn-ea"/>
                  </a:rPr>
                  <a:t>全球价格保密协议</a:t>
                </a:r>
                <a:endParaRPr kumimoji="1" lang="zh-CN" altLang="en-US"/>
              </a:p>
            </p:txBody>
          </p:sp>
          <p:sp>
            <p:nvSpPr>
              <p:cNvPr id="10" name="标题 1"/>
              <p:cNvSpPr txBox="1"/>
              <p:nvPr/>
            </p:nvSpPr>
            <p:spPr>
              <a:xfrm>
                <a:off x="627" y="6433"/>
                <a:ext cx="5102" cy="3402"/>
              </a:xfrm>
              <a:prstGeom prst="rect">
                <a:avLst/>
              </a:prstGeom>
              <a:noFill/>
              <a:ln>
                <a:noFill/>
              </a:ln>
            </p:spPr>
            <p:txBody>
              <a:bodyPr vert="horz" wrap="square" lIns="0" tIns="0" rIns="0" bIns="0" rtlCol="0" anchor="t"/>
              <a:lstStyle/>
              <a:p>
                <a:pPr algn="l">
                  <a:lnSpc>
                    <a:spcPct val="150000"/>
                  </a:lnSpc>
                </a:pPr>
                <a:r>
                  <a:rPr kumimoji="1" lang="en-US" altLang="zh-CN" sz="965">
                    <a:ln w="12700">
                      <a:noFill/>
                    </a:ln>
                    <a:solidFill>
                      <a:srgbClr val="262626">
                        <a:alpha val="100000"/>
                      </a:srgbClr>
                    </a:solidFill>
                    <a:latin typeface="Source Han Sans"/>
                    <a:ea typeface="Source Han Sans"/>
                    <a:cs typeface="Source Han Sans"/>
                  </a:rPr>
                  <a:t>允许企业对不同国家市场采取差异定价且不公开具体价格，以保护议价能力。其理论依据为三级价格歧视，即通过市场分割实现社会福利最大化。
中国PD- 1案例：信达生物的信迪利单抗对东南亚国家实施价格保密，2024年海外授权单价较公开市场提高20%。
效果：跨境交易额从2020年的50亿美元增至2024年的350亿美元。企业国际议价能力提升（如百济神州与诺华合作溢价30%）。
挑战：可能引发国际价格联盟指控（如WTO反倾销调查）。低收入国家可及性下降（如非洲国家无法获得低价药）。</a:t>
                </a:r>
                <a:endParaRPr kumimoji="1" lang="zh-CN" altLang="en-US"/>
              </a:p>
            </p:txBody>
          </p:sp>
        </p:grpSp>
      </p:grpSp>
      <p:graphicFrame>
        <p:nvGraphicFramePr>
          <p:cNvPr id="14" name="表格 13"/>
          <p:cNvGraphicFramePr/>
          <p:nvPr>
            <p:custDataLst>
              <p:tags r:id="rId1"/>
            </p:custDataLst>
          </p:nvPr>
        </p:nvGraphicFramePr>
        <p:xfrm>
          <a:off x="562610" y="1052830"/>
          <a:ext cx="11042015" cy="7283450"/>
        </p:xfrm>
        <a:graphic>
          <a:graphicData uri="http://schemas.openxmlformats.org/drawingml/2006/table">
            <a:tbl>
              <a:tblPr/>
              <a:tblGrid>
                <a:gridCol w="1024890"/>
                <a:gridCol w="2828925"/>
                <a:gridCol w="2353945"/>
                <a:gridCol w="2616200"/>
                <a:gridCol w="2218055"/>
              </a:tblGrid>
              <a:tr h="603250">
                <a:tc>
                  <a:txBody>
                    <a:bodyPr/>
                    <a:p>
                      <a:pPr marL="0" indent="0" algn="l"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工具类型</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a:latin typeface="华文宋体" panose="02010600040101010101" charset="-122"/>
                          <a:ea typeface="华文宋体" panose="02010600040101010101" charset="-122"/>
                        </a:rPr>
                        <a:t>定义与理论依据</a:t>
                      </a:r>
                      <a:endParaRPr lang="zh-CN" altLang="en-US" sz="1400" b="1">
                        <a:latin typeface="华文宋体" panose="02010600040101010101" charset="-122"/>
                        <a:ea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典型案例</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实施效果</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挑战与问题</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r>
              <a:tr h="1883410">
                <a:tc>
                  <a:txBody>
                    <a:bodyPr/>
                    <a:p>
                      <a:pPr marL="0" indent="0" algn="l" fontAlgn="ctr">
                        <a:spcBef>
                          <a:spcPct val="0"/>
                        </a:spcBef>
                        <a:spcAft>
                          <a:spcPct val="0"/>
                        </a:spcAft>
                      </a:pPr>
                      <a:r>
                        <a:rPr lang="en-US" altLang="zh-CN" sz="1400">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市场激活型工具</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定义：通过支付改革、市场准入释放需求。</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理论：价值医疗理论（Porter,2010），支付对应真实疗效。</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意大利疗效挂钩支付（PBRSAs）​：CAR-T疗法“完全缓解后付费”。</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中国全球价格保密协议：保护海外议价权。</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-CAR-T销售额提升40%（2023）</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-国产PD-1海外单价提高20%（2024）</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-疗效标准易被操纵（如选择替代终点）</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-国际价格联盟调查风险增加</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14272" y="6078855"/>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158750" y="177800"/>
            <a:ext cx="7175500" cy="673100"/>
          </a:xfrm>
          <a:prstGeom prst="rect">
            <a:avLst/>
          </a:prstGeom>
          <a:noFill/>
        </p:spPr>
        <p:txBody>
          <a:bodyPr vert="horz" wrap="square" lIns="0" tIns="0" rIns="0" bIns="0" rtlCol="0" anchor="ctr">
            <a:spAutoFit/>
          </a:bodyPr>
          <a:lstStyle/>
          <a:p>
            <a:pPr algn="l">
              <a:lnSpc>
                <a:spcPct val="110000"/>
              </a:lnSpc>
            </a:pPr>
            <a:r>
              <a:rPr kumimoji="1" lang="en-US" altLang="zh-CN" sz="4800">
                <a:ln w="12700">
                  <a:noFill/>
                </a:ln>
                <a:solidFill>
                  <a:srgbClr val="333333">
                    <a:alpha val="100000"/>
                  </a:srgbClr>
                </a:solidFill>
                <a:latin typeface="Source Han Sans CN Bold"/>
                <a:ea typeface="Source Han Sans CN Bold"/>
                <a:cs typeface="Source Han Sans CN Bold"/>
              </a:rPr>
              <a:t>生态优化型工具</a:t>
            </a:r>
            <a:endParaRPr kumimoji="1" lang="zh-CN" altLang="en-US"/>
          </a:p>
        </p:txBody>
      </p:sp>
      <p:grpSp>
        <p:nvGrpSpPr>
          <p:cNvPr id="12" name="组合 11"/>
          <p:cNvGrpSpPr/>
          <p:nvPr/>
        </p:nvGrpSpPr>
        <p:grpSpPr>
          <a:xfrm>
            <a:off x="6607175" y="3716655"/>
            <a:ext cx="3996055" cy="2401596"/>
            <a:chOff x="1931" y="5889"/>
            <a:chExt cx="9229" cy="2085"/>
          </a:xfrm>
        </p:grpSpPr>
        <p:sp>
          <p:nvSpPr>
            <p:cNvPr id="6" name="标题 1"/>
            <p:cNvSpPr txBox="1"/>
            <p:nvPr/>
          </p:nvSpPr>
          <p:spPr>
            <a:xfrm>
              <a:off x="1931" y="6390"/>
              <a:ext cx="9229" cy="1584"/>
            </a:xfrm>
            <a:prstGeom prst="rect">
              <a:avLst/>
            </a:prstGeom>
            <a:noFill/>
            <a:ln>
              <a:noFill/>
            </a:ln>
          </p:spPr>
          <p:txBody>
            <a:bodyPr vert="horz" wrap="square" lIns="0" tIns="0" rIns="0" bIns="0" rtlCol="0" anchor="t"/>
            <a:lstStyle/>
            <a:p>
              <a:pPr algn="l">
                <a:lnSpc>
                  <a:spcPct val="150000"/>
                </a:lnSpc>
              </a:pPr>
              <a:r>
                <a:rPr kumimoji="1" lang="en-US" altLang="zh-CN" sz="950">
                  <a:ln w="12700">
                    <a:noFill/>
                  </a:ln>
                  <a:solidFill>
                    <a:srgbClr val="000000">
                      <a:alpha val="100000"/>
                    </a:srgbClr>
                  </a:solidFill>
                  <a:latin typeface="Source Han Sans"/>
                  <a:ea typeface="Source Han Sans"/>
                  <a:cs typeface="Source Han Sans"/>
                </a:rPr>
                <a:t>在专利保护期外延长企业临床数据的排他使用权（通常延长2- 4年），防止仿制药企直接引用原研数据。其理论源于动态效率理论，即更强的独占性可激励高风险投资。
日本实践：2023年PMDA对阿尔茨海默病新药Lecanemab授予10年数据保护，吸引礼来、罗氏追加投资15亿美元。
效果：本土药企市场份额从20%提升至28%（2023）。首创新药（First- in- Class）占比从10%增至18%。
挑战：仿制药延迟上市导致患者短期负担加重。可能抑制后续改良型药物（Me- Better）研发。</a:t>
              </a:r>
              <a:endParaRPr kumimoji="1" lang="en-US" altLang="zh-CN" sz="950">
                <a:ln w="12700">
                  <a:noFill/>
                </a:ln>
                <a:solidFill>
                  <a:srgbClr val="000000">
                    <a:alpha val="100000"/>
                  </a:srgbClr>
                </a:solidFill>
                <a:latin typeface="Source Han Sans"/>
                <a:ea typeface="Source Han Sans"/>
                <a:cs typeface="Source Han Sans"/>
              </a:endParaRPr>
            </a:p>
            <a:p>
              <a:pPr algn="l">
                <a:lnSpc>
                  <a:spcPct val="150000"/>
                </a:lnSpc>
              </a:pPr>
              <a:endParaRPr kumimoji="1" lang="en-US" altLang="zh-CN" sz="950">
                <a:ln w="12700">
                  <a:noFill/>
                </a:ln>
                <a:solidFill>
                  <a:srgbClr val="000000">
                    <a:alpha val="100000"/>
                  </a:srgbClr>
                </a:solidFill>
                <a:latin typeface="Source Han Sans"/>
                <a:ea typeface="Source Han Sans"/>
                <a:cs typeface="Source Han Sans"/>
              </a:endParaRPr>
            </a:p>
          </p:txBody>
        </p:sp>
        <p:sp>
          <p:nvSpPr>
            <p:cNvPr id="7" name="标题 1"/>
            <p:cNvSpPr txBox="1"/>
            <p:nvPr/>
          </p:nvSpPr>
          <p:spPr>
            <a:xfrm>
              <a:off x="1931" y="5889"/>
              <a:ext cx="9225" cy="501"/>
            </a:xfrm>
            <a:prstGeom prst="rect">
              <a:avLst/>
            </a:prstGeom>
            <a:noFill/>
            <a:ln>
              <a:noFill/>
            </a:ln>
          </p:spPr>
          <p:txBody>
            <a:bodyPr vert="horz" wrap="square" lIns="0" tIns="0" rIns="0" bIns="0" rtlCol="0" anchor="b"/>
            <a:lstStyle/>
            <a:p>
              <a:pPr algn="l">
                <a:lnSpc>
                  <a:spcPct val="150000"/>
                </a:lnSpc>
              </a:pPr>
              <a:r>
                <a:rPr kumimoji="1" lang="en-US" altLang="zh-CN" sz="1600">
                  <a:ln w="12700">
                    <a:noFill/>
                  </a:ln>
                  <a:solidFill>
                    <a:srgbClr val="0236DE">
                      <a:alpha val="100000"/>
                    </a:srgbClr>
                  </a:solidFill>
                  <a:latin typeface="Source Han Sans CN Bold"/>
                  <a:ea typeface="Source Han Sans CN Bold"/>
                  <a:cs typeface="Source Han Sans CN Bold"/>
                </a:rPr>
                <a:t>数据独占期延长</a:t>
              </a:r>
              <a:endParaRPr kumimoji="1" lang="en-US" altLang="zh-CN" sz="1600">
                <a:ln w="12700">
                  <a:noFill/>
                </a:ln>
                <a:solidFill>
                  <a:srgbClr val="0236DE">
                    <a:alpha val="100000"/>
                  </a:srgbClr>
                </a:solidFill>
                <a:latin typeface="Source Han Sans CN Bold"/>
                <a:ea typeface="Source Han Sans CN Bold"/>
                <a:cs typeface="Source Han Sans CN Bold"/>
              </a:endParaRPr>
            </a:p>
          </p:txBody>
        </p:sp>
      </p:grpSp>
      <p:sp>
        <p:nvSpPr>
          <p:cNvPr id="8" name="标题 1"/>
          <p:cNvSpPr txBox="1"/>
          <p:nvPr/>
        </p:nvSpPr>
        <p:spPr>
          <a:xfrm>
            <a:off x="11137963" y="4848563"/>
            <a:ext cx="526005" cy="1136630"/>
          </a:xfrm>
          <a:prstGeom prst="rect">
            <a:avLst/>
          </a:prstGeom>
          <a:gradFill>
            <a:gsLst>
              <a:gs pos="0">
                <a:schemeClr val="accent1">
                  <a:alpha val="100000"/>
                </a:schemeClr>
              </a:gs>
              <a:gs pos="100000">
                <a:schemeClr val="accent1">
                  <a:lumMod val="75000"/>
                  <a:alpha val="100000"/>
                </a:schemeClr>
              </a:gs>
            </a:gsLst>
            <a:lin ang="36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grpSp>
        <p:nvGrpSpPr>
          <p:cNvPr id="11" name="组合 10"/>
          <p:cNvGrpSpPr/>
          <p:nvPr/>
        </p:nvGrpSpPr>
        <p:grpSpPr>
          <a:xfrm>
            <a:off x="796289" y="3932897"/>
            <a:ext cx="5265643" cy="2361510"/>
            <a:chOff x="1040" y="3074"/>
            <a:chExt cx="11318" cy="2361"/>
          </a:xfrm>
        </p:grpSpPr>
        <p:sp>
          <p:nvSpPr>
            <p:cNvPr id="4" name="标题 1"/>
            <p:cNvSpPr txBox="1"/>
            <p:nvPr/>
          </p:nvSpPr>
          <p:spPr>
            <a:xfrm>
              <a:off x="1040" y="3074"/>
              <a:ext cx="11318" cy="2361"/>
            </a:xfrm>
            <a:prstGeom prst="rect">
              <a:avLst/>
            </a:prstGeom>
            <a:gradFill>
              <a:gsLst>
                <a:gs pos="0">
                  <a:schemeClr val="accent1">
                    <a:alpha val="100000"/>
                  </a:schemeClr>
                </a:gs>
                <a:gs pos="100000">
                  <a:schemeClr val="accent1">
                    <a:lumMod val="75000"/>
                    <a:alpha val="100000"/>
                  </a:schemeClr>
                </a:gs>
              </a:gsLst>
              <a:lin ang="36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1381" y="3404"/>
              <a:ext cx="382" cy="106"/>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9" name="标题 1"/>
            <p:cNvSpPr txBox="1"/>
            <p:nvPr/>
          </p:nvSpPr>
          <p:spPr>
            <a:xfrm>
              <a:off x="1931" y="3145"/>
              <a:ext cx="9994" cy="501"/>
            </a:xfrm>
            <a:prstGeom prst="rect">
              <a:avLst/>
            </a:prstGeom>
            <a:noFill/>
            <a:ln>
              <a:noFill/>
            </a:ln>
          </p:spPr>
          <p:txBody>
            <a:bodyPr vert="horz" wrap="square" lIns="0" tIns="0" rIns="0" bIns="0" rtlCol="0" anchor="b"/>
            <a:lstStyle/>
            <a:p>
              <a:pPr algn="l">
                <a:lnSpc>
                  <a:spcPct val="150000"/>
                </a:lnSpc>
              </a:pPr>
              <a:r>
                <a:rPr kumimoji="1" lang="en-US" altLang="zh-CN">
                  <a:ln w="12700">
                    <a:noFill/>
                  </a:ln>
                  <a:solidFill>
                    <a:schemeClr val="bg1">
                      <a:alpha val="100000"/>
                    </a:schemeClr>
                  </a:solidFill>
                  <a:latin typeface="Source Han Sans CN Bold"/>
                  <a:ea typeface="Source Han Sans CN Bold"/>
                  <a:cs typeface="Source Han Sans CN Bold"/>
                  <a:sym typeface="+mn-ea"/>
                </a:rPr>
                <a:t>HTA区域协同机制（欧盟HTA法规）</a:t>
              </a:r>
              <a:endParaRPr kumimoji="1" lang="en-US" altLang="zh-CN">
                <a:ln w="12700">
                  <a:noFill/>
                </a:ln>
                <a:solidFill>
                  <a:schemeClr val="bg1">
                    <a:alpha val="100000"/>
                  </a:schemeClr>
                </a:solidFill>
                <a:latin typeface="Source Han Sans CN Bold"/>
                <a:ea typeface="Source Han Sans CN Bold"/>
                <a:cs typeface="Source Han Sans CN Bold"/>
                <a:sym typeface="+mn-ea"/>
              </a:endParaRPr>
            </a:p>
          </p:txBody>
        </p:sp>
        <p:sp>
          <p:nvSpPr>
            <p:cNvPr id="10" name="标题 1"/>
            <p:cNvSpPr txBox="1"/>
            <p:nvPr/>
          </p:nvSpPr>
          <p:spPr>
            <a:xfrm>
              <a:off x="1931" y="3721"/>
              <a:ext cx="9994" cy="1297"/>
            </a:xfrm>
            <a:prstGeom prst="rect">
              <a:avLst/>
            </a:prstGeom>
            <a:noFill/>
            <a:ln>
              <a:noFill/>
            </a:ln>
          </p:spPr>
          <p:txBody>
            <a:bodyPr vert="horz" wrap="square" lIns="0" tIns="0" rIns="0" bIns="0" rtlCol="0" anchor="t"/>
            <a:lstStyle/>
            <a:p>
              <a:pPr algn="l">
                <a:lnSpc>
                  <a:spcPct val="150000"/>
                </a:lnSpc>
              </a:pPr>
              <a:r>
                <a:rPr kumimoji="1" lang="en-US" altLang="zh-CN" sz="950">
                  <a:ln w="12700">
                    <a:noFill/>
                  </a:ln>
                  <a:solidFill>
                    <a:srgbClr val="FFFFFF">
                      <a:alpha val="100000"/>
                    </a:srgbClr>
                  </a:solidFill>
                  <a:latin typeface="Source Han Sans"/>
                  <a:ea typeface="Source Han Sans"/>
                  <a:cs typeface="Source Han Sans"/>
                </a:rPr>
                <a:t>统一跨国卫生技术评估（HTA）标准，减少重复评估导致的准入延迟。其理论依据为区域一体化理论，即制度协同可降低交易成本。
欧盟HTA法规：2021年实施后，27国新药准入时间从平均18个月缩短至7个月。
效果：药价平均下降35%（企业通过规模效应降低成本）。市场渗透率从50%提升至62%（2023）。
挑战：小国丧失定价自主权（如波兰创新药覆盖率下降25%）。企业需同时满足多国报销规则，行政成本增加。</a:t>
              </a:r>
              <a:endParaRPr kumimoji="1" lang="en-US" altLang="zh-CN" sz="950">
                <a:ln w="12700">
                  <a:noFill/>
                </a:ln>
                <a:solidFill>
                  <a:srgbClr val="FFFFFF">
                    <a:alpha val="100000"/>
                  </a:srgbClr>
                </a:solidFill>
                <a:latin typeface="Source Han Sans"/>
                <a:ea typeface="Source Han Sans"/>
                <a:cs typeface="Source Han Sans"/>
              </a:endParaRPr>
            </a:p>
          </p:txBody>
        </p:sp>
      </p:grpSp>
      <p:graphicFrame>
        <p:nvGraphicFramePr>
          <p:cNvPr id="14" name="表格 13"/>
          <p:cNvGraphicFramePr/>
          <p:nvPr>
            <p:custDataLst>
              <p:tags r:id="rId1"/>
            </p:custDataLst>
          </p:nvPr>
        </p:nvGraphicFramePr>
        <p:xfrm>
          <a:off x="562610" y="1052830"/>
          <a:ext cx="11042015" cy="7283450"/>
        </p:xfrm>
        <a:graphic>
          <a:graphicData uri="http://schemas.openxmlformats.org/drawingml/2006/table">
            <a:tbl>
              <a:tblPr/>
              <a:tblGrid>
                <a:gridCol w="1024890"/>
                <a:gridCol w="2828925"/>
                <a:gridCol w="2353945"/>
                <a:gridCol w="2616200"/>
                <a:gridCol w="2218055"/>
              </a:tblGrid>
              <a:tr h="603250">
                <a:tc>
                  <a:txBody>
                    <a:bodyPr/>
                    <a:p>
                      <a:pPr marL="0" indent="0" algn="l"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工具类型</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a:latin typeface="华文宋体" panose="02010600040101010101" charset="-122"/>
                          <a:ea typeface="华文宋体" panose="02010600040101010101" charset="-122"/>
                        </a:rPr>
                        <a:t>定义与理论依据</a:t>
                      </a:r>
                      <a:endParaRPr lang="zh-CN" altLang="en-US" sz="1400" b="1">
                        <a:latin typeface="华文宋体" panose="02010600040101010101" charset="-122"/>
                        <a:ea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典型案例</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实施效果</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挑战与问题</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r>
              <a:tr h="1883410">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生态优化型工具</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定义：优化制度环境以降低交易成本。</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理论：区域一体化理论（Baldwin,2019）。</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欧盟HTA协同机制：27国统一卫生技术评估标准。</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日本数据独占期延长：首创新药数据保护延至10年。</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-欧盟新药准入时间缩短60%</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-日本本土药企市场份额提升至28%（2023）</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-小国丧失定价自主权（如波兰覆盖率下降25%）</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-仿制药延迟上市引发争议</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71450" y="177800"/>
            <a:ext cx="7175500" cy="673100"/>
          </a:xfrm>
          <a:prstGeom prst="rect">
            <a:avLst/>
          </a:prstGeom>
          <a:noFill/>
        </p:spPr>
        <p:txBody>
          <a:bodyPr vert="horz" wrap="square" lIns="0" tIns="0" rIns="0" bIns="0" rtlCol="0" anchor="ctr">
            <a:spAutoFit/>
          </a:bodyPr>
          <a:lstStyle/>
          <a:p>
            <a:pPr algn="l">
              <a:lnSpc>
                <a:spcPct val="110000"/>
              </a:lnSpc>
            </a:pPr>
            <a:r>
              <a:rPr kumimoji="1" lang="en-US" altLang="zh-CN" sz="4800">
                <a:ln w="12700">
                  <a:noFill/>
                </a:ln>
                <a:solidFill>
                  <a:srgbClr val="333333">
                    <a:alpha val="100000"/>
                  </a:srgbClr>
                </a:solidFill>
                <a:latin typeface="Source Han Sans CN Bold"/>
                <a:ea typeface="Source Han Sans CN Bold"/>
                <a:cs typeface="Source Han Sans CN Bold"/>
              </a:rPr>
              <a:t>数字赋能型工具</a:t>
            </a:r>
            <a:endParaRPr kumimoji="1" lang="zh-CN" altLang="en-US"/>
          </a:p>
        </p:txBody>
      </p:sp>
      <p:grpSp>
        <p:nvGrpSpPr>
          <p:cNvPr id="12" name="组合 11"/>
          <p:cNvGrpSpPr/>
          <p:nvPr/>
        </p:nvGrpSpPr>
        <p:grpSpPr>
          <a:xfrm>
            <a:off x="576580" y="3791585"/>
            <a:ext cx="5480050" cy="2688590"/>
            <a:chOff x="908" y="2219"/>
            <a:chExt cx="8630" cy="7440"/>
          </a:xfrm>
        </p:grpSpPr>
        <p:sp>
          <p:nvSpPr>
            <p:cNvPr id="4" name="标题 1"/>
            <p:cNvSpPr txBox="1"/>
            <p:nvPr/>
          </p:nvSpPr>
          <p:spPr>
            <a:xfrm>
              <a:off x="996" y="2219"/>
              <a:ext cx="8543" cy="7353"/>
            </a:xfrm>
            <a:prstGeom prst="roundRect">
              <a:avLst>
                <a:gd name="adj" fmla="val 4240"/>
              </a:avLst>
            </a:prstGeom>
            <a:solidFill>
              <a:schemeClr val="accent1">
                <a:lumMod val="75000"/>
              </a:schemeClr>
            </a:solidFill>
            <a:ln w="16519" cap="sq">
              <a:noFill/>
              <a:miter/>
            </a:ln>
            <a:effectLst/>
          </p:spPr>
          <p:txBody>
            <a:bodyPr vert="horz" wrap="square" lIns="0" tIns="0" rIns="0" bIns="0" rtlCol="0" anchor="t"/>
            <a:lstStyle/>
            <a:p>
              <a:pPr algn="ctr">
                <a:lnSpc>
                  <a:spcPct val="110000"/>
                </a:lnSpc>
              </a:pPr>
              <a:endParaRPr kumimoji="1" lang="zh-CN" altLang="en-US"/>
            </a:p>
          </p:txBody>
        </p:sp>
        <p:sp>
          <p:nvSpPr>
            <p:cNvPr id="5" name="标题 1"/>
            <p:cNvSpPr txBox="1"/>
            <p:nvPr/>
          </p:nvSpPr>
          <p:spPr>
            <a:xfrm>
              <a:off x="908" y="2307"/>
              <a:ext cx="8545" cy="7353"/>
            </a:xfrm>
            <a:prstGeom prst="roundRect">
              <a:avLst>
                <a:gd name="adj" fmla="val 4240"/>
              </a:avLst>
            </a:prstGeom>
            <a:solidFill>
              <a:schemeClr val="bg1"/>
            </a:solidFill>
            <a:ln w="9525" cap="sq">
              <a:solidFill>
                <a:schemeClr val="accent1"/>
              </a:solidFill>
              <a:miter/>
            </a:ln>
            <a:effectLst/>
          </p:spPr>
          <p:txBody>
            <a:bodyPr vert="horz" wrap="square" lIns="0" tIns="0" rIns="0" bIns="0" rtlCol="0" anchor="t"/>
            <a:lstStyle/>
            <a:p>
              <a:pPr algn="ctr">
                <a:lnSpc>
                  <a:spcPct val="110000"/>
                </a:lnSpc>
              </a:pPr>
              <a:endParaRPr kumimoji="1" lang="zh-CN" altLang="en-US"/>
            </a:p>
          </p:txBody>
        </p:sp>
        <p:sp>
          <p:nvSpPr>
            <p:cNvPr id="6" name="标题 1"/>
            <p:cNvSpPr txBox="1"/>
            <p:nvPr/>
          </p:nvSpPr>
          <p:spPr>
            <a:xfrm>
              <a:off x="1149" y="2406"/>
              <a:ext cx="8131" cy="839"/>
            </a:xfrm>
            <a:prstGeom prst="rect">
              <a:avLst/>
            </a:prstGeom>
            <a:noFill/>
            <a:ln>
              <a:noFill/>
            </a:ln>
            <a:effectLst/>
          </p:spPr>
          <p:txBody>
            <a:bodyPr vert="horz" wrap="square" lIns="0" tIns="0" rIns="0" bIns="0" rtlCol="0" anchor="ctr"/>
            <a:lstStyle/>
            <a:p>
              <a:pPr algn="l">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真实世界证据（RWE）审批</a:t>
              </a:r>
              <a:endParaRPr kumimoji="1" lang="zh-CN" altLang="en-US"/>
            </a:p>
          </p:txBody>
        </p:sp>
        <p:sp>
          <p:nvSpPr>
            <p:cNvPr id="7" name="标题 1"/>
            <p:cNvSpPr txBox="1"/>
            <p:nvPr/>
          </p:nvSpPr>
          <p:spPr>
            <a:xfrm>
              <a:off x="1149" y="3247"/>
              <a:ext cx="8131" cy="6325"/>
            </a:xfrm>
            <a:prstGeom prst="rect">
              <a:avLst/>
            </a:prstGeom>
            <a:noFill/>
            <a:ln>
              <a:noFill/>
            </a:ln>
          </p:spPr>
          <p:txBody>
            <a:bodyPr vert="horz" wrap="square" lIns="0" tIns="0" rIns="0" bIns="0" rtlCol="0" anchor="t"/>
            <a:lstStyle/>
            <a:p>
              <a:pPr algn="l">
                <a:lnSpc>
                  <a:spcPct val="150000"/>
                </a:lnSpc>
              </a:pPr>
              <a:r>
                <a:rPr kumimoji="1" lang="en-US" altLang="zh-CN" sz="1200">
                  <a:ln w="12700">
                    <a:noFill/>
                  </a:ln>
                  <a:solidFill>
                    <a:srgbClr val="000000">
                      <a:alpha val="100000"/>
                    </a:srgbClr>
                  </a:solidFill>
                  <a:latin typeface="Source Han Sans"/>
                  <a:ea typeface="Source Han Sans"/>
                  <a:cs typeface="Source Han Sans"/>
                </a:rPr>
                <a:t>利用真实世界数据（如电子病历、医保数据）替代部分临床试验证据，加速审评流程。其理论源自循证医学，强调多维证据整合。
中国海南试点：青光眼新药Netarsudil通过RWE替代III期试验，审评周期从5年缩短至3年。
效果：24个进口药加速上市，节省研发费用55亿元（2020- 2024）。吸引强生、默沙东等企业在海南设立数据中心。
挑战：基层医院数据质量合格率仅72%（《中国卫生信息管理杂志》2024）。数据隐私保护机制不完善。</a:t>
              </a:r>
              <a:endParaRPr kumimoji="1" lang="en-US" altLang="zh-CN" sz="1200">
                <a:ln w="12700">
                  <a:noFill/>
                </a:ln>
                <a:solidFill>
                  <a:srgbClr val="000000">
                    <a:alpha val="100000"/>
                  </a:srgbClr>
                </a:solidFill>
                <a:latin typeface="Source Han Sans"/>
                <a:ea typeface="Source Han Sans"/>
                <a:cs typeface="Source Han Sans"/>
              </a:endParaRPr>
            </a:p>
          </p:txBody>
        </p:sp>
      </p:grpSp>
      <p:grpSp>
        <p:nvGrpSpPr>
          <p:cNvPr id="13" name="组合 12"/>
          <p:cNvGrpSpPr/>
          <p:nvPr/>
        </p:nvGrpSpPr>
        <p:grpSpPr>
          <a:xfrm>
            <a:off x="6216015" y="3818890"/>
            <a:ext cx="5480050" cy="2835910"/>
            <a:chOff x="9789" y="2219"/>
            <a:chExt cx="8630" cy="8261"/>
          </a:xfrm>
        </p:grpSpPr>
        <p:sp>
          <p:nvSpPr>
            <p:cNvPr id="2" name="标题 1"/>
            <p:cNvSpPr txBox="1"/>
            <p:nvPr/>
          </p:nvSpPr>
          <p:spPr>
            <a:xfrm>
              <a:off x="13949" y="10140"/>
              <a:ext cx="4191" cy="34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8" name="标题 1"/>
            <p:cNvSpPr txBox="1"/>
            <p:nvPr/>
          </p:nvSpPr>
          <p:spPr>
            <a:xfrm>
              <a:off x="9877" y="2219"/>
              <a:ext cx="8543" cy="7353"/>
            </a:xfrm>
            <a:prstGeom prst="roundRect">
              <a:avLst>
                <a:gd name="adj" fmla="val 4240"/>
              </a:avLst>
            </a:prstGeom>
            <a:solidFill>
              <a:schemeClr val="accent1">
                <a:lumMod val="75000"/>
              </a:schemeClr>
            </a:solidFill>
            <a:ln w="16519" cap="sq">
              <a:noFill/>
              <a:miter/>
            </a:ln>
            <a:effectLst/>
          </p:spPr>
          <p:txBody>
            <a:bodyPr vert="horz" wrap="square" lIns="0" tIns="0" rIns="0" bIns="0" rtlCol="0" anchor="t"/>
            <a:lstStyle/>
            <a:p>
              <a:pPr algn="ctr">
                <a:lnSpc>
                  <a:spcPct val="110000"/>
                </a:lnSpc>
              </a:pPr>
              <a:endParaRPr kumimoji="1" lang="zh-CN" altLang="en-US"/>
            </a:p>
          </p:txBody>
        </p:sp>
        <p:sp>
          <p:nvSpPr>
            <p:cNvPr id="9" name="标题 1"/>
            <p:cNvSpPr txBox="1"/>
            <p:nvPr/>
          </p:nvSpPr>
          <p:spPr>
            <a:xfrm>
              <a:off x="9789" y="2307"/>
              <a:ext cx="8545" cy="7353"/>
            </a:xfrm>
            <a:prstGeom prst="roundRect">
              <a:avLst>
                <a:gd name="adj" fmla="val 4240"/>
              </a:avLst>
            </a:prstGeom>
            <a:solidFill>
              <a:schemeClr val="bg1"/>
            </a:solidFill>
            <a:ln w="9525" cap="sq">
              <a:solidFill>
                <a:schemeClr val="accent1"/>
              </a:solidFill>
              <a:miter/>
            </a:ln>
            <a:effectLst/>
          </p:spPr>
          <p:txBody>
            <a:bodyPr vert="horz" wrap="square" lIns="0" tIns="0" rIns="0" bIns="0" rtlCol="0" anchor="t"/>
            <a:lstStyle/>
            <a:p>
              <a:pPr algn="ctr">
                <a:lnSpc>
                  <a:spcPct val="110000"/>
                </a:lnSpc>
              </a:pPr>
              <a:endParaRPr kumimoji="1" lang="zh-CN" altLang="en-US"/>
            </a:p>
          </p:txBody>
        </p:sp>
        <p:sp>
          <p:nvSpPr>
            <p:cNvPr id="10" name="标题 1"/>
            <p:cNvSpPr txBox="1"/>
            <p:nvPr/>
          </p:nvSpPr>
          <p:spPr>
            <a:xfrm>
              <a:off x="10030" y="2406"/>
              <a:ext cx="8131" cy="839"/>
            </a:xfrm>
            <a:prstGeom prst="rect">
              <a:avLst/>
            </a:prstGeom>
            <a:noFill/>
            <a:ln>
              <a:noFill/>
            </a:ln>
            <a:effectLst/>
          </p:spPr>
          <p:txBody>
            <a:bodyPr vert="horz" wrap="square" lIns="0" tIns="0" rIns="0" bIns="0" rtlCol="0" anchor="ctr"/>
            <a:lstStyle/>
            <a:p>
              <a:pPr algn="l">
                <a:lnSpc>
                  <a:spcPct val="110000"/>
                </a:lnSpc>
              </a:pPr>
              <a:r>
                <a:rPr kumimoji="1" lang="en-US" altLang="zh-CN" sz="1600">
                  <a:ln w="12700">
                    <a:noFill/>
                  </a:ln>
                  <a:solidFill>
                    <a:srgbClr val="000000">
                      <a:alpha val="100000"/>
                    </a:srgbClr>
                  </a:solidFill>
                  <a:latin typeface="Source Han Sans CN Bold"/>
                  <a:ea typeface="Source Han Sans CN Bold"/>
                  <a:cs typeface="Source Han Sans CN Bold"/>
                </a:rPr>
                <a:t>区块链专利管理</a:t>
              </a:r>
              <a:endParaRPr kumimoji="1" lang="zh-CN" altLang="en-US"/>
            </a:p>
          </p:txBody>
        </p:sp>
        <p:sp>
          <p:nvSpPr>
            <p:cNvPr id="11" name="标题 1"/>
            <p:cNvSpPr txBox="1"/>
            <p:nvPr/>
          </p:nvSpPr>
          <p:spPr>
            <a:xfrm>
              <a:off x="10030" y="3247"/>
              <a:ext cx="8131" cy="6325"/>
            </a:xfrm>
            <a:prstGeom prst="rect">
              <a:avLst/>
            </a:prstGeom>
            <a:noFill/>
            <a:ln>
              <a:noFill/>
            </a:ln>
          </p:spPr>
          <p:txBody>
            <a:bodyPr vert="horz" wrap="square" lIns="0" tIns="0" rIns="0" bIns="0" rtlCol="0" anchor="t"/>
            <a:lstStyle/>
            <a:p>
              <a:pPr algn="l">
                <a:lnSpc>
                  <a:spcPct val="150000"/>
                </a:lnSpc>
              </a:pPr>
              <a:r>
                <a:rPr kumimoji="1" lang="en-US" altLang="zh-CN" sz="1200">
                  <a:ln w="12700">
                    <a:noFill/>
                  </a:ln>
                  <a:solidFill>
                    <a:srgbClr val="000000">
                      <a:alpha val="100000"/>
                    </a:srgbClr>
                  </a:solidFill>
                  <a:latin typeface="Source Han Sans"/>
                  <a:ea typeface="Source Han Sans"/>
                  <a:cs typeface="Source Han Sans"/>
                </a:rPr>
                <a:t>通过区块链技术实现专利数据不可篡改、跨国实时确权。其理论基于分布式账本技术，可降低知识产权交易成本。
新加坡IPOS平台：2022年处理辉瑞与BioNTech的mRNA专利纠纷，处理时间从平均18个月缩至3个月。
效果：跨国专利纠纷处理时间减少70%。专利许可费透明度提升（企业投诉率下降50%）。
挑战：跨国司法管辖权冲突（如中美区块链数据互认难题）。技术更新快，监管规则滞后。</a:t>
              </a:r>
              <a:endParaRPr kumimoji="1" lang="en-US" altLang="zh-CN" sz="1200">
                <a:ln w="12700">
                  <a:noFill/>
                </a:ln>
                <a:solidFill>
                  <a:srgbClr val="000000">
                    <a:alpha val="100000"/>
                  </a:srgbClr>
                </a:solidFill>
                <a:latin typeface="Source Han Sans"/>
                <a:ea typeface="Source Han Sans"/>
                <a:cs typeface="Source Han Sans"/>
              </a:endParaRPr>
            </a:p>
          </p:txBody>
        </p:sp>
      </p:grpSp>
      <p:graphicFrame>
        <p:nvGraphicFramePr>
          <p:cNvPr id="14" name="表格 13"/>
          <p:cNvGraphicFramePr/>
          <p:nvPr>
            <p:custDataLst>
              <p:tags r:id="rId1"/>
            </p:custDataLst>
          </p:nvPr>
        </p:nvGraphicFramePr>
        <p:xfrm>
          <a:off x="562610" y="1052830"/>
          <a:ext cx="11042015" cy="7283450"/>
        </p:xfrm>
        <a:graphic>
          <a:graphicData uri="http://schemas.openxmlformats.org/drawingml/2006/table">
            <a:tbl>
              <a:tblPr/>
              <a:tblGrid>
                <a:gridCol w="1024890"/>
                <a:gridCol w="2828925"/>
                <a:gridCol w="2353945"/>
                <a:gridCol w="2616200"/>
                <a:gridCol w="2218055"/>
              </a:tblGrid>
              <a:tr h="603250">
                <a:tc>
                  <a:txBody>
                    <a:bodyPr/>
                    <a:p>
                      <a:pPr marL="0" indent="0" algn="l"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工具类型</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a:latin typeface="华文宋体" panose="02010600040101010101" charset="-122"/>
                          <a:ea typeface="华文宋体" panose="02010600040101010101" charset="-122"/>
                        </a:rPr>
                        <a:t>定义与理论依据</a:t>
                      </a:r>
                      <a:endParaRPr lang="zh-CN" altLang="en-US" sz="1400" b="1">
                        <a:latin typeface="华文宋体" panose="02010600040101010101" charset="-122"/>
                        <a:ea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典型案例</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实施效果</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en-US" altLang="zh-CN" sz="1400" b="1">
                          <a:latin typeface="华文宋体" panose="02010600040101010101" charset="-122"/>
                          <a:ea typeface="华文宋体" panose="02010600040101010101" charset="-122"/>
                          <a:cs typeface="华文宋体" panose="02010600040101010101" charset="-122"/>
                        </a:rPr>
                        <a:t>​</a:t>
                      </a:r>
                      <a:r>
                        <a:rPr lang="zh-CN" altLang="en-US" sz="1400" b="1">
                          <a:latin typeface="华文宋体" panose="02010600040101010101" charset="-122"/>
                          <a:ea typeface="华文宋体" panose="02010600040101010101" charset="-122"/>
                          <a:cs typeface="华文宋体" panose="02010600040101010101" charset="-122"/>
                        </a:rPr>
                        <a:t>挑战与问题</a:t>
                      </a:r>
                      <a:endParaRPr lang="zh-CN" altLang="en-US" sz="1400" b="1">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solidFill>
                      <a:schemeClr val="bg2">
                        <a:lumMod val="90000"/>
                      </a:schemeClr>
                    </a:solidFill>
                  </a:tcPr>
                </a:tc>
              </a:tr>
              <a:tr h="1883410">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数字赋能型工具</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定义：利用数字技术提升研发与监管效率。</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理论：循证医学理论（Sherman,2016）。</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中国海南RWE试点：使用真实世界数据加速审批。</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新加坡区块链专利管理：跨国专利实时确权。</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-RWE节省研发费用55亿元（2020-2024）</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-专利纠纷处理时间减少70%（2022）</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c>
                  <a:txBody>
                    <a:bodyPr/>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-基层数据质量不足（30%不达标）</a:t>
                      </a:r>
                      <a:endParaRPr sz="1400">
                        <a:latin typeface="华文宋体" panose="02010600040101010101" charset="-122"/>
                        <a:ea typeface="华文宋体" panose="02010600040101010101" charset="-122"/>
                        <a:cs typeface="华文宋体" panose="02010600040101010101" charset="-122"/>
                      </a:endParaRPr>
                    </a:p>
                    <a:p>
                      <a:pPr marL="0" indent="0" algn="l" fontAlgn="ctr">
                        <a:spcBef>
                          <a:spcPct val="0"/>
                        </a:spcBef>
                        <a:spcAft>
                          <a:spcPct val="0"/>
                        </a:spcAft>
                      </a:pPr>
                      <a:r>
                        <a:rPr sz="1400">
                          <a:latin typeface="华文宋体" panose="02010600040101010101" charset="-122"/>
                          <a:ea typeface="华文宋体" panose="02010600040101010101" charset="-122"/>
                          <a:cs typeface="华文宋体" panose="02010600040101010101" charset="-122"/>
                        </a:rPr>
                        <a:t>-跨国司法管辖权冲突</a:t>
                      </a:r>
                      <a:endParaRPr sz="1400">
                        <a:latin typeface="华文宋体" panose="02010600040101010101" charset="-122"/>
                        <a:ea typeface="华文宋体" panose="02010600040101010101" charset="-122"/>
                        <a:cs typeface="华文宋体" panose="02010600040101010101" charset="-122"/>
                      </a:endParaRPr>
                    </a:p>
                  </a:txBody>
                  <a:tcPr marL="133350" marR="133350" marT="88265" marB="88265" anchor="ctr" anchorCtr="0">
                    <a:lnL>
                      <a:noFill/>
                    </a:lnL>
                    <a:lnR>
                      <a:noFill/>
                    </a:lnR>
                    <a:lnT>
                      <a:noFill/>
                    </a:lnT>
                    <a:lnB>
                      <a:noFill/>
                    </a:lnB>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a:stretch>
            <a:fillRect/>
          </a:stretch>
        </p:blipFill>
        <p:spPr>
          <a:xfrm>
            <a:off x="0" y="0"/>
            <a:ext cx="12192000" cy="6858000"/>
          </a:xfrm>
          <a:prstGeom prst="rect">
            <a:avLst/>
          </a:prstGeom>
          <a:noFill/>
          <a:ln>
            <a:noFill/>
          </a:ln>
        </p:spPr>
      </p:pic>
      <p:sp>
        <p:nvSpPr>
          <p:cNvPr id="3" name="标题 1"/>
          <p:cNvSpPr txBox="1"/>
          <p:nvPr/>
        </p:nvSpPr>
        <p:spPr>
          <a:xfrm>
            <a:off x="10973954" y="3790950"/>
            <a:ext cx="587664" cy="3057525"/>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3009900" y="2895276"/>
            <a:ext cx="5959764" cy="2048037"/>
          </a:xfrm>
          <a:prstGeom prst="rect">
            <a:avLst/>
          </a:prstGeom>
          <a:noFill/>
          <a:ln>
            <a:noFill/>
          </a:ln>
        </p:spPr>
        <p:txBody>
          <a:bodyPr vert="horz" wrap="square" lIns="91440" tIns="45720" rIns="91440" bIns="45720" rtlCol="0" anchor="t"/>
          <a:lstStyle/>
          <a:p>
            <a:pPr algn="ctr">
              <a:lnSpc>
                <a:spcPct val="110000"/>
              </a:lnSpc>
            </a:pPr>
            <a:r>
              <a:rPr kumimoji="1" lang="en-US" altLang="zh-CN" sz="5500">
                <a:ln w="12700">
                  <a:noFill/>
                </a:ln>
                <a:solidFill>
                  <a:srgbClr val="000000">
                    <a:alpha val="100000"/>
                  </a:srgbClr>
                </a:solidFill>
                <a:latin typeface="OPPOSans R"/>
                <a:ea typeface="OPPOSans R"/>
                <a:cs typeface="OPPOSans R"/>
              </a:rPr>
              <a:t>分阶段实施路线图详细规划</a:t>
            </a:r>
            <a:endParaRPr kumimoji="1" lang="zh-CN" altLang="en-US"/>
          </a:p>
        </p:txBody>
      </p:sp>
      <p:sp>
        <p:nvSpPr>
          <p:cNvPr id="5"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6" name="标题 1"/>
          <p:cNvSpPr txBox="1"/>
          <p:nvPr/>
        </p:nvSpPr>
        <p:spPr>
          <a:xfrm>
            <a:off x="3433536" y="1028701"/>
            <a:ext cx="3576864" cy="1695450"/>
          </a:xfrm>
          <a:prstGeom prst="rect">
            <a:avLst/>
          </a:prstGeom>
          <a:noFill/>
          <a:ln>
            <a:noFill/>
          </a:ln>
        </p:spPr>
        <p:txBody>
          <a:bodyPr vert="horz" wrap="square" lIns="91440" tIns="45720" rIns="91440" bIns="45720" rtlCol="0" anchor="b"/>
          <a:lstStyle/>
          <a:p>
            <a:pPr algn="r">
              <a:lnSpc>
                <a:spcPct val="90000"/>
              </a:lnSpc>
            </a:pPr>
            <a:r>
              <a:rPr kumimoji="1" lang="en-US" altLang="zh-CN" sz="9600">
                <a:ln w="12700">
                  <a:noFill/>
                </a:ln>
                <a:solidFill>
                  <a:srgbClr val="080808">
                    <a:alpha val="100000"/>
                  </a:srgbClr>
                </a:solidFill>
                <a:latin typeface="OPPOSans R"/>
                <a:ea typeface="OPPOSans R"/>
                <a:cs typeface="OPPOSans R"/>
              </a:rPr>
              <a:t>02</a:t>
            </a:r>
            <a:endParaRPr kumimoji="1" lang="zh-CN" altLang="en-US"/>
          </a:p>
        </p:txBody>
      </p:sp>
      <p:cxnSp>
        <p:nvCxnSpPr>
          <p:cNvPr id="7" name="标题 1"/>
          <p:cNvCxnSpPr/>
          <p:nvPr/>
        </p:nvCxnSpPr>
        <p:spPr>
          <a:xfrm>
            <a:off x="660400" y="5305425"/>
            <a:ext cx="9836150" cy="0"/>
          </a:xfrm>
          <a:prstGeom prst="line">
            <a:avLst/>
          </a:prstGeom>
          <a:noFill/>
          <a:ln w="5080" cap="sq">
            <a:solidFill>
              <a:schemeClr val="tx1"/>
            </a:solidFill>
            <a:miter/>
          </a:ln>
        </p:spPr>
      </p:cxnSp>
      <p:cxnSp>
        <p:nvCxnSpPr>
          <p:cNvPr id="8" name="标题 1"/>
          <p:cNvCxnSpPr/>
          <p:nvPr/>
        </p:nvCxnSpPr>
        <p:spPr>
          <a:xfrm>
            <a:off x="655411" y="5305425"/>
            <a:ext cx="1116239" cy="0"/>
          </a:xfrm>
          <a:prstGeom prst="line">
            <a:avLst/>
          </a:prstGeom>
          <a:noFill/>
          <a:ln w="50800" cap="sq">
            <a:solidFill>
              <a:schemeClr val="tx1"/>
            </a:solidFill>
            <a:miter/>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171450" y="177800"/>
            <a:ext cx="12522200" cy="419100"/>
          </a:xfrm>
          <a:prstGeom prst="rect">
            <a:avLst/>
          </a:prstGeom>
          <a:noFill/>
        </p:spPr>
        <p:txBody>
          <a:bodyPr vert="horz" wrap="square" lIns="0" tIns="0" rIns="0" bIns="0" rtlCol="0" anchor="ctr">
            <a:spAutoFit/>
          </a:bodyPr>
          <a:lstStyle/>
          <a:p>
            <a:pPr algn="l">
              <a:lnSpc>
                <a:spcPct val="110000"/>
              </a:lnSpc>
            </a:pPr>
            <a:r>
              <a:rPr kumimoji="1" lang="en-US" altLang="zh-CN" sz="3000">
                <a:ln w="12700">
                  <a:noFill/>
                </a:ln>
                <a:solidFill>
                  <a:srgbClr val="333333">
                    <a:alpha val="100000"/>
                  </a:srgbClr>
                </a:solidFill>
                <a:latin typeface="Source Han Sans CN Bold"/>
                <a:ea typeface="Source Han Sans CN Bold"/>
                <a:cs typeface="Source Han Sans CN Bold"/>
              </a:rPr>
              <a:t>短期阶段（2025-2027）：试点突破与区域协作</a:t>
            </a:r>
            <a:endParaRPr kumimoji="1" lang="zh-CN" altLang="en-US"/>
          </a:p>
        </p:txBody>
      </p:sp>
      <p:sp>
        <p:nvSpPr>
          <p:cNvPr id="5" name="标题 1"/>
          <p:cNvSpPr txBox="1"/>
          <p:nvPr/>
        </p:nvSpPr>
        <p:spPr>
          <a:xfrm flipH="1">
            <a:off x="-3371116" y="8089882"/>
            <a:ext cx="9152" cy="35243"/>
          </a:xfrm>
          <a:custGeom>
            <a:avLst/>
            <a:gdLst>
              <a:gd name="connsiteX0" fmla="*/ 8600 w 9152"/>
              <a:gd name="connsiteY0" fmla="*/ 2290 h 35243"/>
              <a:gd name="connsiteX1" fmla="*/ 816 w 9152"/>
              <a:gd name="connsiteY1" fmla="*/ 32047 h 35243"/>
              <a:gd name="connsiteX2" fmla="*/ 0 w 9152"/>
              <a:gd name="connsiteY2" fmla="*/ 35243 h 35243"/>
              <a:gd name="connsiteX3" fmla="*/ 3805 w 9152"/>
              <a:gd name="connsiteY3" fmla="*/ 20900 h 35243"/>
              <a:gd name="connsiteX4" fmla="*/ 8600 w 9152"/>
              <a:gd name="connsiteY4" fmla="*/ 2290 h 35243"/>
            </a:gdLst>
            <a:ahLst/>
            <a:cxnLst/>
            <a:rect l="l" t="t" r="r" b="b"/>
            <a:pathLst>
              <a:path w="9152" h="35243">
                <a:moveTo>
                  <a:pt x="8600" y="2290"/>
                </a:moveTo>
                <a:cubicBezTo>
                  <a:pt x="10240" y="-4255"/>
                  <a:pt x="8392" y="2506"/>
                  <a:pt x="816" y="32047"/>
                </a:cubicBezTo>
                <a:lnTo>
                  <a:pt x="0" y="35243"/>
                </a:lnTo>
                <a:lnTo>
                  <a:pt x="3805" y="20900"/>
                </a:lnTo>
                <a:cubicBezTo>
                  <a:pt x="6089" y="12161"/>
                  <a:pt x="7780" y="5562"/>
                  <a:pt x="8600" y="2290"/>
                </a:cubicBezTo>
                <a:close/>
              </a:path>
            </a:pathLst>
          </a:cu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2881641" y="1127035"/>
            <a:ext cx="16036" cy="5301"/>
          </a:xfrm>
          <a:custGeom>
            <a:avLst/>
            <a:gdLst>
              <a:gd name="connsiteX0" fmla="*/ 0 w 16036"/>
              <a:gd name="connsiteY0" fmla="*/ 0 h 5301"/>
              <a:gd name="connsiteX1" fmla="*/ 7234 w 16036"/>
              <a:gd name="connsiteY1" fmla="*/ 725 h 5301"/>
              <a:gd name="connsiteX2" fmla="*/ 7472 w 16036"/>
              <a:gd name="connsiteY2" fmla="*/ 3463 h 5301"/>
              <a:gd name="connsiteX3" fmla="*/ 0 w 16036"/>
              <a:gd name="connsiteY3" fmla="*/ 0 h 5301"/>
            </a:gdLst>
            <a:ahLst/>
            <a:cxnLst/>
            <a:rect l="l" t="t" r="r" b="b"/>
            <a:pathLst>
              <a:path w="16036" h="5301">
                <a:moveTo>
                  <a:pt x="0" y="0"/>
                </a:moveTo>
                <a:lnTo>
                  <a:pt x="7234" y="725"/>
                </a:lnTo>
                <a:cubicBezTo>
                  <a:pt x="21839" y="6440"/>
                  <a:pt x="15648" y="6123"/>
                  <a:pt x="7472" y="3463"/>
                </a:cubicBezTo>
                <a:lnTo>
                  <a:pt x="0" y="0"/>
                </a:lnTo>
                <a:close/>
              </a:path>
            </a:pathLst>
          </a:cu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2331134">
            <a:off x="-669422" y="-5481083"/>
            <a:ext cx="46506" cy="16528"/>
          </a:xfrm>
          <a:custGeom>
            <a:avLst/>
            <a:gdLst>
              <a:gd name="connsiteX0" fmla="*/ 0 w 46506"/>
              <a:gd name="connsiteY0" fmla="*/ 0 h 16528"/>
              <a:gd name="connsiteX1" fmla="*/ 25748 w 46506"/>
              <a:gd name="connsiteY1" fmla="*/ 5736 h 16528"/>
              <a:gd name="connsiteX2" fmla="*/ 26310 w 46506"/>
              <a:gd name="connsiteY2" fmla="*/ 12193 h 16528"/>
              <a:gd name="connsiteX3" fmla="*/ 0 w 46506"/>
              <a:gd name="connsiteY3" fmla="*/ 0 h 16528"/>
            </a:gdLst>
            <a:ahLst/>
            <a:cxnLst/>
            <a:rect l="l" t="t" r="r" b="b"/>
            <a:pathLst>
              <a:path w="46506" h="16528">
                <a:moveTo>
                  <a:pt x="0" y="0"/>
                </a:moveTo>
                <a:lnTo>
                  <a:pt x="25748" y="5736"/>
                </a:lnTo>
                <a:cubicBezTo>
                  <a:pt x="60189" y="19213"/>
                  <a:pt x="45589" y="18464"/>
                  <a:pt x="26310" y="12193"/>
                </a:cubicBezTo>
                <a:lnTo>
                  <a:pt x="0" y="0"/>
                </a:lnTo>
                <a:close/>
              </a:path>
            </a:pathLst>
          </a:cu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graphicFrame>
        <p:nvGraphicFramePr>
          <p:cNvPr id="20" name="表格 19"/>
          <p:cNvGraphicFramePr/>
          <p:nvPr>
            <p:custDataLst>
              <p:tags r:id="rId1"/>
            </p:custDataLst>
          </p:nvPr>
        </p:nvGraphicFramePr>
        <p:xfrm>
          <a:off x="781685" y="1271905"/>
          <a:ext cx="10499090" cy="4916805"/>
        </p:xfrm>
        <a:graphic>
          <a:graphicData uri="http://schemas.openxmlformats.org/drawingml/2006/table">
            <a:tbl>
              <a:tblPr/>
              <a:tblGrid>
                <a:gridCol w="1617345"/>
                <a:gridCol w="1370965"/>
                <a:gridCol w="1163955"/>
                <a:gridCol w="1805940"/>
                <a:gridCol w="2936875"/>
                <a:gridCol w="1604010"/>
              </a:tblGrid>
              <a:tr h="636905">
                <a:tc>
                  <a:txBody>
                    <a:bodyPr/>
                    <a:p>
                      <a:pPr marL="0" indent="0" algn="ctr" fontAlgn="ctr">
                        <a:spcBef>
                          <a:spcPct val="0"/>
                        </a:spcBef>
                        <a:spcAft>
                          <a:spcPct val="0"/>
                        </a:spcAft>
                      </a:pPr>
                      <a:r>
                        <a:rPr lang="zh-CN" altLang="en-US" sz="1400" b="1" i="0">
                          <a:latin typeface="楷体"/>
                          <a:ea typeface="楷体"/>
                        </a:rPr>
                        <a:t>阶段</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时间节点</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核心任务</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具体措施</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责任主体</a:t>
                      </a:r>
                      <a:r>
                        <a:rPr lang="zh-CN" altLang="en-US" sz="1400" b="1" i="0">
                          <a:latin typeface="楷体"/>
                          <a:ea typeface="楷体"/>
                        </a:rPr>
                        <a:t>（政策文件来源）</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预期成果</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r>
              <a:tr h="1925320">
                <a:tc>
                  <a:txBody>
                    <a:bodyPr/>
                    <a:p>
                      <a:pPr marL="0" indent="0" algn="ctr" fontAlgn="ctr">
                        <a:spcBef>
                          <a:spcPct val="0"/>
                        </a:spcBef>
                        <a:spcAft>
                          <a:spcPct val="0"/>
                        </a:spcAft>
                      </a:pPr>
                      <a:r>
                        <a:rPr lang="zh-CN" altLang="en-US" sz="1400" b="1" i="0">
                          <a:latin typeface="楷体"/>
                          <a:ea typeface="楷体"/>
                        </a:rPr>
                        <a:t>短期（</a:t>
                      </a:r>
                      <a:r>
                        <a:rPr lang="en-US" altLang="zh-CN" sz="1400" b="1" i="0">
                          <a:latin typeface="楷体"/>
                          <a:ea typeface="楷体"/>
                        </a:rPr>
                        <a:t>2025-2027</a:t>
                      </a:r>
                      <a:r>
                        <a:rPr lang="zh-CN" altLang="en-US" sz="1400" b="1" i="0">
                          <a:latin typeface="楷体"/>
                          <a:ea typeface="楷体"/>
                        </a:rPr>
                        <a:t>）</a:t>
                      </a:r>
                      <a:r>
                        <a:rPr lang="en-US" altLang="zh-CN" sz="1400" b="1" i="0">
                          <a:latin typeface="楷体"/>
                          <a:ea typeface="楷体"/>
                        </a:rPr>
                        <a:t>​</a:t>
                      </a:r>
                      <a:endParaRPr lang="en-US" altLang="zh-CN" sz="1400" b="1"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2025</a:t>
                      </a:r>
                      <a:r>
                        <a:rPr lang="zh-CN" altLang="en-US" sz="1400" i="0">
                          <a:latin typeface="楷体"/>
                          <a:ea typeface="楷体"/>
                        </a:rPr>
                        <a:t>年</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400" i="0">
                          <a:latin typeface="楷体"/>
                          <a:ea typeface="楷体"/>
                        </a:rPr>
                        <a:t>试点数字赋能工具与区域协作机制</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1. </a:t>
                      </a:r>
                      <a:r>
                        <a:rPr lang="zh-CN" altLang="en-US" sz="1400" i="0">
                          <a:latin typeface="楷体"/>
                          <a:ea typeface="楷体"/>
                        </a:rPr>
                        <a:t>在海南、上海等</a:t>
                      </a:r>
                      <a:r>
                        <a:rPr lang="en-US" altLang="zh-CN" sz="1400" i="0">
                          <a:latin typeface="楷体"/>
                          <a:ea typeface="楷体"/>
                        </a:rPr>
                        <a:t>5</a:t>
                      </a:r>
                      <a:r>
                        <a:rPr lang="zh-CN" altLang="en-US" sz="1400" i="0">
                          <a:latin typeface="楷体"/>
                          <a:ea typeface="楷体"/>
                        </a:rPr>
                        <a:t>省建立</a:t>
                      </a:r>
                      <a:r>
                        <a:rPr lang="en-US" altLang="zh-CN" sz="1400" i="0">
                          <a:latin typeface="楷体"/>
                          <a:ea typeface="楷体"/>
                        </a:rPr>
                        <a:t>RWE</a:t>
                      </a:r>
                      <a:r>
                        <a:rPr lang="zh-CN" altLang="en-US" sz="1400" i="0">
                          <a:latin typeface="楷体"/>
                          <a:ea typeface="楷体"/>
                        </a:rPr>
                        <a:t>数据平台；</a:t>
                      </a:r>
                      <a:br>
                        <a:rPr lang="zh-CN" altLang="en-US" sz="1400" i="0">
                          <a:latin typeface="楷体"/>
                          <a:ea typeface="楷体"/>
                        </a:rPr>
                      </a:br>
                      <a:r>
                        <a:rPr lang="en-US" altLang="zh-CN" sz="1400" i="0">
                          <a:latin typeface="楷体"/>
                          <a:ea typeface="楷体"/>
                        </a:rPr>
                        <a:t>2. </a:t>
                      </a:r>
                      <a:r>
                        <a:rPr lang="zh-CN" altLang="en-US" sz="1400" i="0">
                          <a:latin typeface="楷体"/>
                          <a:ea typeface="楷体"/>
                        </a:rPr>
                        <a:t>启动“中国</a:t>
                      </a:r>
                      <a:r>
                        <a:rPr lang="en-US" altLang="zh-CN" sz="1400" i="0">
                          <a:latin typeface="楷体"/>
                          <a:ea typeface="楷体"/>
                        </a:rPr>
                        <a:t>-</a:t>
                      </a:r>
                      <a:r>
                        <a:rPr lang="zh-CN" altLang="en-US" sz="1400" i="0">
                          <a:latin typeface="楷体"/>
                          <a:ea typeface="楷体"/>
                        </a:rPr>
                        <a:t>东盟</a:t>
                      </a:r>
                      <a:r>
                        <a:rPr lang="en-US" altLang="zh-CN" sz="1400" i="0">
                          <a:latin typeface="楷体"/>
                          <a:ea typeface="楷体"/>
                        </a:rPr>
                        <a:t>HTA</a:t>
                      </a:r>
                      <a:r>
                        <a:rPr lang="zh-CN" altLang="en-US" sz="1400" i="0">
                          <a:latin typeface="楷体"/>
                          <a:ea typeface="楷体"/>
                        </a:rPr>
                        <a:t>联盟”筹备。</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a:t>
                      </a:r>
                      <a:r>
                        <a:rPr lang="zh-CN" altLang="en-US" sz="1400" b="1" i="0">
                          <a:latin typeface="楷体"/>
                          <a:ea typeface="楷体"/>
                        </a:rPr>
                        <a:t>国家药监局</a:t>
                      </a:r>
                      <a:r>
                        <a:rPr lang="en-US" altLang="zh-CN" sz="1400" i="0">
                          <a:latin typeface="楷体"/>
                          <a:ea typeface="楷体"/>
                        </a:rPr>
                        <a:t>​</a:t>
                      </a:r>
                      <a:r>
                        <a:rPr lang="zh-CN" altLang="en-US" sz="1400" i="0">
                          <a:latin typeface="楷体"/>
                          <a:ea typeface="楷体"/>
                        </a:rPr>
                        <a:t>（</a:t>
                      </a:r>
                      <a:r>
                        <a:rPr lang="en-US" altLang="zh-CN" sz="1400" i="0">
                          <a:latin typeface="楷体"/>
                          <a:ea typeface="楷体"/>
                        </a:rPr>
                        <a:t>《</a:t>
                      </a:r>
                      <a:r>
                        <a:rPr lang="zh-CN" altLang="en-US" sz="1400" i="0">
                          <a:latin typeface="楷体"/>
                          <a:ea typeface="楷体"/>
                        </a:rPr>
                        <a:t>真实世界证据支持药物研发指导原则</a:t>
                      </a:r>
                      <a:r>
                        <a:rPr lang="en-US" altLang="zh-CN" sz="1400" i="0">
                          <a:latin typeface="楷体"/>
                          <a:ea typeface="楷体"/>
                        </a:rPr>
                        <a:t>》</a:t>
                      </a:r>
                      <a:r>
                        <a:rPr lang="zh-CN" altLang="en-US" sz="1400" i="0">
                          <a:latin typeface="楷体"/>
                          <a:ea typeface="楷体"/>
                        </a:rPr>
                        <a:t>，</a:t>
                      </a:r>
                      <a:r>
                        <a:rPr lang="en-US" altLang="zh-CN" sz="1400" i="0">
                          <a:latin typeface="楷体"/>
                          <a:ea typeface="楷体"/>
                        </a:rPr>
                        <a:t>2023</a:t>
                      </a:r>
                      <a:r>
                        <a:rPr lang="zh-CN" altLang="en-US" sz="1400" i="0">
                          <a:latin typeface="楷体"/>
                          <a:ea typeface="楷体"/>
                        </a:rPr>
                        <a:t>）；</a:t>
                      </a:r>
                      <a:br>
                        <a:rPr lang="zh-CN" altLang="en-US" sz="1400" i="0">
                          <a:latin typeface="楷体"/>
                          <a:ea typeface="楷体"/>
                        </a:rPr>
                      </a:br>
                      <a:r>
                        <a:rPr lang="zh-CN" altLang="en-US" sz="1400" b="1" i="0">
                          <a:latin typeface="楷体"/>
                          <a:ea typeface="楷体"/>
                        </a:rPr>
                        <a:t>商务部</a:t>
                      </a:r>
                      <a:r>
                        <a:rPr lang="en-US" altLang="zh-CN" sz="1400" i="0">
                          <a:latin typeface="楷体"/>
                          <a:ea typeface="楷体"/>
                        </a:rPr>
                        <a:t>​</a:t>
                      </a:r>
                      <a:r>
                        <a:rPr lang="zh-CN" altLang="en-US" sz="1400" i="0">
                          <a:latin typeface="楷体"/>
                          <a:ea typeface="楷体"/>
                        </a:rPr>
                        <a:t>（</a:t>
                      </a:r>
                      <a:r>
                        <a:rPr lang="en-US" altLang="zh-CN" sz="1400" i="0">
                          <a:latin typeface="楷体"/>
                          <a:ea typeface="楷体"/>
                        </a:rPr>
                        <a:t>《“</a:t>
                      </a:r>
                      <a:r>
                        <a:rPr lang="zh-CN" altLang="en-US" sz="1400" i="0">
                          <a:latin typeface="楷体"/>
                          <a:ea typeface="楷体"/>
                        </a:rPr>
                        <a:t>十四五”医药产业发展规划</a:t>
                      </a:r>
                      <a:r>
                        <a:rPr lang="en-US" altLang="zh-CN" sz="1400" i="0">
                          <a:latin typeface="楷体"/>
                          <a:ea typeface="楷体"/>
                        </a:rPr>
                        <a:t>》</a:t>
                      </a:r>
                      <a:r>
                        <a:rPr lang="zh-CN" altLang="en-US" sz="1400" i="0">
                          <a:latin typeface="楷体"/>
                          <a:ea typeface="楷体"/>
                        </a:rPr>
                        <a:t>，</a:t>
                      </a:r>
                      <a:r>
                        <a:rPr lang="en-US" altLang="zh-CN" sz="1400" i="0">
                          <a:latin typeface="楷体"/>
                          <a:ea typeface="楷体"/>
                        </a:rPr>
                        <a:t>2023</a:t>
                      </a:r>
                      <a:r>
                        <a:rPr lang="zh-CN" altLang="en-US" sz="1400" i="0">
                          <a:latin typeface="楷体"/>
                          <a:ea typeface="楷体"/>
                        </a:rPr>
                        <a:t>）</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RWE</a:t>
                      </a:r>
                      <a:r>
                        <a:rPr lang="zh-CN" altLang="en-US" sz="1400" i="0">
                          <a:latin typeface="楷体"/>
                          <a:ea typeface="楷体"/>
                        </a:rPr>
                        <a:t>平台数据合格率</a:t>
                      </a:r>
                      <a:r>
                        <a:rPr lang="en-US" altLang="zh-CN" sz="1400" i="0">
                          <a:latin typeface="楷体"/>
                          <a:ea typeface="楷体"/>
                        </a:rPr>
                        <a:t>≥90%</a:t>
                      </a:r>
                      <a:r>
                        <a:rPr lang="zh-CN" altLang="en-US" sz="1400" i="0">
                          <a:latin typeface="楷体"/>
                          <a:ea typeface="楷体"/>
                        </a:rPr>
                        <a:t>；东盟国家参与度</a:t>
                      </a:r>
                      <a:r>
                        <a:rPr lang="en-US" altLang="zh-CN" sz="1400" i="0">
                          <a:latin typeface="楷体"/>
                          <a:ea typeface="楷体"/>
                        </a:rPr>
                        <a:t>≥80%</a:t>
                      </a:r>
                      <a:endParaRPr lang="en-US" altLang="zh-CN" sz="1400" i="0">
                        <a:latin typeface="楷体"/>
                        <a:ea typeface="楷体"/>
                      </a:endParaRPr>
                    </a:p>
                  </a:txBody>
                  <a:tcPr marL="133350" marR="133350" marT="88265" marB="88265" anchor="ctr" anchorCtr="0">
                    <a:lnL>
                      <a:noFill/>
                    </a:lnL>
                    <a:lnR>
                      <a:noFill/>
                    </a:lnR>
                    <a:lnT>
                      <a:noFill/>
                    </a:lnT>
                    <a:lnB>
                      <a:noFill/>
                    </a:lnB>
                    <a:noFill/>
                  </a:tcPr>
                </a:tc>
              </a:tr>
              <a:tr h="2354580">
                <a:tc>
                  <a:txBody>
                    <a:bodyPr/>
                    <a:p>
                      <a:pPr marL="0" indent="0" algn="ctr">
                        <a:spcBef>
                          <a:spcPct val="0"/>
                        </a:spcBef>
                        <a:spcAft>
                          <a:spcPct val="0"/>
                        </a:spcAft>
                      </a:pPr>
                      <a:r>
                        <a:rPr lang="en-US" altLang="zh-CN" sz="1400" i="0">
                          <a:latin typeface="楷体"/>
                          <a:ea typeface="楷体"/>
                        </a:rPr>
                        <a:t> </a:t>
                      </a:r>
                      <a:endParaRPr lang="en-US" altLang="zh-CN"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2026</a:t>
                      </a:r>
                      <a:r>
                        <a:rPr lang="zh-CN" altLang="en-US" sz="1400" i="0">
                          <a:latin typeface="楷体"/>
                          <a:ea typeface="楷体"/>
                        </a:rPr>
                        <a:t>年</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400" i="0">
                          <a:latin typeface="楷体"/>
                          <a:ea typeface="楷体"/>
                        </a:rPr>
                        <a:t>优化研发驱动工具组合</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1. </a:t>
                      </a:r>
                      <a:r>
                        <a:rPr lang="zh-CN" altLang="en-US" sz="1400" i="0">
                          <a:latin typeface="楷体"/>
                          <a:ea typeface="楷体"/>
                        </a:rPr>
                        <a:t>推出“</a:t>
                      </a:r>
                      <a:r>
                        <a:rPr lang="en-US" altLang="zh-CN" sz="1400" i="0">
                          <a:latin typeface="楷体"/>
                          <a:ea typeface="楷体"/>
                        </a:rPr>
                        <a:t>AI</a:t>
                      </a:r>
                      <a:r>
                        <a:rPr lang="zh-CN" altLang="en-US" sz="1400" i="0">
                          <a:latin typeface="楷体"/>
                          <a:ea typeface="楷体"/>
                        </a:rPr>
                        <a:t>靶点发现平台”并开放企业接入；</a:t>
                      </a:r>
                      <a:br>
                        <a:rPr lang="zh-CN" altLang="en-US" sz="1400" i="0">
                          <a:latin typeface="楷体"/>
                          <a:ea typeface="楷体"/>
                        </a:rPr>
                      </a:br>
                      <a:r>
                        <a:rPr lang="en-US" altLang="zh-CN" sz="1400" i="0">
                          <a:latin typeface="楷体"/>
                          <a:ea typeface="楷体"/>
                        </a:rPr>
                        <a:t>2. </a:t>
                      </a:r>
                      <a:r>
                        <a:rPr lang="zh-CN" altLang="en-US" sz="1400" i="0">
                          <a:latin typeface="楷体"/>
                          <a:ea typeface="楷体"/>
                        </a:rPr>
                        <a:t>对</a:t>
                      </a:r>
                      <a:r>
                        <a:rPr lang="en-US" altLang="zh-CN" sz="1400" i="0">
                          <a:latin typeface="楷体"/>
                          <a:ea typeface="楷体"/>
                        </a:rPr>
                        <a:t>PD-1/L1</a:t>
                      </a:r>
                      <a:r>
                        <a:rPr lang="zh-CN" altLang="en-US" sz="1400" i="0">
                          <a:latin typeface="楷体"/>
                          <a:ea typeface="楷体"/>
                        </a:rPr>
                        <a:t>项目征收</a:t>
                      </a:r>
                      <a:r>
                        <a:rPr lang="en-US" altLang="zh-CN" sz="1400" i="0">
                          <a:latin typeface="楷体"/>
                          <a:ea typeface="楷体"/>
                        </a:rPr>
                        <a:t>5%</a:t>
                      </a:r>
                      <a:r>
                        <a:rPr lang="zh-CN" altLang="en-US" sz="1400" i="0">
                          <a:latin typeface="楷体"/>
                          <a:ea typeface="楷体"/>
                        </a:rPr>
                        <a:t>同质化竞争税。</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a:t>
                      </a:r>
                      <a:r>
                        <a:rPr lang="zh-CN" altLang="en-US" sz="1400" b="1" i="0">
                          <a:latin typeface="楷体"/>
                          <a:ea typeface="楷体"/>
                        </a:rPr>
                        <a:t>科技部</a:t>
                      </a:r>
                      <a:r>
                        <a:rPr lang="en-US" altLang="zh-CN" sz="1400" i="0">
                          <a:latin typeface="楷体"/>
                          <a:ea typeface="楷体"/>
                        </a:rPr>
                        <a:t>​</a:t>
                      </a:r>
                      <a:r>
                        <a:rPr lang="zh-CN" altLang="en-US" sz="1400" i="0">
                          <a:latin typeface="楷体"/>
                          <a:ea typeface="楷体"/>
                        </a:rPr>
                        <a:t>（</a:t>
                      </a:r>
                      <a:r>
                        <a:rPr lang="en-US" altLang="zh-CN" sz="1400" i="0">
                          <a:latin typeface="楷体"/>
                          <a:ea typeface="楷体"/>
                        </a:rPr>
                        <a:t>《</a:t>
                      </a:r>
                      <a:r>
                        <a:rPr lang="zh-CN" altLang="en-US" sz="1400" i="0">
                          <a:latin typeface="楷体"/>
                          <a:ea typeface="楷体"/>
                        </a:rPr>
                        <a:t>新一代人工智能发展规划</a:t>
                      </a:r>
                      <a:r>
                        <a:rPr lang="en-US" altLang="zh-CN" sz="1400" i="0">
                          <a:latin typeface="楷体"/>
                          <a:ea typeface="楷体"/>
                        </a:rPr>
                        <a:t>》</a:t>
                      </a:r>
                      <a:r>
                        <a:rPr lang="zh-CN" altLang="en-US" sz="1400" i="0">
                          <a:latin typeface="楷体"/>
                          <a:ea typeface="楷体"/>
                        </a:rPr>
                        <a:t>，</a:t>
                      </a:r>
                      <a:r>
                        <a:rPr lang="en-US" altLang="zh-CN" sz="1400" i="0">
                          <a:latin typeface="楷体"/>
                          <a:ea typeface="楷体"/>
                        </a:rPr>
                        <a:t>2022</a:t>
                      </a:r>
                      <a:r>
                        <a:rPr lang="zh-CN" altLang="en-US" sz="1400" i="0">
                          <a:latin typeface="楷体"/>
                          <a:ea typeface="楷体"/>
                        </a:rPr>
                        <a:t>）；</a:t>
                      </a:r>
                      <a:br>
                        <a:rPr lang="zh-CN" altLang="en-US" sz="1400" i="0">
                          <a:latin typeface="楷体"/>
                          <a:ea typeface="楷体"/>
                        </a:rPr>
                      </a:br>
                      <a:r>
                        <a:rPr lang="zh-CN" altLang="en-US" sz="1400" b="1" i="0">
                          <a:latin typeface="楷体"/>
                          <a:ea typeface="楷体"/>
                        </a:rPr>
                        <a:t>财政部</a:t>
                      </a:r>
                      <a:r>
                        <a:rPr lang="en-US" altLang="zh-CN" sz="1400" i="0">
                          <a:latin typeface="楷体"/>
                          <a:ea typeface="楷体"/>
                        </a:rPr>
                        <a:t>​</a:t>
                      </a:r>
                      <a:r>
                        <a:rPr lang="zh-CN" altLang="en-US" sz="1400" i="0">
                          <a:latin typeface="楷体"/>
                          <a:ea typeface="楷体"/>
                        </a:rPr>
                        <a:t>（</a:t>
                      </a:r>
                      <a:r>
                        <a:rPr lang="en-US" altLang="zh-CN" sz="1400" i="0">
                          <a:latin typeface="楷体"/>
                          <a:ea typeface="楷体"/>
                        </a:rPr>
                        <a:t>《</a:t>
                      </a:r>
                      <a:r>
                        <a:rPr lang="zh-CN" altLang="en-US" sz="1400" i="0">
                          <a:latin typeface="楷体"/>
                          <a:ea typeface="楷体"/>
                        </a:rPr>
                        <a:t>关于完善生物医药产业财税政策的意见</a:t>
                      </a:r>
                      <a:r>
                        <a:rPr lang="en-US" altLang="zh-CN" sz="1400" i="0">
                          <a:latin typeface="楷体"/>
                          <a:ea typeface="楷体"/>
                        </a:rPr>
                        <a:t>》</a:t>
                      </a:r>
                      <a:r>
                        <a:rPr lang="zh-CN" altLang="en-US" sz="1400" i="0">
                          <a:latin typeface="楷体"/>
                          <a:ea typeface="楷体"/>
                        </a:rPr>
                        <a:t>，</a:t>
                      </a:r>
                      <a:r>
                        <a:rPr lang="en-US" altLang="zh-CN" sz="1400" i="0">
                          <a:latin typeface="楷体"/>
                          <a:ea typeface="楷体"/>
                        </a:rPr>
                        <a:t>2024</a:t>
                      </a:r>
                      <a:r>
                        <a:rPr lang="zh-CN" altLang="en-US" sz="1400" i="0">
                          <a:latin typeface="楷体"/>
                          <a:ea typeface="楷体"/>
                        </a:rPr>
                        <a:t>）</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AI</a:t>
                      </a:r>
                      <a:r>
                        <a:rPr lang="zh-CN" altLang="en-US" sz="1400" i="0">
                          <a:latin typeface="楷体"/>
                          <a:ea typeface="楷体"/>
                        </a:rPr>
                        <a:t>平台筛选出</a:t>
                      </a:r>
                      <a:r>
                        <a:rPr lang="en-US" altLang="zh-CN" sz="1400" i="0">
                          <a:latin typeface="楷体"/>
                          <a:ea typeface="楷体"/>
                        </a:rPr>
                        <a:t>10</a:t>
                      </a:r>
                      <a:r>
                        <a:rPr lang="zh-CN" altLang="en-US" sz="1400" i="0">
                          <a:latin typeface="楷体"/>
                          <a:ea typeface="楷体"/>
                        </a:rPr>
                        <a:t>个新靶点；同质化项目减少</a:t>
                      </a:r>
                      <a:r>
                        <a:rPr lang="en-US" altLang="zh-CN" sz="1400" i="0">
                          <a:latin typeface="楷体"/>
                          <a:ea typeface="楷体"/>
                        </a:rPr>
                        <a:t>50%</a:t>
                      </a:r>
                      <a:endParaRPr lang="en-US" altLang="zh-CN" sz="1400" i="0">
                        <a:latin typeface="楷体"/>
                        <a:ea typeface="楷体"/>
                      </a:endParaRPr>
                    </a:p>
                  </a:txBody>
                  <a:tcPr marL="133350" marR="133350" marT="88265" marB="88265" anchor="ctr" anchorCtr="0">
                    <a:lnL>
                      <a:noFill/>
                    </a:lnL>
                    <a:lnR>
                      <a:noFill/>
                    </a:lnR>
                    <a:lnT>
                      <a:noFill/>
                    </a:lnT>
                    <a:lnB>
                      <a:noFill/>
                    </a:lnB>
                    <a:no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171450" y="177800"/>
            <a:ext cx="13741400" cy="419100"/>
          </a:xfrm>
          <a:prstGeom prst="rect">
            <a:avLst/>
          </a:prstGeom>
          <a:noFill/>
        </p:spPr>
        <p:txBody>
          <a:bodyPr vert="horz" wrap="square" lIns="0" tIns="0" rIns="0" bIns="0" rtlCol="0" anchor="ctr">
            <a:spAutoFit/>
          </a:bodyPr>
          <a:lstStyle/>
          <a:p>
            <a:pPr algn="l">
              <a:lnSpc>
                <a:spcPct val="110000"/>
              </a:lnSpc>
            </a:pPr>
            <a:r>
              <a:rPr kumimoji="1" lang="en-US" altLang="zh-CN" sz="3000">
                <a:ln w="12700">
                  <a:noFill/>
                </a:ln>
                <a:solidFill>
                  <a:srgbClr val="333333">
                    <a:alpha val="100000"/>
                  </a:srgbClr>
                </a:solidFill>
                <a:latin typeface="Source Han Sans CN Bold"/>
                <a:ea typeface="Source Han Sans CN Bold"/>
                <a:cs typeface="Source Han Sans CN Bold"/>
              </a:rPr>
              <a:t>中期阶段（2028-2030）：制度推广与国际规则参与</a:t>
            </a:r>
            <a:endParaRPr kumimoji="1" lang="zh-CN" altLang="en-US"/>
          </a:p>
        </p:txBody>
      </p:sp>
      <p:sp>
        <p:nvSpPr>
          <p:cNvPr id="4" name="标题 1"/>
          <p:cNvSpPr txBox="1"/>
          <p:nvPr/>
        </p:nvSpPr>
        <p:spPr>
          <a:xfrm>
            <a:off x="0" y="5974984"/>
            <a:ext cx="940183" cy="883015"/>
          </a:xfrm>
          <a:prstGeom prst="rect">
            <a:avLst/>
          </a:prstGeom>
          <a:solidFill>
            <a:schemeClr val="bg1">
              <a:lumMod val="95000"/>
            </a:schemeClr>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graphicFrame>
        <p:nvGraphicFramePr>
          <p:cNvPr id="9" name="表格 8"/>
          <p:cNvGraphicFramePr/>
          <p:nvPr>
            <p:custDataLst>
              <p:tags r:id="rId1"/>
            </p:custDataLst>
          </p:nvPr>
        </p:nvGraphicFramePr>
        <p:xfrm>
          <a:off x="551180" y="1484630"/>
          <a:ext cx="10801985" cy="4265295"/>
        </p:xfrm>
        <a:graphic>
          <a:graphicData uri="http://schemas.openxmlformats.org/drawingml/2006/table">
            <a:tbl>
              <a:tblPr/>
              <a:tblGrid>
                <a:gridCol w="1663700"/>
                <a:gridCol w="1411605"/>
                <a:gridCol w="1196975"/>
                <a:gridCol w="1858010"/>
                <a:gridCol w="3021330"/>
                <a:gridCol w="1650365"/>
              </a:tblGrid>
              <a:tr h="569595">
                <a:tc>
                  <a:txBody>
                    <a:bodyPr/>
                    <a:p>
                      <a:pPr marL="0" indent="0" algn="ctr" fontAlgn="ctr">
                        <a:spcBef>
                          <a:spcPct val="0"/>
                        </a:spcBef>
                        <a:spcAft>
                          <a:spcPct val="0"/>
                        </a:spcAft>
                      </a:pPr>
                      <a:r>
                        <a:rPr lang="zh-CN" altLang="en-US" sz="1400" b="1" i="0">
                          <a:latin typeface="楷体"/>
                          <a:ea typeface="楷体"/>
                        </a:rPr>
                        <a:t>阶段</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时间节点</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核心任务</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具体措施</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责任主体</a:t>
                      </a:r>
                      <a:r>
                        <a:rPr lang="zh-CN" altLang="en-US" sz="1400" b="1" i="0">
                          <a:latin typeface="楷体"/>
                          <a:ea typeface="楷体"/>
                        </a:rPr>
                        <a:t>（政策文件来源）</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预期成果</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r>
              <a:tr h="1847850">
                <a:tc>
                  <a:txBody>
                    <a:bodyPr/>
                    <a:p>
                      <a:pPr marL="0" indent="0" algn="ctr" fontAlgn="ctr">
                        <a:spcBef>
                          <a:spcPct val="0"/>
                        </a:spcBef>
                        <a:spcAft>
                          <a:spcPct val="0"/>
                        </a:spcAft>
                      </a:pPr>
                      <a:r>
                        <a:rPr lang="zh-CN" altLang="en-US" sz="1400" b="1" i="0">
                          <a:latin typeface="楷体"/>
                          <a:ea typeface="楷体"/>
                        </a:rPr>
                        <a:t>中期（</a:t>
                      </a:r>
                      <a:r>
                        <a:rPr lang="en-US" altLang="zh-CN" sz="1400" b="1" i="0">
                          <a:latin typeface="楷体"/>
                          <a:ea typeface="楷体"/>
                        </a:rPr>
                        <a:t>2028-2030</a:t>
                      </a:r>
                      <a:r>
                        <a:rPr lang="zh-CN" altLang="en-US" sz="1400" b="1" i="0">
                          <a:latin typeface="楷体"/>
                          <a:ea typeface="楷体"/>
                        </a:rPr>
                        <a:t>）</a:t>
                      </a:r>
                      <a:r>
                        <a:rPr lang="en-US" altLang="zh-CN" sz="1400" b="1" i="0">
                          <a:latin typeface="楷体"/>
                          <a:ea typeface="楷体"/>
                        </a:rPr>
                        <a:t>​</a:t>
                      </a:r>
                      <a:endParaRPr lang="en-US" altLang="zh-CN" sz="1400" b="1"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2028</a:t>
                      </a:r>
                      <a:r>
                        <a:rPr lang="zh-CN" altLang="en-US" sz="1400" i="0">
                          <a:latin typeface="楷体"/>
                          <a:ea typeface="楷体"/>
                        </a:rPr>
                        <a:t>年</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400" i="0">
                          <a:latin typeface="楷体"/>
                          <a:ea typeface="楷体"/>
                        </a:rPr>
                        <a:t>全国推广支付改革与制度突破</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1. </a:t>
                      </a:r>
                      <a:r>
                        <a:rPr lang="zh-CN" altLang="en-US" sz="1400" i="0">
                          <a:latin typeface="楷体"/>
                          <a:ea typeface="楷体"/>
                        </a:rPr>
                        <a:t>医保预算单列创新药支出；</a:t>
                      </a:r>
                      <a:br>
                        <a:rPr lang="zh-CN" altLang="en-US" sz="1400" i="0">
                          <a:latin typeface="楷体"/>
                          <a:ea typeface="楷体"/>
                        </a:rPr>
                      </a:br>
                      <a:r>
                        <a:rPr lang="en-US" altLang="zh-CN" sz="1400" i="0">
                          <a:latin typeface="楷体"/>
                          <a:ea typeface="楷体"/>
                        </a:rPr>
                        <a:t>2. </a:t>
                      </a:r>
                      <a:r>
                        <a:rPr lang="zh-CN" altLang="en-US" sz="1400" i="0">
                          <a:latin typeface="楷体"/>
                          <a:ea typeface="楷体"/>
                        </a:rPr>
                        <a:t>将罕见病</a:t>
                      </a:r>
                      <a:r>
                        <a:rPr lang="en-US" altLang="zh-CN" sz="1400" i="0">
                          <a:latin typeface="楷体"/>
                          <a:ea typeface="楷体"/>
                        </a:rPr>
                        <a:t>III</a:t>
                      </a:r>
                      <a:r>
                        <a:rPr lang="zh-CN" altLang="en-US" sz="1400" i="0">
                          <a:latin typeface="楷体"/>
                          <a:ea typeface="楷体"/>
                        </a:rPr>
                        <a:t>期试验样本量降至</a:t>
                      </a:r>
                      <a:r>
                        <a:rPr lang="en-US" altLang="zh-CN" sz="1400" i="0">
                          <a:latin typeface="楷体"/>
                          <a:ea typeface="楷体"/>
                        </a:rPr>
                        <a:t>30</a:t>
                      </a:r>
                      <a:r>
                        <a:rPr lang="zh-CN" altLang="en-US" sz="1400" i="0">
                          <a:latin typeface="楷体"/>
                          <a:ea typeface="楷体"/>
                        </a:rPr>
                        <a:t>例（欧盟标准）。</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a:t>
                      </a:r>
                      <a:r>
                        <a:rPr lang="zh-CN" altLang="en-US" sz="1400" b="1" i="0">
                          <a:latin typeface="楷体"/>
                          <a:ea typeface="楷体"/>
                        </a:rPr>
                        <a:t>国家医保局</a:t>
                      </a:r>
                      <a:r>
                        <a:rPr lang="en-US" altLang="zh-CN" sz="1400" i="0">
                          <a:latin typeface="楷体"/>
                          <a:ea typeface="楷体"/>
                        </a:rPr>
                        <a:t>​</a:t>
                      </a:r>
                      <a:r>
                        <a:rPr lang="zh-CN" altLang="en-US" sz="1400" i="0">
                          <a:latin typeface="楷体"/>
                          <a:ea typeface="楷体"/>
                        </a:rPr>
                        <a:t>（</a:t>
                      </a:r>
                      <a:r>
                        <a:rPr lang="en-US" altLang="zh-CN" sz="1400" i="0">
                          <a:latin typeface="楷体"/>
                          <a:ea typeface="楷体"/>
                        </a:rPr>
                        <a:t>《</a:t>
                      </a:r>
                      <a:r>
                        <a:rPr lang="zh-CN" altLang="en-US" sz="1400" i="0">
                          <a:latin typeface="楷体"/>
                          <a:ea typeface="楷体"/>
                        </a:rPr>
                        <a:t>关于深化医保支付方式改革的指导意见</a:t>
                      </a:r>
                      <a:r>
                        <a:rPr lang="en-US" altLang="zh-CN" sz="1400" i="0">
                          <a:latin typeface="楷体"/>
                          <a:ea typeface="楷体"/>
                        </a:rPr>
                        <a:t>》</a:t>
                      </a:r>
                      <a:r>
                        <a:rPr lang="zh-CN" altLang="en-US" sz="1400" i="0">
                          <a:latin typeface="楷体"/>
                          <a:ea typeface="楷体"/>
                        </a:rPr>
                        <a:t>，</a:t>
                      </a:r>
                      <a:r>
                        <a:rPr lang="en-US" altLang="zh-CN" sz="1400" i="0">
                          <a:latin typeface="楷体"/>
                          <a:ea typeface="楷体"/>
                        </a:rPr>
                        <a:t>2025</a:t>
                      </a:r>
                      <a:r>
                        <a:rPr lang="zh-CN" altLang="en-US" sz="1400" i="0">
                          <a:latin typeface="楷体"/>
                          <a:ea typeface="楷体"/>
                        </a:rPr>
                        <a:t>）；</a:t>
                      </a:r>
                      <a:br>
                        <a:rPr lang="zh-CN" altLang="en-US" sz="1400" i="0">
                          <a:latin typeface="楷体"/>
                          <a:ea typeface="楷体"/>
                        </a:rPr>
                      </a:br>
                      <a:r>
                        <a:rPr lang="zh-CN" altLang="en-US" sz="1400" b="1" i="0">
                          <a:latin typeface="楷体"/>
                          <a:ea typeface="楷体"/>
                        </a:rPr>
                        <a:t>国家药监局</a:t>
                      </a:r>
                      <a:r>
                        <a:rPr lang="en-US" altLang="zh-CN" sz="1400" i="0">
                          <a:latin typeface="楷体"/>
                          <a:ea typeface="楷体"/>
                        </a:rPr>
                        <a:t>​</a:t>
                      </a:r>
                      <a:r>
                        <a:rPr lang="zh-CN" altLang="en-US" sz="1400" i="0">
                          <a:latin typeface="楷体"/>
                          <a:ea typeface="楷体"/>
                        </a:rPr>
                        <a:t>（</a:t>
                      </a:r>
                      <a:r>
                        <a:rPr lang="en-US" altLang="zh-CN" sz="1400" i="0">
                          <a:latin typeface="楷体"/>
                          <a:ea typeface="楷体"/>
                        </a:rPr>
                        <a:t>《</a:t>
                      </a:r>
                      <a:r>
                        <a:rPr lang="zh-CN" altLang="en-US" sz="1400" i="0">
                          <a:latin typeface="楷体"/>
                          <a:ea typeface="楷体"/>
                        </a:rPr>
                        <a:t>罕见病药物临床研发技术指导原则</a:t>
                      </a:r>
                      <a:r>
                        <a:rPr lang="en-US" altLang="zh-CN" sz="1400" i="0">
                          <a:latin typeface="楷体"/>
                          <a:ea typeface="楷体"/>
                        </a:rPr>
                        <a:t>》</a:t>
                      </a:r>
                      <a:r>
                        <a:rPr lang="zh-CN" altLang="en-US" sz="1400" i="0">
                          <a:latin typeface="楷体"/>
                          <a:ea typeface="楷体"/>
                        </a:rPr>
                        <a:t>，</a:t>
                      </a:r>
                      <a:r>
                        <a:rPr lang="en-US" altLang="zh-CN" sz="1400" i="0">
                          <a:latin typeface="楷体"/>
                          <a:ea typeface="楷体"/>
                        </a:rPr>
                        <a:t>2027</a:t>
                      </a:r>
                      <a:r>
                        <a:rPr lang="zh-CN" altLang="en-US" sz="1400" i="0">
                          <a:latin typeface="楷体"/>
                          <a:ea typeface="楷体"/>
                        </a:rPr>
                        <a:t>）</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400" i="0">
                          <a:latin typeface="楷体"/>
                          <a:ea typeface="楷体"/>
                        </a:rPr>
                        <a:t>创新药医保覆盖率提升至</a:t>
                      </a:r>
                      <a:r>
                        <a:rPr lang="en-US" altLang="zh-CN" sz="1400" i="0">
                          <a:latin typeface="楷体"/>
                          <a:ea typeface="楷体"/>
                        </a:rPr>
                        <a:t>40%</a:t>
                      </a:r>
                      <a:r>
                        <a:rPr lang="zh-CN" altLang="en-US" sz="1400" i="0">
                          <a:latin typeface="楷体"/>
                          <a:ea typeface="楷体"/>
                        </a:rPr>
                        <a:t>；罕见病药上市时间缩短</a:t>
                      </a:r>
                      <a:r>
                        <a:rPr lang="en-US" altLang="zh-CN" sz="1400" i="0">
                          <a:latin typeface="楷体"/>
                          <a:ea typeface="楷体"/>
                        </a:rPr>
                        <a:t>1</a:t>
                      </a:r>
                      <a:r>
                        <a:rPr lang="zh-CN" altLang="en-US" sz="1400" i="0">
                          <a:latin typeface="楷体"/>
                          <a:ea typeface="楷体"/>
                        </a:rPr>
                        <a:t>年</a:t>
                      </a:r>
                      <a:endParaRPr lang="zh-CN" altLang="en-US" sz="1400" i="0">
                        <a:latin typeface="楷体"/>
                        <a:ea typeface="楷体"/>
                      </a:endParaRPr>
                    </a:p>
                  </a:txBody>
                  <a:tcPr marL="133350" marR="133350" marT="88265" marB="88265" anchor="ctr" anchorCtr="0">
                    <a:lnL>
                      <a:noFill/>
                    </a:lnL>
                    <a:lnR>
                      <a:noFill/>
                    </a:lnR>
                    <a:lnT>
                      <a:noFill/>
                    </a:lnT>
                    <a:lnB>
                      <a:noFill/>
                    </a:lnB>
                    <a:noFill/>
                  </a:tcPr>
                </a:tc>
              </a:tr>
              <a:tr h="1847850">
                <a:tc>
                  <a:txBody>
                    <a:bodyPr/>
                    <a:p>
                      <a:pPr marL="0" indent="0" algn="ctr">
                        <a:spcBef>
                          <a:spcPct val="0"/>
                        </a:spcBef>
                        <a:spcAft>
                          <a:spcPct val="0"/>
                        </a:spcAft>
                      </a:pPr>
                      <a:r>
                        <a:rPr lang="en-US" altLang="zh-CN" sz="1400" i="0">
                          <a:latin typeface="楷体"/>
                          <a:ea typeface="楷体"/>
                        </a:rPr>
                        <a:t> </a:t>
                      </a:r>
                      <a:endParaRPr lang="en-US" altLang="zh-CN"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2029</a:t>
                      </a:r>
                      <a:r>
                        <a:rPr lang="zh-CN" altLang="en-US" sz="1400" i="0">
                          <a:latin typeface="楷体"/>
                          <a:ea typeface="楷体"/>
                        </a:rPr>
                        <a:t>年</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400" i="0">
                          <a:latin typeface="楷体"/>
                          <a:ea typeface="楷体"/>
                        </a:rPr>
                        <a:t>主导国际规则制定</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1. </a:t>
                      </a:r>
                      <a:r>
                        <a:rPr lang="zh-CN" altLang="en-US" sz="1400" i="0">
                          <a:latin typeface="楷体"/>
                          <a:ea typeface="楷体"/>
                        </a:rPr>
                        <a:t>与</a:t>
                      </a:r>
                      <a:r>
                        <a:rPr lang="en-US" altLang="zh-CN" sz="1400" i="0">
                          <a:latin typeface="楷体"/>
                          <a:ea typeface="楷体"/>
                        </a:rPr>
                        <a:t>FDA</a:t>
                      </a:r>
                      <a:r>
                        <a:rPr lang="zh-CN" altLang="en-US" sz="1400" i="0">
                          <a:latin typeface="楷体"/>
                          <a:ea typeface="楷体"/>
                        </a:rPr>
                        <a:t>、</a:t>
                      </a:r>
                      <a:r>
                        <a:rPr lang="en-US" altLang="zh-CN" sz="1400" i="0">
                          <a:latin typeface="楷体"/>
                          <a:ea typeface="楷体"/>
                        </a:rPr>
                        <a:t>EMA</a:t>
                      </a:r>
                      <a:r>
                        <a:rPr lang="zh-CN" altLang="en-US" sz="1400" i="0">
                          <a:latin typeface="楷体"/>
                          <a:ea typeface="楷体"/>
                        </a:rPr>
                        <a:t>签署</a:t>
                      </a:r>
                      <a:r>
                        <a:rPr lang="en-US" altLang="zh-CN" sz="1400" i="0">
                          <a:latin typeface="楷体"/>
                          <a:ea typeface="楷体"/>
                        </a:rPr>
                        <a:t>RWE</a:t>
                      </a:r>
                      <a:r>
                        <a:rPr lang="zh-CN" altLang="en-US" sz="1400" i="0">
                          <a:latin typeface="楷体"/>
                          <a:ea typeface="楷体"/>
                        </a:rPr>
                        <a:t>数据互认协议；</a:t>
                      </a:r>
                      <a:br>
                        <a:rPr lang="zh-CN" altLang="en-US" sz="1400" i="0">
                          <a:latin typeface="楷体"/>
                          <a:ea typeface="楷体"/>
                        </a:rPr>
                      </a:br>
                      <a:r>
                        <a:rPr lang="en-US" altLang="zh-CN" sz="1400" i="0">
                          <a:latin typeface="楷体"/>
                          <a:ea typeface="楷体"/>
                        </a:rPr>
                        <a:t>2. </a:t>
                      </a:r>
                      <a:r>
                        <a:rPr lang="zh-CN" altLang="en-US" sz="1400" i="0">
                          <a:latin typeface="楷体"/>
                          <a:ea typeface="楷体"/>
                        </a:rPr>
                        <a:t>提交</a:t>
                      </a:r>
                      <a:r>
                        <a:rPr lang="en-US" altLang="zh-CN" sz="1400" i="0">
                          <a:latin typeface="楷体"/>
                          <a:ea typeface="楷体"/>
                        </a:rPr>
                        <a:t>ICH</a:t>
                      </a:r>
                      <a:r>
                        <a:rPr lang="zh-CN" altLang="en-US" sz="1400" i="0">
                          <a:latin typeface="楷体"/>
                          <a:ea typeface="楷体"/>
                        </a:rPr>
                        <a:t>指南修订提案（中国标准纳入）。</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400" i="0">
                          <a:latin typeface="楷体"/>
                          <a:ea typeface="楷体"/>
                        </a:rPr>
                        <a:t>​</a:t>
                      </a:r>
                      <a:r>
                        <a:rPr lang="zh-CN" altLang="en-US" sz="1400" b="1" i="0">
                          <a:latin typeface="楷体"/>
                          <a:ea typeface="楷体"/>
                        </a:rPr>
                        <a:t>国家药监局</a:t>
                      </a:r>
                      <a:r>
                        <a:rPr lang="en-US" altLang="zh-CN" sz="1400" i="0">
                          <a:latin typeface="楷体"/>
                          <a:ea typeface="楷体"/>
                        </a:rPr>
                        <a:t>​</a:t>
                      </a:r>
                      <a:r>
                        <a:rPr lang="zh-CN" altLang="en-US" sz="1400" i="0">
                          <a:latin typeface="楷体"/>
                          <a:ea typeface="楷体"/>
                        </a:rPr>
                        <a:t>（</a:t>
                      </a:r>
                      <a:r>
                        <a:rPr lang="en-US" altLang="zh-CN" sz="1400" i="0">
                          <a:latin typeface="楷体"/>
                          <a:ea typeface="楷体"/>
                        </a:rPr>
                        <a:t>《</a:t>
                      </a:r>
                      <a:r>
                        <a:rPr lang="zh-CN" altLang="en-US" sz="1400" i="0">
                          <a:latin typeface="楷体"/>
                          <a:ea typeface="楷体"/>
                        </a:rPr>
                        <a:t>国际人用药品注册技术协调会（</a:t>
                      </a:r>
                      <a:r>
                        <a:rPr lang="en-US" altLang="zh-CN" sz="1400" i="0">
                          <a:latin typeface="楷体"/>
                          <a:ea typeface="楷体"/>
                        </a:rPr>
                        <a:t>ICH</a:t>
                      </a:r>
                      <a:r>
                        <a:rPr lang="zh-CN" altLang="en-US" sz="1400" i="0">
                          <a:latin typeface="楷体"/>
                          <a:ea typeface="楷体"/>
                        </a:rPr>
                        <a:t>）工作计划</a:t>
                      </a:r>
                      <a:r>
                        <a:rPr lang="en-US" altLang="zh-CN" sz="1400" i="0">
                          <a:latin typeface="楷体"/>
                          <a:ea typeface="楷体"/>
                        </a:rPr>
                        <a:t>》</a:t>
                      </a:r>
                      <a:r>
                        <a:rPr lang="zh-CN" altLang="en-US" sz="1400" i="0">
                          <a:latin typeface="楷体"/>
                          <a:ea typeface="楷体"/>
                        </a:rPr>
                        <a:t>，</a:t>
                      </a:r>
                      <a:r>
                        <a:rPr lang="en-US" altLang="zh-CN" sz="1400" i="0">
                          <a:latin typeface="楷体"/>
                          <a:ea typeface="楷体"/>
                        </a:rPr>
                        <a:t>2028</a:t>
                      </a:r>
                      <a:r>
                        <a:rPr lang="zh-CN" altLang="en-US" sz="1400" i="0">
                          <a:latin typeface="楷体"/>
                          <a:ea typeface="楷体"/>
                        </a:rPr>
                        <a:t>）；</a:t>
                      </a:r>
                      <a:br>
                        <a:rPr lang="zh-CN" altLang="en-US" sz="1400" i="0">
                          <a:latin typeface="楷体"/>
                          <a:ea typeface="楷体"/>
                        </a:rPr>
                      </a:br>
                      <a:r>
                        <a:rPr lang="zh-CN" altLang="en-US" sz="1400" b="1" i="0">
                          <a:latin typeface="楷体"/>
                          <a:ea typeface="楷体"/>
                        </a:rPr>
                        <a:t>外交部</a:t>
                      </a:r>
                      <a:r>
                        <a:rPr lang="en-US" altLang="zh-CN" sz="1400" i="0">
                          <a:latin typeface="楷体"/>
                          <a:ea typeface="楷体"/>
                        </a:rPr>
                        <a:t>​</a:t>
                      </a:r>
                      <a:r>
                        <a:rPr lang="zh-CN" altLang="en-US" sz="1400" i="0">
                          <a:latin typeface="楷体"/>
                          <a:ea typeface="楷体"/>
                        </a:rPr>
                        <a:t>（</a:t>
                      </a:r>
                      <a:r>
                        <a:rPr lang="en-US" altLang="zh-CN" sz="1400" i="0">
                          <a:latin typeface="楷体"/>
                          <a:ea typeface="楷体"/>
                        </a:rPr>
                        <a:t>《</a:t>
                      </a:r>
                      <a:r>
                        <a:rPr lang="zh-CN" altLang="en-US" sz="1400" i="0">
                          <a:latin typeface="楷体"/>
                          <a:ea typeface="楷体"/>
                        </a:rPr>
                        <a:t>健康丝绸之路合作规划纲要</a:t>
                      </a:r>
                      <a:r>
                        <a:rPr lang="en-US" altLang="zh-CN" sz="1400" i="0">
                          <a:latin typeface="楷体"/>
                          <a:ea typeface="楷体"/>
                        </a:rPr>
                        <a:t>》</a:t>
                      </a:r>
                      <a:r>
                        <a:rPr lang="zh-CN" altLang="en-US" sz="1400" i="0">
                          <a:latin typeface="楷体"/>
                          <a:ea typeface="楷体"/>
                        </a:rPr>
                        <a:t>，</a:t>
                      </a:r>
                      <a:r>
                        <a:rPr lang="en-US" altLang="zh-CN" sz="1400" i="0">
                          <a:latin typeface="楷体"/>
                          <a:ea typeface="楷体"/>
                        </a:rPr>
                        <a:t>2029</a:t>
                      </a:r>
                      <a:r>
                        <a:rPr lang="zh-CN" altLang="en-US" sz="1400" i="0">
                          <a:latin typeface="楷体"/>
                          <a:ea typeface="楷体"/>
                        </a:rPr>
                        <a:t>）</a:t>
                      </a:r>
                      <a:endParaRPr lang="zh-CN" altLang="en-US" sz="14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400" i="0">
                          <a:latin typeface="楷体"/>
                          <a:ea typeface="楷体"/>
                        </a:rPr>
                        <a:t>中美双报时间差缩短至</a:t>
                      </a:r>
                      <a:r>
                        <a:rPr lang="en-US" altLang="zh-CN" sz="1400" i="0">
                          <a:latin typeface="楷体"/>
                          <a:ea typeface="楷体"/>
                        </a:rPr>
                        <a:t>6</a:t>
                      </a:r>
                      <a:r>
                        <a:rPr lang="zh-CN" altLang="en-US" sz="1400" i="0">
                          <a:latin typeface="楷体"/>
                          <a:ea typeface="楷体"/>
                        </a:rPr>
                        <a:t>个月；</a:t>
                      </a:r>
                      <a:r>
                        <a:rPr lang="en-US" altLang="zh-CN" sz="1400" i="0">
                          <a:latin typeface="楷体"/>
                          <a:ea typeface="楷体"/>
                        </a:rPr>
                        <a:t>ICH</a:t>
                      </a:r>
                      <a:r>
                        <a:rPr lang="zh-CN" altLang="en-US" sz="1400" i="0">
                          <a:latin typeface="楷体"/>
                          <a:ea typeface="楷体"/>
                        </a:rPr>
                        <a:t>采纳</a:t>
                      </a:r>
                      <a:r>
                        <a:rPr lang="en-US" altLang="zh-CN" sz="1400" i="0">
                          <a:latin typeface="楷体"/>
                          <a:ea typeface="楷体"/>
                        </a:rPr>
                        <a:t>3</a:t>
                      </a:r>
                      <a:r>
                        <a:rPr lang="zh-CN" altLang="en-US" sz="1400" i="0">
                          <a:latin typeface="楷体"/>
                          <a:ea typeface="楷体"/>
                        </a:rPr>
                        <a:t>项中国审评标准</a:t>
                      </a:r>
                      <a:endParaRPr lang="zh-CN" altLang="en-US" sz="1400" i="0">
                        <a:latin typeface="楷体"/>
                        <a:ea typeface="楷体"/>
                      </a:endParaRPr>
                    </a:p>
                  </a:txBody>
                  <a:tcPr marL="133350" marR="133350" marT="88265" marB="88265" anchor="ctr"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171450" y="177800"/>
            <a:ext cx="14351000" cy="419100"/>
          </a:xfrm>
          <a:prstGeom prst="rect">
            <a:avLst/>
          </a:prstGeom>
          <a:noFill/>
        </p:spPr>
        <p:txBody>
          <a:bodyPr vert="horz" wrap="square" lIns="0" tIns="0" rIns="0" bIns="0" rtlCol="0" anchor="ctr">
            <a:spAutoFit/>
          </a:bodyPr>
          <a:lstStyle/>
          <a:p>
            <a:pPr algn="l">
              <a:lnSpc>
                <a:spcPct val="110000"/>
              </a:lnSpc>
            </a:pPr>
            <a:r>
              <a:rPr kumimoji="1" lang="en-US" altLang="zh-CN" sz="3000">
                <a:ln w="12700">
                  <a:noFill/>
                </a:ln>
                <a:solidFill>
                  <a:srgbClr val="333333">
                    <a:alpha val="100000"/>
                  </a:srgbClr>
                </a:solidFill>
                <a:latin typeface="Source Han Sans CN Bold"/>
                <a:ea typeface="Source Han Sans CN Bold"/>
                <a:cs typeface="Source Han Sans CN Bold"/>
              </a:rPr>
              <a:t>长期阶段（2031-2035）：全产业链闭环与全球领导力</a:t>
            </a:r>
            <a:endParaRPr kumimoji="1" lang="zh-CN" altLang="en-US"/>
          </a:p>
        </p:txBody>
      </p:sp>
      <p:graphicFrame>
        <p:nvGraphicFramePr>
          <p:cNvPr id="15" name="表格 14"/>
          <p:cNvGraphicFramePr/>
          <p:nvPr>
            <p:custDataLst>
              <p:tags r:id="rId1"/>
            </p:custDataLst>
          </p:nvPr>
        </p:nvGraphicFramePr>
        <p:xfrm>
          <a:off x="695325" y="1399540"/>
          <a:ext cx="10699750" cy="4646295"/>
        </p:xfrm>
        <a:graphic>
          <a:graphicData uri="http://schemas.openxmlformats.org/drawingml/2006/table">
            <a:tbl>
              <a:tblPr/>
              <a:tblGrid>
                <a:gridCol w="1648460"/>
                <a:gridCol w="1397000"/>
                <a:gridCol w="1186180"/>
                <a:gridCol w="1841500"/>
                <a:gridCol w="2991485"/>
                <a:gridCol w="1635125"/>
              </a:tblGrid>
              <a:tr h="838200">
                <a:tc>
                  <a:txBody>
                    <a:bodyPr/>
                    <a:p>
                      <a:pPr marL="0" indent="0" algn="ctr" fontAlgn="ctr">
                        <a:spcBef>
                          <a:spcPct val="0"/>
                        </a:spcBef>
                        <a:spcAft>
                          <a:spcPct val="0"/>
                        </a:spcAft>
                      </a:pPr>
                      <a:r>
                        <a:rPr lang="zh-CN" altLang="en-US" sz="1400" b="1" i="0">
                          <a:latin typeface="楷体"/>
                          <a:ea typeface="楷体"/>
                        </a:rPr>
                        <a:t>阶段</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时间节点</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核心任务</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具体措施</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责任主体</a:t>
                      </a:r>
                      <a:r>
                        <a:rPr lang="zh-CN" altLang="en-US" sz="1400" b="1" i="0">
                          <a:latin typeface="楷体"/>
                          <a:ea typeface="楷体"/>
                        </a:rPr>
                        <a:t>（政策文件来源）</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c>
                  <a:txBody>
                    <a:bodyPr/>
                    <a:p>
                      <a:pPr marL="0" indent="0" algn="ctr" fontAlgn="ctr">
                        <a:spcBef>
                          <a:spcPct val="0"/>
                        </a:spcBef>
                        <a:spcAft>
                          <a:spcPct val="0"/>
                        </a:spcAft>
                      </a:pPr>
                      <a:r>
                        <a:rPr lang="zh-CN" altLang="en-US" sz="1400" b="1" i="0">
                          <a:latin typeface="楷体"/>
                          <a:ea typeface="楷体"/>
                        </a:rPr>
                        <a:t>预期成果</a:t>
                      </a:r>
                      <a:endParaRPr lang="zh-CN" altLang="en-US" sz="1400" b="1" i="0">
                        <a:latin typeface="楷体"/>
                        <a:ea typeface="楷体"/>
                      </a:endParaRPr>
                    </a:p>
                  </a:txBody>
                  <a:tcPr marL="133350" marR="133350" marT="88265" marB="88265" anchor="ctr" anchorCtr="0">
                    <a:lnL>
                      <a:noFill/>
                    </a:lnL>
                    <a:lnR>
                      <a:noFill/>
                    </a:lnR>
                    <a:lnT>
                      <a:noFill/>
                    </a:lnT>
                    <a:lnB>
                      <a:noFill/>
                    </a:lnB>
                    <a:solidFill>
                      <a:schemeClr val="bg2">
                        <a:lumMod val="90000"/>
                      </a:schemeClr>
                    </a:solidFill>
                  </a:tcPr>
                </a:tc>
              </a:tr>
              <a:tr h="1814830">
                <a:tc>
                  <a:txBody>
                    <a:bodyPr/>
                    <a:p>
                      <a:pPr marL="0" indent="0" algn="ctr" fontAlgn="ctr">
                        <a:spcBef>
                          <a:spcPct val="0"/>
                        </a:spcBef>
                        <a:spcAft>
                          <a:spcPct val="0"/>
                        </a:spcAft>
                      </a:pPr>
                      <a:r>
                        <a:rPr lang="zh-CN" altLang="en-US" sz="1200" b="1" i="0">
                          <a:latin typeface="楷体"/>
                          <a:ea typeface="楷体"/>
                        </a:rPr>
                        <a:t>长期（</a:t>
                      </a:r>
                      <a:r>
                        <a:rPr lang="en-US" altLang="zh-CN" sz="1200" b="1" i="0">
                          <a:latin typeface="楷体"/>
                          <a:ea typeface="楷体"/>
                        </a:rPr>
                        <a:t>2031-2035</a:t>
                      </a:r>
                      <a:r>
                        <a:rPr lang="zh-CN" altLang="en-US" sz="1200" b="1" i="0">
                          <a:latin typeface="楷体"/>
                          <a:ea typeface="楷体"/>
                        </a:rPr>
                        <a:t>）</a:t>
                      </a:r>
                      <a:r>
                        <a:rPr lang="en-US" altLang="zh-CN" sz="1200" b="1" i="0">
                          <a:latin typeface="楷体"/>
                          <a:ea typeface="楷体"/>
                        </a:rPr>
                        <a:t>​</a:t>
                      </a:r>
                      <a:endParaRPr lang="en-US" altLang="zh-CN" sz="1200" b="1"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200" i="0">
                          <a:latin typeface="楷体"/>
                          <a:ea typeface="楷体"/>
                        </a:rPr>
                        <a:t>2031</a:t>
                      </a:r>
                      <a:r>
                        <a:rPr lang="zh-CN" altLang="en-US" sz="1200" i="0">
                          <a:latin typeface="楷体"/>
                          <a:ea typeface="楷体"/>
                        </a:rPr>
                        <a:t>年</a:t>
                      </a:r>
                      <a:endParaRPr lang="zh-CN" altLang="en-US"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200" i="0">
                          <a:latin typeface="楷体"/>
                          <a:ea typeface="楷体"/>
                        </a:rPr>
                        <a:t>构建全产业链闭环</a:t>
                      </a:r>
                      <a:endParaRPr lang="zh-CN" altLang="en-US"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200" i="0">
                          <a:latin typeface="楷体"/>
                          <a:ea typeface="楷体"/>
                        </a:rPr>
                        <a:t>1. </a:t>
                      </a:r>
                      <a:r>
                        <a:rPr lang="zh-CN" altLang="en-US" sz="1200" i="0">
                          <a:latin typeface="楷体"/>
                          <a:ea typeface="楷体"/>
                        </a:rPr>
                        <a:t>国家实验室主导基础研究；</a:t>
                      </a:r>
                      <a:br>
                        <a:rPr lang="zh-CN" altLang="en-US" sz="1200" i="0">
                          <a:latin typeface="楷体"/>
                          <a:ea typeface="楷体"/>
                        </a:rPr>
                      </a:br>
                      <a:r>
                        <a:rPr lang="en-US" altLang="zh-CN" sz="1200" i="0">
                          <a:latin typeface="楷体"/>
                          <a:ea typeface="楷体"/>
                        </a:rPr>
                        <a:t>2. </a:t>
                      </a:r>
                      <a:r>
                        <a:rPr lang="zh-CN" altLang="en-US" sz="1200" i="0">
                          <a:latin typeface="楷体"/>
                          <a:ea typeface="楷体"/>
                        </a:rPr>
                        <a:t>企业主导转化应用；</a:t>
                      </a:r>
                      <a:br>
                        <a:rPr lang="zh-CN" altLang="en-US" sz="1200" i="0">
                          <a:latin typeface="楷体"/>
                          <a:ea typeface="楷体"/>
                        </a:rPr>
                      </a:br>
                      <a:r>
                        <a:rPr lang="en-US" altLang="zh-CN" sz="1200" i="0">
                          <a:latin typeface="楷体"/>
                          <a:ea typeface="楷体"/>
                        </a:rPr>
                        <a:t>3. </a:t>
                      </a:r>
                      <a:r>
                        <a:rPr lang="zh-CN" altLang="en-US" sz="1200" i="0">
                          <a:latin typeface="楷体"/>
                          <a:ea typeface="楷体"/>
                        </a:rPr>
                        <a:t>医保</a:t>
                      </a:r>
                      <a:r>
                        <a:rPr lang="en-US" altLang="zh-CN" sz="1200" i="0">
                          <a:latin typeface="楷体"/>
                          <a:ea typeface="楷体"/>
                        </a:rPr>
                        <a:t>/</a:t>
                      </a:r>
                      <a:r>
                        <a:rPr lang="zh-CN" altLang="en-US" sz="1200" i="0">
                          <a:latin typeface="楷体"/>
                          <a:ea typeface="楷体"/>
                        </a:rPr>
                        <a:t>商保覆盖支付回收。</a:t>
                      </a:r>
                      <a:endParaRPr lang="zh-CN" altLang="en-US"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200" i="0">
                          <a:latin typeface="楷体"/>
                          <a:ea typeface="楷体"/>
                        </a:rPr>
                        <a:t>​</a:t>
                      </a:r>
                      <a:r>
                        <a:rPr lang="zh-CN" altLang="en-US" sz="1200" b="1" i="0">
                          <a:latin typeface="楷体"/>
                          <a:ea typeface="楷体"/>
                        </a:rPr>
                        <a:t>国务院</a:t>
                      </a:r>
                      <a:r>
                        <a:rPr lang="en-US" altLang="zh-CN" sz="1200" i="0">
                          <a:latin typeface="楷体"/>
                          <a:ea typeface="楷体"/>
                        </a:rPr>
                        <a:t>​</a:t>
                      </a:r>
                      <a:r>
                        <a:rPr lang="zh-CN" altLang="en-US" sz="1200" i="0">
                          <a:latin typeface="楷体"/>
                          <a:ea typeface="楷体"/>
                        </a:rPr>
                        <a:t>（</a:t>
                      </a:r>
                      <a:r>
                        <a:rPr lang="en-US" altLang="zh-CN" sz="1200" i="0">
                          <a:latin typeface="楷体"/>
                          <a:ea typeface="楷体"/>
                        </a:rPr>
                        <a:t>《</a:t>
                      </a:r>
                      <a:r>
                        <a:rPr lang="zh-CN" altLang="en-US" sz="1200" i="0">
                          <a:latin typeface="楷体"/>
                          <a:ea typeface="楷体"/>
                        </a:rPr>
                        <a:t>国家生物经济中长期发展规划（</a:t>
                      </a:r>
                      <a:r>
                        <a:rPr lang="en-US" altLang="zh-CN" sz="1200" i="0">
                          <a:latin typeface="楷体"/>
                          <a:ea typeface="楷体"/>
                        </a:rPr>
                        <a:t>2031-2040</a:t>
                      </a:r>
                      <a:r>
                        <a:rPr lang="zh-CN" altLang="en-US" sz="1200" i="0">
                          <a:latin typeface="楷体"/>
                          <a:ea typeface="楷体"/>
                        </a:rPr>
                        <a:t>）</a:t>
                      </a:r>
                      <a:r>
                        <a:rPr lang="en-US" altLang="zh-CN" sz="1200" i="0">
                          <a:latin typeface="楷体"/>
                          <a:ea typeface="楷体"/>
                        </a:rPr>
                        <a:t>》</a:t>
                      </a:r>
                      <a:r>
                        <a:rPr lang="zh-CN" altLang="en-US" sz="1200" i="0">
                          <a:latin typeface="楷体"/>
                          <a:ea typeface="楷体"/>
                        </a:rPr>
                        <a:t>）；</a:t>
                      </a:r>
                      <a:br>
                        <a:rPr lang="zh-CN" altLang="en-US" sz="1200" i="0">
                          <a:latin typeface="楷体"/>
                          <a:ea typeface="楷体"/>
                        </a:rPr>
                      </a:br>
                      <a:r>
                        <a:rPr lang="zh-CN" altLang="en-US" sz="1200" b="1" i="0">
                          <a:latin typeface="楷体"/>
                          <a:ea typeface="楷体"/>
                        </a:rPr>
                        <a:t>银保监会</a:t>
                      </a:r>
                      <a:r>
                        <a:rPr lang="en-US" altLang="zh-CN" sz="1200" i="0">
                          <a:latin typeface="楷体"/>
                          <a:ea typeface="楷体"/>
                        </a:rPr>
                        <a:t>​</a:t>
                      </a:r>
                      <a:r>
                        <a:rPr lang="zh-CN" altLang="en-US" sz="1200" i="0">
                          <a:latin typeface="楷体"/>
                          <a:ea typeface="楷体"/>
                        </a:rPr>
                        <a:t>（</a:t>
                      </a:r>
                      <a:r>
                        <a:rPr lang="en-US" altLang="zh-CN" sz="1200" i="0">
                          <a:latin typeface="楷体"/>
                          <a:ea typeface="楷体"/>
                        </a:rPr>
                        <a:t>《</a:t>
                      </a:r>
                      <a:r>
                        <a:rPr lang="zh-CN" altLang="en-US" sz="1200" i="0">
                          <a:latin typeface="楷体"/>
                          <a:ea typeface="楷体"/>
                        </a:rPr>
                        <a:t>商业健康保险发展指导意见</a:t>
                      </a:r>
                      <a:r>
                        <a:rPr lang="en-US" altLang="zh-CN" sz="1200" i="0">
                          <a:latin typeface="楷体"/>
                          <a:ea typeface="楷体"/>
                        </a:rPr>
                        <a:t>》</a:t>
                      </a:r>
                      <a:r>
                        <a:rPr lang="zh-CN" altLang="en-US" sz="1200" i="0">
                          <a:latin typeface="楷体"/>
                          <a:ea typeface="楷体"/>
                        </a:rPr>
                        <a:t>，</a:t>
                      </a:r>
                      <a:r>
                        <a:rPr lang="en-US" altLang="zh-CN" sz="1200" i="0">
                          <a:latin typeface="楷体"/>
                          <a:ea typeface="楷体"/>
                        </a:rPr>
                        <a:t>2030</a:t>
                      </a:r>
                      <a:r>
                        <a:rPr lang="zh-CN" altLang="en-US" sz="1200" i="0">
                          <a:latin typeface="楷体"/>
                          <a:ea typeface="楷体"/>
                        </a:rPr>
                        <a:t>）</a:t>
                      </a:r>
                      <a:endParaRPr lang="zh-CN" altLang="en-US"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200" i="0">
                          <a:latin typeface="楷体"/>
                          <a:ea typeface="楷体"/>
                        </a:rPr>
                        <a:t>首创新药占比提升至</a:t>
                      </a:r>
                      <a:r>
                        <a:rPr lang="en-US" altLang="zh-CN" sz="1200" i="0">
                          <a:latin typeface="楷体"/>
                          <a:ea typeface="楷体"/>
                        </a:rPr>
                        <a:t>30%</a:t>
                      </a:r>
                      <a:r>
                        <a:rPr lang="zh-CN" altLang="en-US" sz="1200" i="0">
                          <a:latin typeface="楷体"/>
                          <a:ea typeface="楷体"/>
                        </a:rPr>
                        <a:t>；商保支付占比达</a:t>
                      </a:r>
                      <a:r>
                        <a:rPr lang="en-US" altLang="zh-CN" sz="1200" i="0">
                          <a:latin typeface="楷体"/>
                          <a:ea typeface="楷体"/>
                        </a:rPr>
                        <a:t>15%</a:t>
                      </a:r>
                      <a:endParaRPr lang="en-US" altLang="zh-CN" sz="1200" i="0">
                        <a:latin typeface="楷体"/>
                        <a:ea typeface="楷体"/>
                      </a:endParaRPr>
                    </a:p>
                  </a:txBody>
                  <a:tcPr marL="133350" marR="133350" marT="88265" marB="88265" anchor="ctr" anchorCtr="0">
                    <a:lnL>
                      <a:noFill/>
                    </a:lnL>
                    <a:lnR>
                      <a:noFill/>
                    </a:lnR>
                    <a:lnT>
                      <a:noFill/>
                    </a:lnT>
                    <a:lnB>
                      <a:noFill/>
                    </a:lnB>
                    <a:noFill/>
                  </a:tcPr>
                </a:tc>
              </a:tr>
              <a:tr h="1993265">
                <a:tc>
                  <a:txBody>
                    <a:bodyPr/>
                    <a:p>
                      <a:pPr marL="0" indent="0" algn="ctr">
                        <a:spcBef>
                          <a:spcPct val="0"/>
                        </a:spcBef>
                        <a:spcAft>
                          <a:spcPct val="0"/>
                        </a:spcAft>
                      </a:pPr>
                      <a:r>
                        <a:rPr lang="en-US" altLang="zh-CN" sz="1200" i="0">
                          <a:latin typeface="楷体"/>
                          <a:ea typeface="楷体"/>
                        </a:rPr>
                        <a:t> </a:t>
                      </a:r>
                      <a:endParaRPr lang="en-US" altLang="zh-CN"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200" i="0">
                          <a:latin typeface="楷体"/>
                          <a:ea typeface="楷体"/>
                        </a:rPr>
                        <a:t>2035</a:t>
                      </a:r>
                      <a:r>
                        <a:rPr lang="zh-CN" altLang="en-US" sz="1200" i="0">
                          <a:latin typeface="楷体"/>
                          <a:ea typeface="楷体"/>
                        </a:rPr>
                        <a:t>年</a:t>
                      </a:r>
                      <a:endParaRPr lang="zh-CN" altLang="en-US"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200" i="0">
                          <a:latin typeface="楷体"/>
                          <a:ea typeface="楷体"/>
                        </a:rPr>
                        <a:t>实现全球规则领导地位</a:t>
                      </a:r>
                      <a:endParaRPr lang="zh-CN" altLang="en-US"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200" i="0">
                          <a:latin typeface="楷体"/>
                          <a:ea typeface="楷体"/>
                        </a:rPr>
                        <a:t>1. </a:t>
                      </a:r>
                      <a:r>
                        <a:rPr lang="zh-CN" altLang="en-US" sz="1200" i="0">
                          <a:latin typeface="楷体"/>
                          <a:ea typeface="楷体"/>
                        </a:rPr>
                        <a:t>创新药国际市场份额达</a:t>
                      </a:r>
                      <a:r>
                        <a:rPr lang="en-US" altLang="zh-CN" sz="1200" i="0">
                          <a:latin typeface="楷体"/>
                          <a:ea typeface="楷体"/>
                        </a:rPr>
                        <a:t>15%</a:t>
                      </a:r>
                      <a:r>
                        <a:rPr lang="zh-CN" altLang="en-US" sz="1200" i="0">
                          <a:latin typeface="楷体"/>
                          <a:ea typeface="楷体"/>
                        </a:rPr>
                        <a:t>；</a:t>
                      </a:r>
                      <a:br>
                        <a:rPr lang="zh-CN" altLang="en-US" sz="1200" i="0">
                          <a:latin typeface="楷体"/>
                          <a:ea typeface="楷体"/>
                        </a:rPr>
                      </a:br>
                      <a:r>
                        <a:rPr lang="en-US" altLang="zh-CN" sz="1200" i="0">
                          <a:latin typeface="楷体"/>
                          <a:ea typeface="楷体"/>
                        </a:rPr>
                        <a:t>2. “</a:t>
                      </a:r>
                      <a:r>
                        <a:rPr lang="zh-CN" altLang="en-US" sz="1200" i="0">
                          <a:latin typeface="楷体"/>
                          <a:ea typeface="楷体"/>
                        </a:rPr>
                        <a:t>一带一路”国家采用中国审评标准</a:t>
                      </a:r>
                      <a:r>
                        <a:rPr lang="en-US" altLang="zh-CN" sz="1200" i="0">
                          <a:latin typeface="楷体"/>
                          <a:ea typeface="楷体"/>
                        </a:rPr>
                        <a:t>≥50%</a:t>
                      </a:r>
                      <a:r>
                        <a:rPr lang="zh-CN" altLang="en-US" sz="1200" i="0">
                          <a:latin typeface="楷体"/>
                          <a:ea typeface="楷体"/>
                        </a:rPr>
                        <a:t>。</a:t>
                      </a:r>
                      <a:endParaRPr lang="zh-CN" altLang="en-US"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en-US" altLang="zh-CN" sz="1200" i="0">
                          <a:latin typeface="楷体"/>
                          <a:ea typeface="楷体"/>
                        </a:rPr>
                        <a:t>​</a:t>
                      </a:r>
                      <a:r>
                        <a:rPr lang="zh-CN" altLang="en-US" sz="1200" b="1" i="0">
                          <a:latin typeface="楷体"/>
                          <a:ea typeface="楷体"/>
                        </a:rPr>
                        <a:t>商务部</a:t>
                      </a:r>
                      <a:r>
                        <a:rPr lang="en-US" altLang="zh-CN" sz="1200" i="0">
                          <a:latin typeface="楷体"/>
                          <a:ea typeface="楷体"/>
                        </a:rPr>
                        <a:t>​</a:t>
                      </a:r>
                      <a:r>
                        <a:rPr lang="zh-CN" altLang="en-US" sz="1200" i="0">
                          <a:latin typeface="楷体"/>
                          <a:ea typeface="楷体"/>
                        </a:rPr>
                        <a:t>（</a:t>
                      </a:r>
                      <a:r>
                        <a:rPr lang="en-US" altLang="zh-CN" sz="1200" i="0">
                          <a:latin typeface="楷体"/>
                          <a:ea typeface="楷体"/>
                        </a:rPr>
                        <a:t>《“</a:t>
                      </a:r>
                      <a:r>
                        <a:rPr lang="zh-CN" altLang="en-US" sz="1200" i="0">
                          <a:latin typeface="楷体"/>
                          <a:ea typeface="楷体"/>
                        </a:rPr>
                        <a:t>一带一路”医药合作行动计划</a:t>
                      </a:r>
                      <a:r>
                        <a:rPr lang="en-US" altLang="zh-CN" sz="1200" i="0">
                          <a:latin typeface="楷体"/>
                          <a:ea typeface="楷体"/>
                        </a:rPr>
                        <a:t>》</a:t>
                      </a:r>
                      <a:r>
                        <a:rPr lang="zh-CN" altLang="en-US" sz="1200" i="0">
                          <a:latin typeface="楷体"/>
                          <a:ea typeface="楷体"/>
                        </a:rPr>
                        <a:t>，</a:t>
                      </a:r>
                      <a:r>
                        <a:rPr lang="en-US" altLang="zh-CN" sz="1200" i="0">
                          <a:latin typeface="楷体"/>
                          <a:ea typeface="楷体"/>
                        </a:rPr>
                        <a:t>2032</a:t>
                      </a:r>
                      <a:r>
                        <a:rPr lang="zh-CN" altLang="en-US" sz="1200" i="0">
                          <a:latin typeface="楷体"/>
                          <a:ea typeface="楷体"/>
                        </a:rPr>
                        <a:t>）；</a:t>
                      </a:r>
                      <a:br>
                        <a:rPr lang="zh-CN" altLang="en-US" sz="1200" i="0">
                          <a:latin typeface="楷体"/>
                          <a:ea typeface="楷体"/>
                        </a:rPr>
                      </a:br>
                      <a:r>
                        <a:rPr lang="zh-CN" altLang="en-US" sz="1200" b="1" i="0">
                          <a:latin typeface="楷体"/>
                          <a:ea typeface="楷体"/>
                        </a:rPr>
                        <a:t>国家药监局</a:t>
                      </a:r>
                      <a:r>
                        <a:rPr lang="en-US" altLang="zh-CN" sz="1200" i="0">
                          <a:latin typeface="楷体"/>
                          <a:ea typeface="楷体"/>
                        </a:rPr>
                        <a:t>​</a:t>
                      </a:r>
                      <a:r>
                        <a:rPr lang="zh-CN" altLang="en-US" sz="1200" i="0">
                          <a:latin typeface="楷体"/>
                          <a:ea typeface="楷体"/>
                        </a:rPr>
                        <a:t>（</a:t>
                      </a:r>
                      <a:r>
                        <a:rPr lang="en-US" altLang="zh-CN" sz="1200" i="0">
                          <a:latin typeface="楷体"/>
                          <a:ea typeface="楷体"/>
                        </a:rPr>
                        <a:t>《</a:t>
                      </a:r>
                      <a:r>
                        <a:rPr lang="zh-CN" altLang="en-US" sz="1200" i="0">
                          <a:latin typeface="楷体"/>
                          <a:ea typeface="楷体"/>
                        </a:rPr>
                        <a:t>全球医药标准互认行动计划</a:t>
                      </a:r>
                      <a:r>
                        <a:rPr lang="en-US" altLang="zh-CN" sz="1200" i="0">
                          <a:latin typeface="楷体"/>
                          <a:ea typeface="楷体"/>
                        </a:rPr>
                        <a:t>》</a:t>
                      </a:r>
                      <a:r>
                        <a:rPr lang="zh-CN" altLang="en-US" sz="1200" i="0">
                          <a:latin typeface="楷体"/>
                          <a:ea typeface="楷体"/>
                        </a:rPr>
                        <a:t>，</a:t>
                      </a:r>
                      <a:r>
                        <a:rPr lang="en-US" altLang="zh-CN" sz="1200" i="0">
                          <a:latin typeface="楷体"/>
                          <a:ea typeface="楷体"/>
                        </a:rPr>
                        <a:t>2034</a:t>
                      </a:r>
                      <a:r>
                        <a:rPr lang="zh-CN" altLang="en-US" sz="1200" i="0">
                          <a:latin typeface="楷体"/>
                          <a:ea typeface="楷体"/>
                        </a:rPr>
                        <a:t>）</a:t>
                      </a:r>
                      <a:endParaRPr lang="zh-CN" altLang="en-US" sz="1200" i="0">
                        <a:latin typeface="楷体"/>
                        <a:ea typeface="楷体"/>
                      </a:endParaRPr>
                    </a:p>
                  </a:txBody>
                  <a:tcPr marL="133350" marR="133350" marT="88265" marB="88265" anchor="ctr" anchorCtr="0">
                    <a:lnL>
                      <a:noFill/>
                    </a:lnL>
                    <a:lnR>
                      <a:noFill/>
                    </a:lnR>
                    <a:lnT>
                      <a:noFill/>
                    </a:lnT>
                    <a:lnB>
                      <a:noFill/>
                    </a:lnB>
                    <a:noFill/>
                  </a:tcPr>
                </a:tc>
                <a:tc>
                  <a:txBody>
                    <a:bodyPr/>
                    <a:p>
                      <a:pPr marL="0" indent="0" algn="ctr" fontAlgn="ctr">
                        <a:spcBef>
                          <a:spcPct val="0"/>
                        </a:spcBef>
                        <a:spcAft>
                          <a:spcPct val="0"/>
                        </a:spcAft>
                      </a:pPr>
                      <a:r>
                        <a:rPr lang="zh-CN" altLang="en-US" sz="1200" i="0">
                          <a:latin typeface="楷体"/>
                          <a:ea typeface="楷体"/>
                        </a:rPr>
                        <a:t>跨境交易额突破</a:t>
                      </a:r>
                      <a:r>
                        <a:rPr lang="en-US" altLang="zh-CN" sz="1200" i="0">
                          <a:latin typeface="楷体"/>
                          <a:ea typeface="楷体"/>
                        </a:rPr>
                        <a:t>1000</a:t>
                      </a:r>
                      <a:r>
                        <a:rPr lang="zh-CN" altLang="en-US" sz="1200" i="0">
                          <a:latin typeface="楷体"/>
                          <a:ea typeface="楷体"/>
                        </a:rPr>
                        <a:t>亿美元；主导制定</a:t>
                      </a:r>
                      <a:r>
                        <a:rPr lang="en-US" altLang="zh-CN" sz="1200" i="0">
                          <a:latin typeface="楷体"/>
                          <a:ea typeface="楷体"/>
                        </a:rPr>
                        <a:t>5</a:t>
                      </a:r>
                      <a:r>
                        <a:rPr lang="zh-CN" altLang="en-US" sz="1200" i="0">
                          <a:latin typeface="楷体"/>
                          <a:ea typeface="楷体"/>
                        </a:rPr>
                        <a:t>项全球医药标准</a:t>
                      </a:r>
                      <a:endParaRPr lang="zh-CN" altLang="en-US" sz="1200" i="0">
                        <a:latin typeface="楷体"/>
                        <a:ea typeface="楷体"/>
                      </a:endParaRPr>
                    </a:p>
                  </a:txBody>
                  <a:tcPr marL="133350" marR="133350" marT="88265" marB="88265" anchor="ctr" anchorCtr="0">
                    <a:lnL>
                      <a:noFill/>
                    </a:lnL>
                    <a:lnR>
                      <a:noFill/>
                    </a:lnR>
                    <a:lnT>
                      <a:noFill/>
                    </a:lnT>
                    <a:lnB>
                      <a:noFill/>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a:stretch>
            <a:fillRect/>
          </a:stretch>
        </p:blipFill>
        <p:spPr>
          <a:xfrm>
            <a:off x="0" y="0"/>
            <a:ext cx="12192000" cy="6858000"/>
          </a:xfrm>
          <a:prstGeom prst="rect">
            <a:avLst/>
          </a:prstGeom>
          <a:noFill/>
          <a:ln>
            <a:noFill/>
          </a:ln>
        </p:spPr>
      </p:pic>
      <p:sp>
        <p:nvSpPr>
          <p:cNvPr id="3" name="标题 1"/>
          <p:cNvSpPr txBox="1"/>
          <p:nvPr/>
        </p:nvSpPr>
        <p:spPr>
          <a:xfrm>
            <a:off x="10973954" y="3790950"/>
            <a:ext cx="587664" cy="3057525"/>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908300" y="2907976"/>
            <a:ext cx="6378864" cy="2048037"/>
          </a:xfrm>
          <a:prstGeom prst="rect">
            <a:avLst/>
          </a:prstGeom>
          <a:noFill/>
          <a:ln>
            <a:noFill/>
          </a:ln>
        </p:spPr>
        <p:txBody>
          <a:bodyPr vert="horz" wrap="square" lIns="91440" tIns="45720" rIns="91440" bIns="45720" rtlCol="0" anchor="t"/>
          <a:lstStyle/>
          <a:p>
            <a:pPr algn="ctr">
              <a:lnSpc>
                <a:spcPct val="110000"/>
              </a:lnSpc>
            </a:pPr>
            <a:r>
              <a:rPr kumimoji="1" lang="en-US" altLang="zh-CN" sz="5500">
                <a:ln w="12700">
                  <a:noFill/>
                </a:ln>
                <a:solidFill>
                  <a:srgbClr val="000000">
                    <a:alpha val="100000"/>
                  </a:srgbClr>
                </a:solidFill>
                <a:latin typeface="OPPOSans R"/>
                <a:ea typeface="OPPOSans R"/>
                <a:cs typeface="OPPOSans R"/>
              </a:rPr>
              <a:t>国内外政策效果对比与启示</a:t>
            </a:r>
            <a:endParaRPr kumimoji="1" lang="zh-CN" altLang="en-US"/>
          </a:p>
        </p:txBody>
      </p:sp>
      <p:sp>
        <p:nvSpPr>
          <p:cNvPr id="5"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6" name="标题 1"/>
          <p:cNvSpPr txBox="1"/>
          <p:nvPr/>
        </p:nvSpPr>
        <p:spPr>
          <a:xfrm>
            <a:off x="3357336" y="1028701"/>
            <a:ext cx="3576864" cy="1695450"/>
          </a:xfrm>
          <a:prstGeom prst="rect">
            <a:avLst/>
          </a:prstGeom>
          <a:noFill/>
          <a:ln>
            <a:noFill/>
          </a:ln>
        </p:spPr>
        <p:txBody>
          <a:bodyPr vert="horz" wrap="square" lIns="91440" tIns="45720" rIns="91440" bIns="45720" rtlCol="0" anchor="b"/>
          <a:lstStyle/>
          <a:p>
            <a:pPr algn="r">
              <a:lnSpc>
                <a:spcPct val="90000"/>
              </a:lnSpc>
            </a:pPr>
            <a:r>
              <a:rPr kumimoji="1" lang="en-US" altLang="zh-CN" sz="9600">
                <a:ln w="12700">
                  <a:noFill/>
                </a:ln>
                <a:solidFill>
                  <a:srgbClr val="080808">
                    <a:alpha val="100000"/>
                  </a:srgbClr>
                </a:solidFill>
                <a:latin typeface="OPPOSans R"/>
                <a:ea typeface="OPPOSans R"/>
                <a:cs typeface="OPPOSans R"/>
              </a:rPr>
              <a:t>03</a:t>
            </a:r>
            <a:endParaRPr kumimoji="1" lang="zh-CN" altLang="en-US"/>
          </a:p>
        </p:txBody>
      </p:sp>
      <p:cxnSp>
        <p:nvCxnSpPr>
          <p:cNvPr id="7" name="标题 1"/>
          <p:cNvCxnSpPr/>
          <p:nvPr/>
        </p:nvCxnSpPr>
        <p:spPr>
          <a:xfrm>
            <a:off x="660400" y="5305425"/>
            <a:ext cx="9836150" cy="0"/>
          </a:xfrm>
          <a:prstGeom prst="line">
            <a:avLst/>
          </a:prstGeom>
          <a:noFill/>
          <a:ln w="5080" cap="sq">
            <a:solidFill>
              <a:schemeClr val="tx1"/>
            </a:solidFill>
            <a:miter/>
          </a:ln>
        </p:spPr>
      </p:cxnSp>
      <p:cxnSp>
        <p:nvCxnSpPr>
          <p:cNvPr id="8" name="标题 1"/>
          <p:cNvCxnSpPr/>
          <p:nvPr/>
        </p:nvCxnSpPr>
        <p:spPr>
          <a:xfrm>
            <a:off x="655411" y="5305425"/>
            <a:ext cx="1116239" cy="0"/>
          </a:xfrm>
          <a:prstGeom prst="line">
            <a:avLst/>
          </a:prstGeom>
          <a:noFill/>
          <a:ln w="50800" cap="sq">
            <a:solidFill>
              <a:schemeClr val="tx1"/>
            </a:solidFill>
            <a:miter/>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6" name="标题 1"/>
          <p:cNvSpPr txBox="1"/>
          <p:nvPr/>
        </p:nvSpPr>
        <p:spPr>
          <a:xfrm>
            <a:off x="5505449" y="2514811"/>
            <a:ext cx="5705475" cy="397713"/>
          </a:xfrm>
          <a:prstGeom prst="rect">
            <a:avLst/>
          </a:prstGeom>
          <a:noFill/>
          <a:ln>
            <a:noFill/>
          </a:ln>
        </p:spPr>
        <p:txBody>
          <a:bodyPr vert="horz" wrap="square" lIns="91440" tIns="45720" rIns="91440" bIns="45720" rtlCol="0" anchor="t"/>
          <a:lstStyle/>
          <a:p>
            <a:pPr algn="l">
              <a:lnSpc>
                <a:spcPct val="110000"/>
              </a:lnSpc>
            </a:pPr>
            <a:r>
              <a:rPr kumimoji="1" lang="en-US" altLang="zh-CN" sz="2000">
                <a:ln w="12700">
                  <a:noFill/>
                </a:ln>
                <a:solidFill>
                  <a:srgbClr val="FFFFFF">
                    <a:alpha val="100000"/>
                  </a:srgbClr>
                </a:solidFill>
                <a:latin typeface="OPPOSans H"/>
                <a:ea typeface="OPPOSans H"/>
                <a:cs typeface="OPPOSans H"/>
              </a:rPr>
              <a:t>01</a:t>
            </a:r>
            <a:endParaRPr kumimoji="1" lang="zh-CN" altLang="en-US"/>
          </a:p>
        </p:txBody>
      </p:sp>
      <p:sp>
        <p:nvSpPr>
          <p:cNvPr id="7" name="标题 1"/>
          <p:cNvSpPr txBox="1"/>
          <p:nvPr/>
        </p:nvSpPr>
        <p:spPr>
          <a:xfrm>
            <a:off x="5505449" y="3083634"/>
            <a:ext cx="5705475" cy="2789393"/>
          </a:xfrm>
          <a:prstGeom prst="rect">
            <a:avLst/>
          </a:prstGeom>
          <a:noFill/>
          <a:ln>
            <a:noFill/>
          </a:ln>
        </p:spPr>
        <p:txBody>
          <a:bodyPr vert="horz" wrap="square" lIns="91440" tIns="45720" rIns="91440" bIns="45720" rtlCol="0" anchor="t"/>
          <a:lstStyle/>
          <a:p>
            <a:pPr algn="l">
              <a:lnSpc>
                <a:spcPct val="150000"/>
              </a:lnSpc>
            </a:pPr>
            <a:r>
              <a:rPr kumimoji="1" lang="en-US" altLang="zh-CN" sz="1600">
                <a:ln w="12700">
                  <a:noFill/>
                </a:ln>
                <a:solidFill>
                  <a:srgbClr val="FFFFFF">
                    <a:alpha val="100000"/>
                  </a:srgbClr>
                </a:solidFill>
                <a:latin typeface="Source Han Sans CN Bold"/>
                <a:ea typeface="Source Han Sans CN Bold"/>
                <a:cs typeface="Source Han Sans CN Bold"/>
              </a:rPr>
              <a:t>美国凭借灵活的支付工具（如商保覆盖）和加速审批制度，实现高市场渗透率与研发回报。</a:t>
            </a:r>
            <a:endParaRPr kumimoji="1" lang="zh-CN" altLang="en-US"/>
          </a:p>
        </p:txBody>
      </p:sp>
      <p:sp>
        <p:nvSpPr>
          <p:cNvPr id="8" name="标题 1"/>
          <p:cNvSpPr txBox="1"/>
          <p:nvPr/>
        </p:nvSpPr>
        <p:spPr>
          <a:xfrm>
            <a:off x="5610223" y="3006521"/>
            <a:ext cx="1018835" cy="46800"/>
          </a:xfrm>
          <a:custGeom>
            <a:avLst/>
            <a:gdLst>
              <a:gd name="connsiteX0" fmla="*/ 442909 w 900000"/>
              <a:gd name="connsiteY0" fmla="*/ 0 h 46800"/>
              <a:gd name="connsiteX1" fmla="*/ 900000 w 900000"/>
              <a:gd name="connsiteY1" fmla="*/ 0 h 46800"/>
              <a:gd name="connsiteX2" fmla="*/ 900000 w 900000"/>
              <a:gd name="connsiteY2" fmla="*/ 46800 h 46800"/>
              <a:gd name="connsiteX3" fmla="*/ 442909 w 900000"/>
              <a:gd name="connsiteY3" fmla="*/ 46800 h 46800"/>
              <a:gd name="connsiteX4" fmla="*/ 442909 w 900000"/>
              <a:gd name="connsiteY4" fmla="*/ 46260 h 46800"/>
              <a:gd name="connsiteX5" fmla="*/ 0 w 900000"/>
              <a:gd name="connsiteY5" fmla="*/ 46260 h 46800"/>
              <a:gd name="connsiteX6" fmla="*/ 0 w 900000"/>
              <a:gd name="connsiteY6" fmla="*/ 541 h 46800"/>
              <a:gd name="connsiteX7" fmla="*/ 442909 w 900000"/>
              <a:gd name="connsiteY7" fmla="*/ 541 h 46800"/>
            </a:gdLst>
            <a:ahLst/>
            <a:cxnLst/>
            <a:rect l="l" t="t" r="r" b="b"/>
            <a:pathLst>
              <a:path w="900000" h="46800">
                <a:moveTo>
                  <a:pt x="442909" y="0"/>
                </a:moveTo>
                <a:lnTo>
                  <a:pt x="900000" y="0"/>
                </a:lnTo>
                <a:lnTo>
                  <a:pt x="900000" y="46800"/>
                </a:lnTo>
                <a:lnTo>
                  <a:pt x="442909" y="46800"/>
                </a:lnTo>
                <a:lnTo>
                  <a:pt x="442909" y="46260"/>
                </a:lnTo>
                <a:lnTo>
                  <a:pt x="0" y="46260"/>
                </a:lnTo>
                <a:lnTo>
                  <a:pt x="0" y="541"/>
                </a:lnTo>
                <a:lnTo>
                  <a:pt x="442909" y="541"/>
                </a:lnTo>
                <a:close/>
              </a:path>
            </a:pathLst>
          </a:custGeom>
          <a:solidFill>
            <a:schemeClr val="bg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9" name="图片 8"/>
          <p:cNvPicPr>
            <a:picLocks noChangeAspect="1"/>
          </p:cNvPicPr>
          <p:nvPr>
            <p:custDataLst>
              <p:tags r:id="rId1"/>
            </p:custDataLst>
          </p:nvPr>
        </p:nvPicPr>
        <p:blipFill>
          <a:blip r:embed="rId2"/>
          <a:stretch>
            <a:fillRect/>
          </a:stretch>
        </p:blipFill>
        <p:spPr>
          <a:xfrm>
            <a:off x="191135" y="1484630"/>
            <a:ext cx="11478260" cy="3002915"/>
          </a:xfrm>
          <a:prstGeom prst="rect">
            <a:avLst/>
          </a:prstGeom>
        </p:spPr>
      </p:pic>
      <p:sp>
        <p:nvSpPr>
          <p:cNvPr id="10" name="文本框 9"/>
          <p:cNvSpPr txBox="1"/>
          <p:nvPr/>
        </p:nvSpPr>
        <p:spPr>
          <a:xfrm>
            <a:off x="335280" y="1052513"/>
            <a:ext cx="5080000" cy="337185"/>
          </a:xfrm>
          <a:prstGeom prst="rect">
            <a:avLst/>
          </a:prstGeom>
        </p:spPr>
        <p:txBody>
          <a:bodyPr>
            <a:spAutoFit/>
          </a:bodyPr>
          <a:p>
            <a:pPr marL="0" indent="0" fontAlgn="base">
              <a:spcBef>
                <a:spcPct val="0"/>
              </a:spcBef>
              <a:spcAft>
                <a:spcPct val="0"/>
              </a:spcAft>
            </a:pPr>
            <a:r>
              <a:rPr lang="zh-CN" altLang="en-US" sz="1600" b="1" i="0">
                <a:latin typeface="PingFang SC" panose="020B0400000000000000" charset="-122"/>
                <a:ea typeface="PingFang SC" panose="020B0400000000000000" charset="-122"/>
              </a:rPr>
              <a:t>表：国内外政策效果对比（</a:t>
            </a:r>
            <a:r>
              <a:rPr lang="en-US" altLang="zh-CN" sz="1600" b="1" i="0">
                <a:latin typeface="PingFang SC" panose="020B0400000000000000" charset="-122"/>
                <a:ea typeface="PingFang SC" panose="020B0400000000000000" charset="-122"/>
              </a:rPr>
              <a:t>2024</a:t>
            </a:r>
            <a:r>
              <a:rPr lang="zh-CN" altLang="en-US" sz="1600" b="1" i="0">
                <a:latin typeface="PingFang SC" panose="020B0400000000000000" charset="-122"/>
                <a:ea typeface="PingFang SC" panose="020B0400000000000000" charset="-122"/>
              </a:rPr>
              <a:t>年数据）</a:t>
            </a:r>
            <a:r>
              <a:rPr lang="en-US" altLang="zh-CN" sz="1600" b="1" i="0">
                <a:latin typeface="PingFang SC" panose="020B0400000000000000" charset="-122"/>
                <a:ea typeface="PingFang SC" panose="020B0400000000000000" charset="-122"/>
              </a:rPr>
              <a:t>​</a:t>
            </a:r>
            <a:endParaRPr lang="en-US" altLang="zh-CN" sz="1600" b="1" i="0">
              <a:latin typeface="PingFang SC" panose="020B0400000000000000" charset="-122"/>
              <a:ea typeface="PingFang SC" panose="020B04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a:stretch>
            <a:fillRect/>
          </a:stretch>
        </p:blipFill>
        <p:spPr>
          <a:xfrm>
            <a:off x="0" y="0"/>
            <a:ext cx="12192000" cy="6858000"/>
          </a:xfrm>
          <a:prstGeom prst="rect">
            <a:avLst/>
          </a:prstGeom>
          <a:noFill/>
          <a:ln>
            <a:noFill/>
          </a:ln>
        </p:spPr>
      </p:pic>
      <p:sp>
        <p:nvSpPr>
          <p:cNvPr id="3" name="标题 1"/>
          <p:cNvSpPr txBox="1"/>
          <p:nvPr/>
        </p:nvSpPr>
        <p:spPr>
          <a:xfrm>
            <a:off x="10973954" y="3790950"/>
            <a:ext cx="587664" cy="3057525"/>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2171700" y="3123876"/>
            <a:ext cx="8169564" cy="2048037"/>
          </a:xfrm>
          <a:prstGeom prst="rect">
            <a:avLst/>
          </a:prstGeom>
          <a:noFill/>
          <a:ln>
            <a:noFill/>
          </a:ln>
        </p:spPr>
        <p:txBody>
          <a:bodyPr vert="horz" wrap="square" lIns="91440" tIns="45720" rIns="91440" bIns="45720" rtlCol="0" anchor="t"/>
          <a:lstStyle/>
          <a:p>
            <a:pPr algn="l">
              <a:lnSpc>
                <a:spcPct val="110000"/>
              </a:lnSpc>
            </a:pPr>
            <a:r>
              <a:rPr kumimoji="1" lang="en-US" altLang="zh-CN" sz="5500">
                <a:ln w="12700">
                  <a:noFill/>
                </a:ln>
                <a:solidFill>
                  <a:srgbClr val="000000">
                    <a:alpha val="100000"/>
                  </a:srgbClr>
                </a:solidFill>
                <a:latin typeface="OPPOSans R"/>
                <a:ea typeface="OPPOSans R"/>
                <a:cs typeface="OPPOSans R"/>
              </a:rPr>
              <a:t>核心挑战与政策建议</a:t>
            </a:r>
            <a:endParaRPr kumimoji="1" lang="zh-CN" altLang="en-US"/>
          </a:p>
        </p:txBody>
      </p:sp>
      <p:sp>
        <p:nvSpPr>
          <p:cNvPr id="5"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6" name="标题 1"/>
          <p:cNvSpPr txBox="1"/>
          <p:nvPr/>
        </p:nvSpPr>
        <p:spPr>
          <a:xfrm>
            <a:off x="3179536" y="1016001"/>
            <a:ext cx="3576864" cy="1695450"/>
          </a:xfrm>
          <a:prstGeom prst="rect">
            <a:avLst/>
          </a:prstGeom>
          <a:noFill/>
          <a:ln>
            <a:noFill/>
          </a:ln>
        </p:spPr>
        <p:txBody>
          <a:bodyPr vert="horz" wrap="square" lIns="91440" tIns="45720" rIns="91440" bIns="45720" rtlCol="0" anchor="b"/>
          <a:lstStyle/>
          <a:p>
            <a:pPr algn="r">
              <a:lnSpc>
                <a:spcPct val="90000"/>
              </a:lnSpc>
            </a:pPr>
            <a:r>
              <a:rPr kumimoji="1" lang="en-US" altLang="zh-CN" sz="9600">
                <a:ln w="12700">
                  <a:noFill/>
                </a:ln>
                <a:solidFill>
                  <a:srgbClr val="080808">
                    <a:alpha val="100000"/>
                  </a:srgbClr>
                </a:solidFill>
                <a:latin typeface="OPPOSans R"/>
                <a:ea typeface="OPPOSans R"/>
                <a:cs typeface="OPPOSans R"/>
              </a:rPr>
              <a:t>04</a:t>
            </a:r>
            <a:endParaRPr kumimoji="1" lang="zh-CN" altLang="en-US"/>
          </a:p>
        </p:txBody>
      </p:sp>
      <p:cxnSp>
        <p:nvCxnSpPr>
          <p:cNvPr id="7" name="标题 1"/>
          <p:cNvCxnSpPr/>
          <p:nvPr/>
        </p:nvCxnSpPr>
        <p:spPr>
          <a:xfrm>
            <a:off x="660400" y="5305425"/>
            <a:ext cx="9836150" cy="0"/>
          </a:xfrm>
          <a:prstGeom prst="line">
            <a:avLst/>
          </a:prstGeom>
          <a:noFill/>
          <a:ln w="5080" cap="sq">
            <a:solidFill>
              <a:schemeClr val="tx1"/>
            </a:solidFill>
            <a:miter/>
          </a:ln>
        </p:spPr>
      </p:cxnSp>
      <p:cxnSp>
        <p:nvCxnSpPr>
          <p:cNvPr id="8" name="标题 1"/>
          <p:cNvCxnSpPr/>
          <p:nvPr/>
        </p:nvCxnSpPr>
        <p:spPr>
          <a:xfrm>
            <a:off x="655411" y="5305425"/>
            <a:ext cx="1116239" cy="0"/>
          </a:xfrm>
          <a:prstGeom prst="line">
            <a:avLst/>
          </a:prstGeom>
          <a:noFill/>
          <a:ln w="50800" cap="sq">
            <a:solidFill>
              <a:schemeClr val="tx1"/>
            </a:solidFill>
            <a:miter/>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171450" y="177800"/>
            <a:ext cx="7175500" cy="673100"/>
          </a:xfrm>
          <a:prstGeom prst="rect">
            <a:avLst/>
          </a:prstGeom>
          <a:noFill/>
        </p:spPr>
        <p:txBody>
          <a:bodyPr vert="horz" wrap="square" lIns="0" tIns="0" rIns="0" bIns="0" rtlCol="0" anchor="ctr">
            <a:spAutoFit/>
          </a:bodyPr>
          <a:lstStyle/>
          <a:p>
            <a:pPr algn="l">
              <a:lnSpc>
                <a:spcPct val="110000"/>
              </a:lnSpc>
            </a:pPr>
            <a:r>
              <a:rPr kumimoji="1" lang="en-US" altLang="zh-CN" sz="4800">
                <a:ln w="12700">
                  <a:noFill/>
                </a:ln>
                <a:solidFill>
                  <a:srgbClr val="333333">
                    <a:alpha val="100000"/>
                  </a:srgbClr>
                </a:solidFill>
                <a:latin typeface="Source Han Sans CN Bold"/>
                <a:ea typeface="Source Han Sans CN Bold"/>
                <a:cs typeface="Source Han Sans CN Bold"/>
              </a:rPr>
              <a:t>研发端挑战与建议</a:t>
            </a:r>
            <a:endParaRPr kumimoji="1" lang="zh-CN" altLang="en-US"/>
          </a:p>
        </p:txBody>
      </p:sp>
      <p:sp>
        <p:nvSpPr>
          <p:cNvPr id="4" name="标题 1"/>
          <p:cNvSpPr txBox="1"/>
          <p:nvPr/>
        </p:nvSpPr>
        <p:spPr>
          <a:xfrm>
            <a:off x="9682299" y="1491915"/>
            <a:ext cx="1363785" cy="1167734"/>
          </a:xfrm>
          <a:prstGeom prst="rect">
            <a:avLst/>
          </a:prstGeom>
          <a:noFill/>
          <a:ln>
            <a:noFill/>
          </a:ln>
        </p:spPr>
        <p:txBody>
          <a:bodyPr vert="horz" wrap="square" lIns="0" tIns="0" rIns="0" bIns="0" rtlCol="0" anchor="ctr"/>
          <a:lstStyle/>
          <a:p>
            <a:pPr algn="r">
              <a:lnSpc>
                <a:spcPct val="150000"/>
              </a:lnSpc>
            </a:pPr>
            <a:r>
              <a:rPr kumimoji="1" lang="en-US" altLang="zh-CN" sz="7200">
                <a:ln w="12700">
                  <a:noFill/>
                </a:ln>
                <a:solidFill>
                  <a:srgbClr val="F2F2F2">
                    <a:alpha val="100000"/>
                  </a:srgbClr>
                </a:solidFill>
                <a:latin typeface="OPPOSans H"/>
                <a:ea typeface="OPPOSans H"/>
                <a:cs typeface="OPPOSans H"/>
              </a:rPr>
              <a:t>01</a:t>
            </a:r>
            <a:endParaRPr kumimoji="1" lang="zh-CN" altLang="en-US"/>
          </a:p>
        </p:txBody>
      </p:sp>
      <p:sp>
        <p:nvSpPr>
          <p:cNvPr id="5" name="标题 1"/>
          <p:cNvSpPr txBox="1"/>
          <p:nvPr/>
        </p:nvSpPr>
        <p:spPr>
          <a:xfrm rot="5400000">
            <a:off x="1222116" y="1838343"/>
            <a:ext cx="1804736" cy="1376579"/>
          </a:xfrm>
          <a:custGeom>
            <a:avLst/>
            <a:gdLst>
              <a:gd name="connsiteX0" fmla="*/ 0 w 1804736"/>
              <a:gd name="connsiteY0" fmla="*/ 807084 h 1376579"/>
              <a:gd name="connsiteX1" fmla="*/ 569495 w 1804736"/>
              <a:gd name="connsiteY1" fmla="*/ 237589 h 1376579"/>
              <a:gd name="connsiteX2" fmla="*/ 764567 w 1804736"/>
              <a:gd name="connsiteY2" fmla="*/ 237589 h 1376579"/>
              <a:gd name="connsiteX3" fmla="*/ 902369 w 1804736"/>
              <a:gd name="connsiteY3" fmla="*/ 0 h 1376579"/>
              <a:gd name="connsiteX4" fmla="*/ 1040170 w 1804736"/>
              <a:gd name="connsiteY4" fmla="*/ 237589 h 1376579"/>
              <a:gd name="connsiteX5" fmla="*/ 1235241 w 1804736"/>
              <a:gd name="connsiteY5" fmla="*/ 237589 h 1376579"/>
              <a:gd name="connsiteX6" fmla="*/ 1804736 w 1804736"/>
              <a:gd name="connsiteY6" fmla="*/ 807084 h 1376579"/>
              <a:gd name="connsiteX7" fmla="*/ 1235241 w 1804736"/>
              <a:gd name="connsiteY7" fmla="*/ 1376579 h 1376579"/>
              <a:gd name="connsiteX8" fmla="*/ 569495 w 1804736"/>
              <a:gd name="connsiteY8" fmla="*/ 1376579 h 1376579"/>
              <a:gd name="connsiteX9" fmla="*/ 0 w 1804736"/>
              <a:gd name="connsiteY9" fmla="*/ 807084 h 1376579"/>
            </a:gdLst>
            <a:ahLst/>
            <a:cxnLst/>
            <a:rect l="l" t="t" r="r" b="b"/>
            <a:pathLst>
              <a:path w="1804736" h="1376579">
                <a:moveTo>
                  <a:pt x="0" y="807084"/>
                </a:moveTo>
                <a:cubicBezTo>
                  <a:pt x="0" y="492561"/>
                  <a:pt x="254972" y="237589"/>
                  <a:pt x="569495" y="237589"/>
                </a:cubicBezTo>
                <a:lnTo>
                  <a:pt x="764567" y="237589"/>
                </a:lnTo>
                <a:lnTo>
                  <a:pt x="902369" y="0"/>
                </a:lnTo>
                <a:lnTo>
                  <a:pt x="1040170" y="237589"/>
                </a:lnTo>
                <a:lnTo>
                  <a:pt x="1235241" y="237589"/>
                </a:lnTo>
                <a:cubicBezTo>
                  <a:pt x="1549764" y="237589"/>
                  <a:pt x="1804736" y="492561"/>
                  <a:pt x="1804736" y="807084"/>
                </a:cubicBezTo>
                <a:cubicBezTo>
                  <a:pt x="1804736" y="1121607"/>
                  <a:pt x="1549764" y="1376579"/>
                  <a:pt x="1235241" y="1376579"/>
                </a:cubicBezTo>
                <a:lnTo>
                  <a:pt x="569495" y="1376579"/>
                </a:lnTo>
                <a:cubicBezTo>
                  <a:pt x="254972" y="1376579"/>
                  <a:pt x="0" y="1121607"/>
                  <a:pt x="0" y="807084"/>
                </a:cubicBezTo>
                <a:close/>
              </a:path>
            </a:pathLst>
          </a:custGeom>
          <a:solidFill>
            <a:schemeClr val="accent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752520" y="2278931"/>
            <a:ext cx="476422" cy="495400"/>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7" name="标题 1"/>
          <p:cNvSpPr txBox="1"/>
          <p:nvPr/>
        </p:nvSpPr>
        <p:spPr>
          <a:xfrm>
            <a:off x="2938599" y="1720515"/>
            <a:ext cx="7802685" cy="1612234"/>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262626">
                    <a:alpha val="100000"/>
                  </a:srgbClr>
                </a:solidFill>
                <a:latin typeface="Source Han Sans CN Bold"/>
                <a:ea typeface="Source Han Sans CN Bold"/>
                <a:cs typeface="Source Han Sans CN Bold"/>
              </a:rPr>
              <a:t>同质化竞争（PD- 1项目占全球63%）与原创不足（首创新药&lt;15%）并存。</a:t>
            </a:r>
            <a:endParaRPr kumimoji="1" lang="zh-CN" altLang="en-US"/>
          </a:p>
        </p:txBody>
      </p:sp>
      <p:sp>
        <p:nvSpPr>
          <p:cNvPr id="8" name="标题 1"/>
          <p:cNvSpPr txBox="1"/>
          <p:nvPr/>
        </p:nvSpPr>
        <p:spPr>
          <a:xfrm>
            <a:off x="1436194" y="1560095"/>
            <a:ext cx="163954" cy="163954"/>
          </a:xfrm>
          <a:prstGeom prst="ellipse">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rot="5400000">
            <a:off x="1222116" y="4044133"/>
            <a:ext cx="1804736" cy="1376579"/>
          </a:xfrm>
          <a:custGeom>
            <a:avLst/>
            <a:gdLst>
              <a:gd name="connsiteX0" fmla="*/ 0 w 1804736"/>
              <a:gd name="connsiteY0" fmla="*/ 807084 h 1376579"/>
              <a:gd name="connsiteX1" fmla="*/ 569495 w 1804736"/>
              <a:gd name="connsiteY1" fmla="*/ 237589 h 1376579"/>
              <a:gd name="connsiteX2" fmla="*/ 764567 w 1804736"/>
              <a:gd name="connsiteY2" fmla="*/ 237589 h 1376579"/>
              <a:gd name="connsiteX3" fmla="*/ 902369 w 1804736"/>
              <a:gd name="connsiteY3" fmla="*/ 0 h 1376579"/>
              <a:gd name="connsiteX4" fmla="*/ 1040170 w 1804736"/>
              <a:gd name="connsiteY4" fmla="*/ 237589 h 1376579"/>
              <a:gd name="connsiteX5" fmla="*/ 1235241 w 1804736"/>
              <a:gd name="connsiteY5" fmla="*/ 237589 h 1376579"/>
              <a:gd name="connsiteX6" fmla="*/ 1804736 w 1804736"/>
              <a:gd name="connsiteY6" fmla="*/ 807084 h 1376579"/>
              <a:gd name="connsiteX7" fmla="*/ 1235241 w 1804736"/>
              <a:gd name="connsiteY7" fmla="*/ 1376579 h 1376579"/>
              <a:gd name="connsiteX8" fmla="*/ 569495 w 1804736"/>
              <a:gd name="connsiteY8" fmla="*/ 1376579 h 1376579"/>
              <a:gd name="connsiteX9" fmla="*/ 0 w 1804736"/>
              <a:gd name="connsiteY9" fmla="*/ 807084 h 1376579"/>
            </a:gdLst>
            <a:ahLst/>
            <a:cxnLst/>
            <a:rect l="l" t="t" r="r" b="b"/>
            <a:pathLst>
              <a:path w="1804736" h="1376579">
                <a:moveTo>
                  <a:pt x="0" y="807084"/>
                </a:moveTo>
                <a:cubicBezTo>
                  <a:pt x="0" y="492561"/>
                  <a:pt x="254972" y="237589"/>
                  <a:pt x="569495" y="237589"/>
                </a:cubicBezTo>
                <a:lnTo>
                  <a:pt x="764567" y="237589"/>
                </a:lnTo>
                <a:lnTo>
                  <a:pt x="902369" y="0"/>
                </a:lnTo>
                <a:lnTo>
                  <a:pt x="1040170" y="237589"/>
                </a:lnTo>
                <a:lnTo>
                  <a:pt x="1235241" y="237589"/>
                </a:lnTo>
                <a:cubicBezTo>
                  <a:pt x="1549764" y="237589"/>
                  <a:pt x="1804736" y="492561"/>
                  <a:pt x="1804736" y="807084"/>
                </a:cubicBezTo>
                <a:cubicBezTo>
                  <a:pt x="1804736" y="1121607"/>
                  <a:pt x="1549764" y="1376579"/>
                  <a:pt x="1235241" y="1376579"/>
                </a:cubicBezTo>
                <a:lnTo>
                  <a:pt x="569495" y="1376579"/>
                </a:lnTo>
                <a:cubicBezTo>
                  <a:pt x="254972" y="1376579"/>
                  <a:pt x="0" y="1121607"/>
                  <a:pt x="0" y="807084"/>
                </a:cubicBezTo>
                <a:close/>
              </a:path>
            </a:pathLst>
          </a:custGeom>
          <a:solidFill>
            <a:schemeClr val="accent1"/>
          </a:solidFill>
          <a:ln w="12700" cap="sq">
            <a:solidFill>
              <a:schemeClr val="bg1"/>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1773837" y="4484721"/>
            <a:ext cx="433788" cy="495400"/>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11" name="标题 1"/>
          <p:cNvSpPr txBox="1"/>
          <p:nvPr/>
        </p:nvSpPr>
        <p:spPr>
          <a:xfrm>
            <a:off x="2938599" y="3926305"/>
            <a:ext cx="7802685" cy="1612234"/>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262626">
                    <a:alpha val="100000"/>
                  </a:srgbClr>
                </a:solidFill>
                <a:latin typeface="Source Han Sans CN Bold"/>
                <a:ea typeface="Source Han Sans CN Bold"/>
                <a:cs typeface="Source Han Sans CN Bold"/>
              </a:rPr>
              <a:t>建议：AI靶点发现平台+同质化竞争税（税率5- 10%）+风险共担基金（政府出资50%）。</a:t>
            </a:r>
            <a:endParaRPr kumimoji="1" lang="zh-CN" altLang="en-US"/>
          </a:p>
        </p:txBody>
      </p:sp>
      <p:sp>
        <p:nvSpPr>
          <p:cNvPr id="12" name="标题 1"/>
          <p:cNvSpPr txBox="1"/>
          <p:nvPr/>
        </p:nvSpPr>
        <p:spPr>
          <a:xfrm>
            <a:off x="1436194" y="3765885"/>
            <a:ext cx="163954" cy="163954"/>
          </a:xfrm>
          <a:prstGeom prst="ellipse">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9682299" y="3574715"/>
            <a:ext cx="1363785" cy="1167734"/>
          </a:xfrm>
          <a:prstGeom prst="rect">
            <a:avLst/>
          </a:prstGeom>
          <a:noFill/>
          <a:ln>
            <a:noFill/>
          </a:ln>
        </p:spPr>
        <p:txBody>
          <a:bodyPr vert="horz" wrap="square" lIns="0" tIns="0" rIns="0" bIns="0" rtlCol="0" anchor="ctr"/>
          <a:lstStyle/>
          <a:p>
            <a:pPr algn="r">
              <a:lnSpc>
                <a:spcPct val="150000"/>
              </a:lnSpc>
            </a:pPr>
            <a:r>
              <a:rPr kumimoji="1" lang="en-US" altLang="zh-CN" sz="7200">
                <a:ln w="12700">
                  <a:noFill/>
                </a:ln>
                <a:solidFill>
                  <a:srgbClr val="F2F2F2">
                    <a:alpha val="100000"/>
                  </a:srgbClr>
                </a:solidFill>
                <a:latin typeface="OPPOSans H"/>
                <a:ea typeface="OPPOSans H"/>
                <a:cs typeface="OPPOSans H"/>
              </a:rPr>
              <a:t>02</a:t>
            </a:r>
            <a:endParaRPr kumimoji="1"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171450" y="177800"/>
            <a:ext cx="7175500" cy="673100"/>
          </a:xfrm>
          <a:prstGeom prst="rect">
            <a:avLst/>
          </a:prstGeom>
          <a:noFill/>
        </p:spPr>
        <p:txBody>
          <a:bodyPr vert="horz" wrap="square" lIns="0" tIns="0" rIns="0" bIns="0" rtlCol="0" anchor="ctr">
            <a:spAutoFit/>
          </a:bodyPr>
          <a:lstStyle/>
          <a:p>
            <a:pPr algn="l">
              <a:lnSpc>
                <a:spcPct val="110000"/>
              </a:lnSpc>
            </a:pPr>
            <a:r>
              <a:rPr kumimoji="1" lang="en-US" altLang="zh-CN" sz="4800">
                <a:ln w="12700">
                  <a:noFill/>
                </a:ln>
                <a:solidFill>
                  <a:srgbClr val="333333">
                    <a:alpha val="100000"/>
                  </a:srgbClr>
                </a:solidFill>
                <a:latin typeface="Source Han Sans CN Bold"/>
                <a:ea typeface="Source Han Sans CN Bold"/>
                <a:cs typeface="Source Han Sans CN Bold"/>
              </a:rPr>
              <a:t>支付端挑战与建议</a:t>
            </a:r>
            <a:endParaRPr kumimoji="1" lang="zh-CN" altLang="en-US"/>
          </a:p>
        </p:txBody>
      </p:sp>
      <p:pic>
        <p:nvPicPr>
          <p:cNvPr id="4" name="图片 3"/>
          <p:cNvPicPr>
            <a:picLocks noChangeAspect="1"/>
          </p:cNvPicPr>
          <p:nvPr/>
        </p:nvPicPr>
        <p:blipFill>
          <a:blip r:embed="rId1">
            <a:alphaModFix amt="100000"/>
          </a:blip>
          <a:srcRect l="18493" r="18493"/>
          <a:stretch>
            <a:fillRect/>
          </a:stretch>
        </p:blipFill>
        <p:spPr>
          <a:xfrm>
            <a:off x="0" y="1130300"/>
            <a:ext cx="12192000" cy="1801302"/>
          </a:xfrm>
          <a:custGeom>
            <a:avLst/>
            <a:gdLst/>
            <a:ahLst/>
            <a:cxnLst/>
            <a:rect l="l" t="t" r="r" b="b"/>
            <a:pathLst>
              <a:path w="12192000" h="1801302">
                <a:moveTo>
                  <a:pt x="0" y="0"/>
                </a:moveTo>
                <a:lnTo>
                  <a:pt x="12192000" y="0"/>
                </a:lnTo>
                <a:lnTo>
                  <a:pt x="12192000" y="1801302"/>
                </a:lnTo>
                <a:lnTo>
                  <a:pt x="0" y="1801302"/>
                </a:lnTo>
                <a:close/>
              </a:path>
            </a:pathLst>
          </a:custGeom>
          <a:noFill/>
          <a:ln>
            <a:noFill/>
          </a:ln>
        </p:spPr>
      </p:pic>
      <p:sp>
        <p:nvSpPr>
          <p:cNvPr id="5" name="标题 1"/>
          <p:cNvSpPr txBox="1"/>
          <p:nvPr/>
        </p:nvSpPr>
        <p:spPr>
          <a:xfrm>
            <a:off x="0" y="1130300"/>
            <a:ext cx="12192000" cy="1801302"/>
          </a:xfrm>
          <a:prstGeom prst="rect">
            <a:avLst/>
          </a:prstGeom>
          <a:gradFill>
            <a:gsLst>
              <a:gs pos="0">
                <a:schemeClr val="accent1">
                  <a:lumMod val="20000"/>
                  <a:lumOff val="80000"/>
                </a:schemeClr>
              </a:gs>
              <a:gs pos="100000">
                <a:schemeClr val="accent1">
                  <a:alpha val="5400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660399" y="2133820"/>
            <a:ext cx="5104297" cy="3649759"/>
          </a:xfrm>
          <a:prstGeom prst="roundRect">
            <a:avLst>
              <a:gd name="adj" fmla="val 2908"/>
            </a:avLst>
          </a:prstGeom>
          <a:solidFill>
            <a:schemeClr val="bg1"/>
          </a:solidFill>
          <a:ln w="12700" cap="sq">
            <a:noFill/>
            <a:miter/>
          </a:ln>
          <a:effectLst>
            <a:outerShdw blurRad="203200" dist="38100" dir="2700000" algn="tl" rotWithShape="0">
              <a:srgbClr val="000000">
                <a:alpha val="8000"/>
              </a:srgbClr>
            </a:outerShdw>
          </a:effectLst>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nvSpPr>
        <p:spPr>
          <a:xfrm rot="16200000">
            <a:off x="-1082012" y="3870266"/>
            <a:ext cx="3659311" cy="174486"/>
          </a:xfrm>
          <a:prstGeom prst="round2SameRect">
            <a:avLst>
              <a:gd name="adj1" fmla="val 50000"/>
              <a:gd name="adj2" fmla="val 0"/>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8" name="标题 1"/>
          <p:cNvSpPr txBox="1"/>
          <p:nvPr/>
        </p:nvSpPr>
        <p:spPr>
          <a:xfrm>
            <a:off x="1058467" y="3486978"/>
            <a:ext cx="4459737" cy="2772642"/>
          </a:xfrm>
          <a:prstGeom prst="rect">
            <a:avLst/>
          </a:prstGeom>
          <a:noFill/>
          <a:ln>
            <a:noFill/>
          </a:ln>
        </p:spPr>
        <p:txBody>
          <a:bodyPr vert="horz" wrap="square" lIns="0" tIns="0" rIns="0" bIns="0" rtlCol="0" anchor="t"/>
          <a:lstStyle/>
          <a:p>
            <a:pPr algn="l">
              <a:lnSpc>
                <a:spcPct val="150000"/>
              </a:lnSpc>
            </a:pPr>
            <a:r>
              <a:rPr kumimoji="1" lang="en-US" altLang="zh-CN" sz="2000">
                <a:ln w="12700">
                  <a:noFill/>
                </a:ln>
                <a:solidFill>
                  <a:srgbClr val="000000">
                    <a:alpha val="100000"/>
                  </a:srgbClr>
                </a:solidFill>
                <a:latin typeface="Source Han Sans CN Bold"/>
                <a:ea typeface="Source Han Sans CN Bold"/>
                <a:cs typeface="Source Han Sans CN Bold"/>
              </a:rPr>
              <a:t>医保基金赤字率扩大（2024年达8.5%）与商保覆盖不足（5.3%）双重压力。</a:t>
            </a:r>
            <a:endParaRPr kumimoji="1" lang="zh-CN" altLang="en-US"/>
          </a:p>
        </p:txBody>
      </p:sp>
      <p:sp>
        <p:nvSpPr>
          <p:cNvPr id="9" name="标题 1"/>
          <p:cNvSpPr txBox="1"/>
          <p:nvPr/>
        </p:nvSpPr>
        <p:spPr>
          <a:xfrm>
            <a:off x="6414603" y="2133820"/>
            <a:ext cx="5104297" cy="3649759"/>
          </a:xfrm>
          <a:prstGeom prst="roundRect">
            <a:avLst>
              <a:gd name="adj" fmla="val 2908"/>
            </a:avLst>
          </a:prstGeom>
          <a:solidFill>
            <a:schemeClr val="bg1"/>
          </a:solidFill>
          <a:ln w="12700" cap="sq">
            <a:noFill/>
            <a:miter/>
          </a:ln>
          <a:effectLst>
            <a:outerShdw blurRad="203200" dist="38100" dir="2700000" algn="tl" rotWithShape="0">
              <a:srgbClr val="000000">
                <a:alpha val="8000"/>
              </a:srgbClr>
            </a:outerShdw>
          </a:effectLst>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rot="16200000">
            <a:off x="4672193" y="3870265"/>
            <a:ext cx="3659309" cy="174486"/>
          </a:xfrm>
          <a:prstGeom prst="round2SameRect">
            <a:avLst>
              <a:gd name="adj1" fmla="val 50000"/>
              <a:gd name="adj2" fmla="val 0"/>
            </a:avLst>
          </a:prstGeom>
          <a:solidFill>
            <a:schemeClr val="accent2"/>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a:off x="6812671" y="3486978"/>
            <a:ext cx="4459737" cy="2772642"/>
          </a:xfrm>
          <a:prstGeom prst="rect">
            <a:avLst/>
          </a:prstGeom>
          <a:noFill/>
          <a:ln>
            <a:noFill/>
          </a:ln>
        </p:spPr>
        <p:txBody>
          <a:bodyPr vert="horz" wrap="square" lIns="0" tIns="0" rIns="0" bIns="0" rtlCol="0" anchor="t"/>
          <a:lstStyle/>
          <a:p>
            <a:pPr algn="l">
              <a:lnSpc>
                <a:spcPct val="150000"/>
              </a:lnSpc>
            </a:pPr>
            <a:r>
              <a:rPr kumimoji="1" lang="en-US" altLang="zh-CN" sz="2000">
                <a:ln w="12700">
                  <a:noFill/>
                </a:ln>
                <a:solidFill>
                  <a:srgbClr val="000000">
                    <a:alpha val="100000"/>
                  </a:srgbClr>
                </a:solidFill>
                <a:latin typeface="Source Han Sans CN Bold"/>
                <a:ea typeface="Source Han Sans CN Bold"/>
                <a:cs typeface="Source Han Sans CN Bold"/>
              </a:rPr>
              <a:t>建议：医保单列预算+疗效挂钩支付（分阶段付款）+商保创新药目录。</a:t>
            </a:r>
            <a:endParaRPr kumimoji="1" lang="zh-CN" altLang="en-US"/>
          </a:p>
        </p:txBody>
      </p:sp>
      <p:sp>
        <p:nvSpPr>
          <p:cNvPr id="12" name="标题 1"/>
          <p:cNvSpPr txBox="1"/>
          <p:nvPr/>
        </p:nvSpPr>
        <p:spPr>
          <a:xfrm>
            <a:off x="1058467" y="2291964"/>
            <a:ext cx="4460400" cy="389614"/>
          </a:xfrm>
          <a:prstGeom prst="rect">
            <a:avLst/>
          </a:prstGeom>
          <a:noFill/>
          <a:ln>
            <a:noFill/>
          </a:ln>
        </p:spPr>
        <p:txBody>
          <a:bodyPr vert="horz" wrap="square" lIns="0" tIns="0" rIns="0" bIns="0" rtlCol="0" anchor="t"/>
          <a:lstStyle/>
          <a:p>
            <a:pPr algn="l">
              <a:lnSpc>
                <a:spcPct val="150000"/>
              </a:lnSpc>
            </a:pPr>
            <a:r>
              <a:rPr kumimoji="1" lang="en-US" altLang="zh-CN" sz="5200">
                <a:ln w="12700">
                  <a:noFill/>
                </a:ln>
                <a:solidFill>
                  <a:srgbClr val="000000">
                    <a:alpha val="100000"/>
                  </a:srgbClr>
                </a:solidFill>
                <a:latin typeface="Source Han Sans"/>
                <a:ea typeface="Source Han Sans"/>
                <a:cs typeface="Source Han Sans"/>
              </a:rPr>
              <a:t>01</a:t>
            </a:r>
            <a:endParaRPr kumimoji="1" lang="zh-CN" altLang="en-US"/>
          </a:p>
        </p:txBody>
      </p:sp>
      <p:sp>
        <p:nvSpPr>
          <p:cNvPr id="13" name="标题 1"/>
          <p:cNvSpPr txBox="1"/>
          <p:nvPr/>
        </p:nvSpPr>
        <p:spPr>
          <a:xfrm>
            <a:off x="6812671" y="2291964"/>
            <a:ext cx="4460400" cy="389614"/>
          </a:xfrm>
          <a:prstGeom prst="rect">
            <a:avLst/>
          </a:prstGeom>
          <a:noFill/>
          <a:ln>
            <a:noFill/>
          </a:ln>
        </p:spPr>
        <p:txBody>
          <a:bodyPr vert="horz" wrap="square" lIns="0" tIns="0" rIns="0" bIns="0" rtlCol="0" anchor="t"/>
          <a:lstStyle/>
          <a:p>
            <a:pPr algn="l">
              <a:lnSpc>
                <a:spcPct val="150000"/>
              </a:lnSpc>
            </a:pPr>
            <a:r>
              <a:rPr kumimoji="1" lang="en-US" altLang="zh-CN" sz="5300">
                <a:ln w="12700">
                  <a:noFill/>
                </a:ln>
                <a:solidFill>
                  <a:srgbClr val="000000">
                    <a:alpha val="100000"/>
                  </a:srgbClr>
                </a:solidFill>
                <a:latin typeface="Source Han Sans"/>
                <a:ea typeface="Source Han Sans"/>
                <a:cs typeface="Source Han Sans"/>
              </a:rPr>
              <a:t>02</a:t>
            </a:r>
            <a:endParaRPr kumimoji="1"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171450" y="177800"/>
            <a:ext cx="7175500" cy="673100"/>
          </a:xfrm>
          <a:prstGeom prst="rect">
            <a:avLst/>
          </a:prstGeom>
          <a:noFill/>
        </p:spPr>
        <p:txBody>
          <a:bodyPr vert="horz" wrap="square" lIns="0" tIns="0" rIns="0" bIns="0" rtlCol="0" anchor="ctr">
            <a:spAutoFit/>
          </a:bodyPr>
          <a:lstStyle/>
          <a:p>
            <a:pPr algn="l">
              <a:lnSpc>
                <a:spcPct val="110000"/>
              </a:lnSpc>
            </a:pPr>
            <a:r>
              <a:rPr kumimoji="1" lang="en-US" altLang="zh-CN" sz="4800">
                <a:ln w="12700">
                  <a:noFill/>
                </a:ln>
                <a:solidFill>
                  <a:srgbClr val="333333">
                    <a:alpha val="100000"/>
                  </a:srgbClr>
                </a:solidFill>
                <a:latin typeface="Source Han Sans CN Bold"/>
                <a:ea typeface="Source Han Sans CN Bold"/>
                <a:cs typeface="Source Han Sans CN Bold"/>
              </a:rPr>
              <a:t>国际端挑战与建议</a:t>
            </a:r>
            <a:endParaRPr kumimoji="1" lang="zh-CN" altLang="en-US"/>
          </a:p>
        </p:txBody>
      </p:sp>
      <p:sp>
        <p:nvSpPr>
          <p:cNvPr id="4" name="标题 1"/>
          <p:cNvSpPr txBox="1"/>
          <p:nvPr/>
        </p:nvSpPr>
        <p:spPr>
          <a:xfrm>
            <a:off x="794426" y="2049200"/>
            <a:ext cx="3422568" cy="3330520"/>
          </a:xfrm>
          <a:prstGeom prst="roundRect">
            <a:avLst>
              <a:gd name="adj" fmla="val 6411"/>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660400" y="1868700"/>
            <a:ext cx="3690620" cy="496800"/>
          </a:xfrm>
          <a:prstGeom prst="roundRect">
            <a:avLst>
              <a:gd name="adj" fmla="val 50000"/>
            </a:avLst>
          </a:prstGeom>
          <a:gradFill>
            <a:gsLst>
              <a:gs pos="0">
                <a:schemeClr val="accent1"/>
              </a:gs>
              <a:gs pos="100000">
                <a:schemeClr val="accent1">
                  <a:lumMod val="7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905456" y="1947823"/>
            <a:ext cx="3200508" cy="338554"/>
          </a:xfrm>
          <a:prstGeom prst="rect">
            <a:avLst/>
          </a:prstGeom>
          <a:noFill/>
          <a:ln>
            <a:noFill/>
          </a:ln>
        </p:spPr>
        <p:txBody>
          <a:bodyPr vert="horz" wrap="square" lIns="0" tIns="0" rIns="0" bIns="0" rtlCol="0" anchor="ctr"/>
          <a:lstStyle/>
          <a:p>
            <a:pPr algn="ctr">
              <a:lnSpc>
                <a:spcPct val="100000"/>
              </a:lnSpc>
            </a:pPr>
            <a:r>
              <a:rPr kumimoji="1" lang="en-US" altLang="zh-CN" sz="1800">
                <a:ln w="12700">
                  <a:noFill/>
                </a:ln>
                <a:solidFill>
                  <a:srgbClr val="FFFFFF">
                    <a:alpha val="100000"/>
                  </a:srgbClr>
                </a:solidFill>
                <a:latin typeface="Source Han Sans"/>
                <a:ea typeface="Source Han Sans"/>
                <a:cs typeface="Source Han Sans"/>
              </a:rPr>
              <a:t>01</a:t>
            </a:r>
            <a:endParaRPr kumimoji="1" lang="zh-CN" altLang="en-US"/>
          </a:p>
        </p:txBody>
      </p:sp>
      <p:sp>
        <p:nvSpPr>
          <p:cNvPr id="7" name="标题 1"/>
          <p:cNvSpPr txBox="1"/>
          <p:nvPr/>
        </p:nvSpPr>
        <p:spPr>
          <a:xfrm>
            <a:off x="960168" y="2550900"/>
            <a:ext cx="3091084" cy="2010600"/>
          </a:xfrm>
          <a:prstGeom prst="rect">
            <a:avLst/>
          </a:prstGeom>
          <a:noFill/>
          <a:ln>
            <a:noFill/>
          </a:ln>
        </p:spPr>
        <p:txBody>
          <a:bodyPr vert="horz" wrap="square" lIns="0" tIns="0" rIns="0" bIns="0" rtlCol="0" anchor="t"/>
          <a:lstStyle/>
          <a:p>
            <a:pPr algn="ctr">
              <a:lnSpc>
                <a:spcPct val="150000"/>
              </a:lnSpc>
            </a:pPr>
            <a:r>
              <a:rPr kumimoji="1" lang="en-US" altLang="zh-CN" sz="2000">
                <a:ln w="12700">
                  <a:noFill/>
                </a:ln>
                <a:solidFill>
                  <a:srgbClr val="262626">
                    <a:alpha val="100000"/>
                  </a:srgbClr>
                </a:solidFill>
                <a:latin typeface="Source Han Sans CN Bold"/>
                <a:ea typeface="Source Han Sans CN Bold"/>
                <a:cs typeface="Source Han Sans CN Bold"/>
              </a:rPr>
              <a:t>跨境交易额增长（350亿美元）但定价权缺失（海外单价仅为欧美30%）。</a:t>
            </a:r>
            <a:endParaRPr kumimoji="1" lang="zh-CN" altLang="en-US"/>
          </a:p>
        </p:txBody>
      </p:sp>
      <p:sp>
        <p:nvSpPr>
          <p:cNvPr id="8" name="标题 1"/>
          <p:cNvSpPr txBox="1"/>
          <p:nvPr/>
        </p:nvSpPr>
        <p:spPr>
          <a:xfrm flipH="1">
            <a:off x="7964846" y="2049200"/>
            <a:ext cx="3422568" cy="3330520"/>
          </a:xfrm>
          <a:prstGeom prst="roundRect">
            <a:avLst>
              <a:gd name="adj" fmla="val 6411"/>
            </a:avLst>
          </a:prstGeom>
          <a:solidFill>
            <a:schemeClr val="bg1"/>
          </a:solidFill>
          <a:ln w="12700" cap="sq">
            <a:solidFill>
              <a:schemeClr val="accent2"/>
            </a:solid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flipH="1">
            <a:off x="7833360" y="1868700"/>
            <a:ext cx="3685540" cy="496800"/>
          </a:xfrm>
          <a:prstGeom prst="roundRect">
            <a:avLst>
              <a:gd name="adj" fmla="val 50000"/>
            </a:avLst>
          </a:prstGeom>
          <a:gradFill>
            <a:gsLst>
              <a:gs pos="0">
                <a:schemeClr val="accent2"/>
              </a:gs>
              <a:gs pos="100000">
                <a:schemeClr val="accent2">
                  <a:lumMod val="7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8075876" y="1947823"/>
            <a:ext cx="3200508" cy="338554"/>
          </a:xfrm>
          <a:prstGeom prst="rect">
            <a:avLst/>
          </a:prstGeom>
          <a:noFill/>
          <a:ln>
            <a:noFill/>
          </a:ln>
        </p:spPr>
        <p:txBody>
          <a:bodyPr vert="horz" wrap="square" lIns="0" tIns="0" rIns="0" bIns="0" rtlCol="0" anchor="ctr"/>
          <a:lstStyle/>
          <a:p>
            <a:pPr algn="ctr">
              <a:lnSpc>
                <a:spcPct val="100000"/>
              </a:lnSpc>
            </a:pPr>
            <a:r>
              <a:rPr kumimoji="1" lang="en-US" altLang="zh-CN" sz="1800">
                <a:ln w="12700">
                  <a:noFill/>
                </a:ln>
                <a:solidFill>
                  <a:srgbClr val="FFFFFF">
                    <a:alpha val="100000"/>
                  </a:srgbClr>
                </a:solidFill>
                <a:latin typeface="Source Han Sans"/>
                <a:ea typeface="Source Han Sans"/>
                <a:cs typeface="Source Han Sans"/>
              </a:rPr>
              <a:t>02</a:t>
            </a:r>
            <a:endParaRPr kumimoji="1" lang="zh-CN" altLang="en-US"/>
          </a:p>
        </p:txBody>
      </p:sp>
      <p:sp>
        <p:nvSpPr>
          <p:cNvPr id="11" name="标题 1"/>
          <p:cNvSpPr txBox="1"/>
          <p:nvPr/>
        </p:nvSpPr>
        <p:spPr>
          <a:xfrm>
            <a:off x="8130588" y="2550900"/>
            <a:ext cx="3091084" cy="2010600"/>
          </a:xfrm>
          <a:prstGeom prst="rect">
            <a:avLst/>
          </a:prstGeom>
          <a:noFill/>
          <a:ln>
            <a:noFill/>
          </a:ln>
        </p:spPr>
        <p:txBody>
          <a:bodyPr vert="horz" wrap="square" lIns="0" tIns="0" rIns="0" bIns="0" rtlCol="0" anchor="t"/>
          <a:lstStyle/>
          <a:p>
            <a:pPr algn="ctr">
              <a:lnSpc>
                <a:spcPct val="150000"/>
              </a:lnSpc>
            </a:pPr>
            <a:r>
              <a:rPr kumimoji="1" lang="en-US" altLang="zh-CN" sz="2000">
                <a:ln w="12700">
                  <a:noFill/>
                </a:ln>
                <a:solidFill>
                  <a:srgbClr val="262626">
                    <a:alpha val="100000"/>
                  </a:srgbClr>
                </a:solidFill>
                <a:latin typeface="Source Han Sans CN Bold"/>
                <a:ea typeface="Source Han Sans CN Bold"/>
                <a:cs typeface="Source Han Sans CN Bold"/>
              </a:rPr>
              <a:t>建议：主导“中国- 东盟HTA联盟”，统一东南亚准入标准。推动RWE数据国际互认（与FDA、EMA签署协议）。</a:t>
            </a:r>
            <a:endParaRPr kumimoji="1" lang="zh-CN" altLang="en-US"/>
          </a:p>
        </p:txBody>
      </p:sp>
      <p:sp>
        <p:nvSpPr>
          <p:cNvPr id="12" name="标题 1"/>
          <p:cNvSpPr txBox="1"/>
          <p:nvPr/>
        </p:nvSpPr>
        <p:spPr>
          <a:xfrm>
            <a:off x="4003200" y="5155020"/>
            <a:ext cx="86400" cy="86400"/>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pic>
        <p:nvPicPr>
          <p:cNvPr id="13" name="图片 12"/>
          <p:cNvPicPr>
            <a:picLocks noChangeAspect="1"/>
          </p:cNvPicPr>
          <p:nvPr/>
        </p:nvPicPr>
        <p:blipFill>
          <a:blip r:embed="rId1">
            <a:alphaModFix amt="100000"/>
          </a:blip>
          <a:srcRect l="19956" r="19956"/>
          <a:stretch>
            <a:fillRect/>
          </a:stretch>
        </p:blipFill>
        <p:spPr>
          <a:xfrm>
            <a:off x="4439816" y="1486927"/>
            <a:ext cx="3312368" cy="4290546"/>
          </a:xfrm>
          <a:custGeom>
            <a:avLst/>
            <a:gdLst/>
            <a:ahLst/>
            <a:cxnLst/>
            <a:rect l="l" t="t" r="r" b="b"/>
            <a:pathLst>
              <a:path w="3312368" h="4290546">
                <a:moveTo>
                  <a:pt x="212356" y="0"/>
                </a:moveTo>
                <a:lnTo>
                  <a:pt x="3100012" y="0"/>
                </a:lnTo>
                <a:cubicBezTo>
                  <a:pt x="3217293" y="0"/>
                  <a:pt x="3312368" y="95075"/>
                  <a:pt x="3312368" y="212356"/>
                </a:cubicBezTo>
                <a:lnTo>
                  <a:pt x="3312368" y="4078190"/>
                </a:lnTo>
                <a:cubicBezTo>
                  <a:pt x="3312368" y="4195471"/>
                  <a:pt x="3217293" y="4290546"/>
                  <a:pt x="3100012" y="4290546"/>
                </a:cubicBezTo>
                <a:lnTo>
                  <a:pt x="212356" y="4290546"/>
                </a:lnTo>
                <a:cubicBezTo>
                  <a:pt x="95075" y="4290546"/>
                  <a:pt x="0" y="4195471"/>
                  <a:pt x="0" y="4078190"/>
                </a:cubicBezTo>
                <a:lnTo>
                  <a:pt x="0" y="212356"/>
                </a:lnTo>
                <a:cubicBezTo>
                  <a:pt x="0" y="95075"/>
                  <a:pt x="95075" y="0"/>
                  <a:pt x="212356" y="0"/>
                </a:cubicBezTo>
                <a:close/>
              </a:path>
            </a:pathLst>
          </a:cu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857452" y="6438900"/>
            <a:ext cx="2661448" cy="215900"/>
          </a:xfrm>
          <a:prstGeom prst="rect">
            <a:avLst/>
          </a:prstGeom>
          <a:noFill/>
          <a:ln>
            <a:noFill/>
          </a:ln>
        </p:spPr>
        <p:txBody>
          <a:bodyPr vert="horz" wrap="square" lIns="91440" tIns="45720" rIns="91440" bIns="45720" rtlCol="0" anchor="t"/>
          <a:lstStyle/>
          <a:p>
            <a:pPr algn="r">
              <a:lnSpc>
                <a:spcPct val="110000"/>
              </a:lnSpc>
            </a:pPr>
            <a:endParaRPr kumimoji="1" lang="zh-CN" altLang="en-US"/>
          </a:p>
        </p:txBody>
      </p:sp>
      <p:sp>
        <p:nvSpPr>
          <p:cNvPr id="3" name="标题 1"/>
          <p:cNvSpPr txBox="1"/>
          <p:nvPr/>
        </p:nvSpPr>
        <p:spPr>
          <a:xfrm>
            <a:off x="407035" y="268923"/>
            <a:ext cx="10431145" cy="5952490"/>
          </a:xfrm>
          <a:prstGeom prst="rect">
            <a:avLst/>
          </a:prstGeom>
          <a:noFill/>
        </p:spPr>
        <p:txBody>
          <a:bodyPr vert="horz" wrap="square" lIns="0" tIns="0" rIns="0" bIns="0" rtlCol="0" anchor="ctr">
            <a:spAutoFit/>
          </a:bodyPr>
          <a:lstStyle/>
          <a:p>
            <a:pPr algn="l">
              <a:lnSpc>
                <a:spcPct val="110000"/>
              </a:lnSpc>
            </a:pPr>
            <a:r>
              <a:rPr kumimoji="1" lang="zh-CN" altLang="en-US" sz="1600" b="1">
                <a:ln w="12700">
                  <a:noFill/>
                </a:ln>
                <a:solidFill>
                  <a:srgbClr val="333333">
                    <a:alpha val="100000"/>
                  </a:srgbClr>
                </a:solidFill>
                <a:latin typeface="Source Han Sans CN Bold"/>
                <a:ea typeface="Source Han Sans CN Bold"/>
                <a:cs typeface="Source Han Sans CN Bold"/>
              </a:rPr>
              <a:t>参考文献</a:t>
            </a:r>
            <a:r>
              <a:rPr kumimoji="1" lang="en-US" altLang="zh-CN" sz="1600" b="1">
                <a:ln w="12700">
                  <a:noFill/>
                </a:ln>
                <a:solidFill>
                  <a:srgbClr val="333333">
                    <a:alpha val="100000"/>
                  </a:srgbClr>
                </a:solidFill>
                <a:latin typeface="Source Han Sans CN Bold"/>
                <a:ea typeface="Source Han Sans CN Bold"/>
                <a:cs typeface="Source Han Sans CN Bold"/>
              </a:rPr>
              <a:t>：</a:t>
            </a:r>
            <a:endParaRPr kumimoji="1" lang="zh-CN" altLang="en-US" sz="1600" b="1">
              <a:ln w="12700">
                <a:noFill/>
              </a:ln>
              <a:solidFill>
                <a:srgbClr val="333333">
                  <a:alpha val="100000"/>
                </a:srgbClr>
              </a:solidFill>
              <a:latin typeface="Source Han Sans CN Bold"/>
              <a:ea typeface="Source Han Sans CN Bold"/>
              <a:cs typeface="Source Han Sans CN Bold"/>
            </a:endParaRPr>
          </a:p>
          <a:p>
            <a:pPr algn="l">
              <a:lnSpc>
                <a:spcPct val="110000"/>
              </a:lnSpc>
            </a:pP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国务院办公厅.《全链条支持创新药发展实施方案》.2024.</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European Commission.HTA Regulation(EU)2021/2282.2021.</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Rothwell,P.M.Policy Tools for Biopharmaceutical Innovation.Nature Reviews Drug Discovery,2024,23(1):45-60.</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Garrison,L.P.Performance-Based Risk-Sharing Arrangements.Health Economics,2023,32(S1):89-104.</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王奇巍等.《中国创新药政策改革十年回顾》.《中国卫生政策研究》,2024(3):12-25.</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国家药监局.《真实世界证据支持药物研发指导原则》.2023.</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FDA. Sentinel Initiative: National Strategy for Real-World Evidence. 2024.</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European Commission. EU HTA Regulation (2021/2282). 2021.</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《中国卫生政策研究》：北京市CHS-DRG“除外支付”机制分析（2025）.</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《Health Affairs》：欧盟HTA协作机制的区域公平性研究（2024）.</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国家药监局. 《真实世界证据支持药物研发指导原则》. 2023.</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国务院. 《“十四五”生物经济发展规划》. 2023.</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国家医保局. 《关于深化医保支付方式改革的指导意见》. 2025.</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Arrow, K. J. (1962). Economic Welfare and the Allocation of Resources for Invention. NBER.</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Porter, M. E. (2010). What is Value in Health Care? NEJM.</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李明等. (2024). 真实世界证据在创新药审评中的应用研究. 《中国新药杂志》.</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国家药监局. (2023). 《真实世界证据支持药物研发指导原则》.</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FDA. (2021). Real-World Evidence Program Framework.</a:t>
            </a:r>
            <a:endParaRPr kumimoji="1" lang="zh-CN" altLang="en-US" sz="1600">
              <a:ln w="12700">
                <a:noFill/>
              </a:ln>
              <a:solidFill>
                <a:srgbClr val="333333">
                  <a:alpha val="100000"/>
                </a:srgbClr>
              </a:solidFill>
              <a:latin typeface="Source Han Sans CN Bold"/>
              <a:ea typeface="Source Han Sans CN Bold"/>
              <a:cs typeface="Source Han Sans CN Bold"/>
            </a:endParaRPr>
          </a:p>
          <a:p>
            <a:pPr marL="342900" indent="-342900" algn="l">
              <a:lnSpc>
                <a:spcPct val="110000"/>
              </a:lnSpc>
              <a:buFont typeface="Arial" panose="020B0604020202090204" pitchFamily="34" charset="0"/>
              <a:buChar char="•"/>
            </a:pPr>
            <a:r>
              <a:rPr kumimoji="1" lang="zh-CN" altLang="en-US" sz="1600">
                <a:ln w="12700">
                  <a:noFill/>
                </a:ln>
                <a:solidFill>
                  <a:srgbClr val="333333">
                    <a:alpha val="100000"/>
                  </a:srgbClr>
                </a:solidFill>
                <a:latin typeface="Source Han Sans CN Bold"/>
                <a:ea typeface="Source Han Sans CN Bold"/>
                <a:cs typeface="Source Han Sans CN Bold"/>
              </a:rPr>
              <a:t>European Commission. (2021). EU HTA Regulation (2021/2282).</a:t>
            </a:r>
            <a:endParaRPr kumimoji="1" lang="zh-CN" altLang="en-US" sz="1600">
              <a:ln w="12700">
                <a:noFill/>
              </a:ln>
              <a:solidFill>
                <a:srgbClr val="333333">
                  <a:alpha val="100000"/>
                </a:srgbClr>
              </a:solidFill>
              <a:latin typeface="Source Han Sans CN Bold"/>
              <a:ea typeface="Source Han Sans CN Bold"/>
              <a:cs typeface="Source Han Sans CN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1">
            <a:alphaModFix amt="100000"/>
          </a:blip>
          <a:srcRect/>
          <a:stretch>
            <a:fillRect/>
          </a:stretch>
        </p:blipFill>
        <p:spPr>
          <a:xfrm>
            <a:off x="0" y="0"/>
            <a:ext cx="12192000" cy="6858000"/>
          </a:xfrm>
          <a:prstGeom prst="rect">
            <a:avLst/>
          </a:prstGeom>
          <a:noFill/>
          <a:ln>
            <a:noFill/>
          </a:ln>
        </p:spPr>
      </p:pic>
      <p:sp>
        <p:nvSpPr>
          <p:cNvPr id="3" name="标题 1"/>
          <p:cNvSpPr txBox="1"/>
          <p:nvPr/>
        </p:nvSpPr>
        <p:spPr>
          <a:xfrm>
            <a:off x="3911599" y="4240489"/>
            <a:ext cx="4432301" cy="217211"/>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660400" y="1832374"/>
            <a:ext cx="10858500" cy="2772786"/>
          </a:xfrm>
          <a:prstGeom prst="rect">
            <a:avLst/>
          </a:prstGeom>
          <a:noFill/>
          <a:ln>
            <a:noFill/>
          </a:ln>
        </p:spPr>
        <p:txBody>
          <a:bodyPr vert="horz" wrap="square" lIns="91440" tIns="45720" rIns="91440" bIns="45720" rtlCol="0" anchor="t"/>
          <a:lstStyle/>
          <a:p>
            <a:pPr algn="ctr">
              <a:lnSpc>
                <a:spcPct val="110000"/>
              </a:lnSpc>
            </a:pPr>
            <a:r>
              <a:rPr kumimoji="1" lang="en-US" altLang="zh-CN" sz="6400">
                <a:ln w="12700">
                  <a:noFill/>
                </a:ln>
                <a:solidFill>
                  <a:srgbClr val="000000">
                    <a:alpha val="100000"/>
                  </a:srgbClr>
                </a:solidFill>
                <a:latin typeface="OPPOSans R"/>
                <a:ea typeface="OPPOSans R"/>
                <a:cs typeface="OPPOSans R"/>
              </a:rPr>
              <a:t>谢谢大家</a:t>
            </a:r>
            <a:endParaRPr kumimoji="1"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TABLE_ENDDRAG_ORIGIN_RECT" val="869*249"/>
  <p:tag name="TABLE_ENDDRAG_RECT" val="44*66*869*249"/>
</p:tagLst>
</file>

<file path=ppt/tags/tag3.xml><?xml version="1.0" encoding="utf-8"?>
<p:tagLst xmlns:p="http://schemas.openxmlformats.org/presentationml/2006/main">
  <p:tag name="TABLE_ENDDRAG_ORIGIN_RECT" val="869*249"/>
  <p:tag name="TABLE_ENDDRAG_RECT" val="44*66*869*249"/>
  <p:tag name="KSO_WM_BEAUTIFY_FLAG" val=""/>
</p:tagLst>
</file>

<file path=ppt/tags/tag4.xml><?xml version="1.0" encoding="utf-8"?>
<p:tagLst xmlns:p="http://schemas.openxmlformats.org/presentationml/2006/main">
  <p:tag name="TABLE_ENDDRAG_ORIGIN_RECT" val="869*249"/>
  <p:tag name="TABLE_ENDDRAG_RECT" val="44*66*869*249"/>
  <p:tag name="KSO_WM_BEAUTIFY_FLAG" val=""/>
</p:tagLst>
</file>

<file path=ppt/tags/tag5.xml><?xml version="1.0" encoding="utf-8"?>
<p:tagLst xmlns:p="http://schemas.openxmlformats.org/presentationml/2006/main">
  <p:tag name="TABLE_ENDDRAG_ORIGIN_RECT" val="869*249"/>
  <p:tag name="TABLE_ENDDRAG_RECT" val="44*66*869*249"/>
  <p:tag name="KSO_WM_BEAUTIFY_FLAG" val=""/>
</p:tagLst>
</file>

<file path=ppt/tags/tag6.xml><?xml version="1.0" encoding="utf-8"?>
<p:tagLst xmlns:p="http://schemas.openxmlformats.org/presentationml/2006/main">
  <p:tag name="TABLE_ENDDRAG_ORIGIN_RECT" val="826*387"/>
  <p:tag name="TABLE_ENDDRAG_RECT" val="61*100*826*387"/>
</p:tagLst>
</file>

<file path=ppt/tags/tag7.xml><?xml version="1.0" encoding="utf-8"?>
<p:tagLst xmlns:p="http://schemas.openxmlformats.org/presentationml/2006/main">
  <p:tag name="TABLE_ENDDRAG_ORIGIN_RECT" val="850*335"/>
  <p:tag name="TABLE_ENDDRAG_RECT" val="43*116*850*335"/>
</p:tagLst>
</file>

<file path=ppt/tags/tag8.xml><?xml version="1.0" encoding="utf-8"?>
<p:tagLst xmlns:p="http://schemas.openxmlformats.org/presentationml/2006/main">
  <p:tag name="TABLE_ENDDRAG_ORIGIN_RECT" val="842*365"/>
  <p:tag name="TABLE_ENDDRAG_RECT" val="54*110*842*365"/>
</p:tagLst>
</file>

<file path=ppt/tags/tag9.xml><?xml version="1.0" encoding="utf-8"?>
<p:tagLst xmlns:p="http://schemas.openxmlformats.org/presentationml/2006/main">
  <p:tag name="KSO_WM_BEAUTIFY_FLAG" val=""/>
</p:tagLst>
</file>

<file path=ppt/theme/theme1.xml><?xml version="1.0" encoding="utf-8"?>
<a:theme xmlns:a="http://schemas.openxmlformats.org/drawingml/2006/main" name="Office 主题​​">
  <a:themeElements>
    <a:clrScheme name="Office">
      <a:dk1>
        <a:srgbClr val="000000"/>
      </a:dk1>
      <a:lt1>
        <a:srgbClr val="FFFFFF"/>
      </a:lt1>
      <a:dk2>
        <a:srgbClr val="4A66AC"/>
      </a:dk2>
      <a:lt2>
        <a:srgbClr val="E0EBF6"/>
      </a:lt2>
      <a:accent1>
        <a:srgbClr val="0236DE"/>
      </a:accent1>
      <a:accent2>
        <a:srgbClr val="5DA6FF"/>
      </a:accent2>
      <a:accent3>
        <a:srgbClr val="585858"/>
      </a:accent3>
      <a:accent4>
        <a:srgbClr val="757575"/>
      </a:accent4>
      <a:accent5>
        <a:srgbClr val="A8A8A8"/>
      </a:accent5>
      <a:accent6>
        <a:srgbClr val="BEBEBE"/>
      </a:accent6>
      <a:hlink>
        <a:srgbClr val="000000"/>
      </a:hlink>
      <a:folHlink>
        <a:srgbClr val="00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rgbClr val="000000"/>
      </a:dk1>
      <a:lt1>
        <a:srgbClr val="FFFFFF"/>
      </a:lt1>
      <a:dk2>
        <a:srgbClr val="4A66AC"/>
      </a:dk2>
      <a:lt2>
        <a:srgbClr val="E0EBF6"/>
      </a:lt2>
      <a:accent1>
        <a:srgbClr val="0236DE"/>
      </a:accent1>
      <a:accent2>
        <a:srgbClr val="5DA6FF"/>
      </a:accent2>
      <a:accent3>
        <a:srgbClr val="585858"/>
      </a:accent3>
      <a:accent4>
        <a:srgbClr val="757575"/>
      </a:accent4>
      <a:accent5>
        <a:srgbClr val="A8A8A8"/>
      </a:accent5>
      <a:accent6>
        <a:srgbClr val="BEBEBE"/>
      </a:accent6>
      <a:hlink>
        <a:srgbClr val="000000"/>
      </a:hlink>
      <a:folHlink>
        <a:srgbClr val="00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5464</Words>
  <Application>WPS 表格</Application>
  <PresentationFormat/>
  <Paragraphs>346</Paragraphs>
  <Slides>19</Slides>
  <Notes>0</Notes>
  <HiddenSlides>0</HiddenSlides>
  <MMClips>0</MMClips>
  <ScaleCrop>false</ScaleCrop>
  <HeadingPairs>
    <vt:vector size="6" baseType="variant">
      <vt:variant>
        <vt:lpstr>已用的字体</vt:lpstr>
      </vt:variant>
      <vt:variant>
        <vt:i4>31</vt:i4>
      </vt:variant>
      <vt:variant>
        <vt:lpstr>主题</vt:lpstr>
      </vt:variant>
      <vt:variant>
        <vt:i4>2</vt:i4>
      </vt:variant>
      <vt:variant>
        <vt:lpstr>幻灯片标题</vt:lpstr>
      </vt:variant>
      <vt:variant>
        <vt:i4>19</vt:i4>
      </vt:variant>
    </vt:vector>
  </HeadingPairs>
  <TitlesOfParts>
    <vt:vector size="52" baseType="lpstr">
      <vt:lpstr>Arial</vt:lpstr>
      <vt:lpstr>宋体</vt:lpstr>
      <vt:lpstr>Wingdings</vt:lpstr>
      <vt:lpstr>OPPOSans R</vt:lpstr>
      <vt:lpstr>Thonburi</vt:lpstr>
      <vt:lpstr>OPPOSans H</vt:lpstr>
      <vt:lpstr>Source Han Sans CN Bold</vt:lpstr>
      <vt:lpstr>Source Han Sans</vt:lpstr>
      <vt:lpstr>等线</vt:lpstr>
      <vt:lpstr>汉仪中等线KW</vt:lpstr>
      <vt:lpstr>宋体</vt:lpstr>
      <vt:lpstr>汉仪书宋二KW</vt:lpstr>
      <vt:lpstr>微软雅黑</vt:lpstr>
      <vt:lpstr>汉仪旗黑</vt:lpstr>
      <vt:lpstr>Arial Unicode MS</vt:lpstr>
      <vt:lpstr>Calibri</vt:lpstr>
      <vt:lpstr>Helvetica Neue</vt:lpstr>
      <vt:lpstr>宋体-简</vt:lpstr>
      <vt:lpstr>楷体</vt:lpstr>
      <vt:lpstr>汉仪楷体KW</vt:lpstr>
      <vt:lpstr>OPPOSans H</vt:lpstr>
      <vt:lpstr>OPPOSans R</vt:lpstr>
      <vt:lpstr>Source Han Sans</vt:lpstr>
      <vt:lpstr>Source Han Sans CN Bold</vt:lpstr>
      <vt:lpstr>楷体</vt:lpstr>
      <vt:lpstr>苹方-简</vt:lpstr>
      <vt:lpstr>Heiti TC Light</vt:lpstr>
      <vt:lpstr>SimSong Regular</vt:lpstr>
      <vt:lpstr>华文楷体</vt:lpstr>
      <vt:lpstr>华文宋体</vt:lpstr>
      <vt:lpstr>PingFang SC</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cp:lastModifiedBy>
  <cp:revision>1</cp:revision>
  <dcterms:created xsi:type="dcterms:W3CDTF">2025-03-23T18:16:27Z</dcterms:created>
  <dcterms:modified xsi:type="dcterms:W3CDTF">2025-03-23T18:16:27Z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DAAC9212CC282130FB4FE067698887B5_42</vt:lpwstr>
  </property>
  <property fmtid="{D5CDD505-2E9C-101B-9397-08002B2CF9AE}" pid="3" name="KSOProductBuildVer">
    <vt:lpwstr>2052-6.11.0.8885</vt:lpwstr>
  </property>
</Properties>
</file>