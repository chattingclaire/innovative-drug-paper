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2" r:id="rId2"/>
  </p:sldMasterIdLst>
  <p:notesMasterIdLst>
    <p:notesMasterId r:id="rId27"/>
  </p:notesMasterIdLst>
  <p:handoutMasterIdLst>
    <p:handoutMasterId r:id="rId28"/>
  </p:handoutMasterIdLst>
  <p:sldIdLst>
    <p:sldId id="256" r:id="rId1001"/>
    <p:sldId id="257" r:id="rId1002"/>
    <p:sldId id="258" r:id="rId1003"/>
    <p:sldId id="259" r:id="rId1004"/>
    <p:sldId id="260" r:id="rId1005"/>
    <p:sldId id="261" r:id="rId1006"/>
    <p:sldId id="262" r:id="rId1007"/>
    <p:sldId id="263" r:id="rId1008"/>
    <p:sldId id="264" r:id="rId1009"/>
    <p:sldId id="265" r:id="rId1010"/>
    <p:sldId id="266" r:id="rId1011"/>
    <p:sldId id="267" r:id="rId1012"/>
    <p:sldId id="271" r:id="rId1016"/>
  </p:sldIdLst>
  <p:sldSz cx="12192000" cy="6858000"/>
  <p:notesSz cx="6858000" cy="9144000"/>
  <p:embeddedFontLst>
    <p:embeddedFont>
      <p:font typeface="等线" panose="02010600030101010101" pitchFamily="2" charset="-122"/>
      <p:regular r:id="rId29"/>
      <p:bold r:id="rId30"/>
    </p:embeddedFont>
    <p:embeddedFont>
      <p:font typeface="方正小标宋简体" panose="02000000000000000000" pitchFamily="2" charset="-122"/>
      <p:regular r:id="rId31"/>
    </p:embeddedFont>
    <p:embeddedFont>
      <p:font typeface="仿宋_GB2312" panose="02010609030101010101" pitchFamily="49" charset="-122"/>
      <p:regular r:id="rId32"/>
    </p:embeddedFont>
    <p:embeddedFont>
      <p:font typeface="黑体" panose="02010609060101010101" pitchFamily="49" charset="-122"/>
      <p:regular r:id="rId33"/>
    </p:embeddedFont>
    <p:embeddedFont>
      <p:font typeface="华文隶书" panose="02010800040101010101" pitchFamily="2" charset="-122"/>
      <p:regular r:id="rId34"/>
    </p:embeddedFont>
    <p:embeddedFont>
      <p:font typeface="楷体" panose="02010609060101010101" pitchFamily="49" charset="-122"/>
      <p:regular r:id="rId35"/>
    </p:embeddedFont>
    <p:embeddedFont>
      <p:font typeface="微软雅黑" panose="020B0503020204020204" pitchFamily="34" charset="-122"/>
      <p:regular r:id="rId36"/>
      <p:bold r:id="rId37"/>
    </p:embeddedFont>
  </p:embeddedFontLst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D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5331" autoAdjust="0"/>
  </p:normalViewPr>
  <p:slideViewPr>
    <p:cSldViewPr snapToGrid="0" snapToObjects="1">
      <p:cViewPr varScale="1">
        <p:scale>
          <a:sx n="104" d="100"/>
          <a:sy n="104" d="100"/>
        </p:scale>
        <p:origin x="78" y="1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96" d="100"/>
        <a:sy n="196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504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font" Target="fonts/font1.fntdata"/><Relationship Id="rId30" Type="http://schemas.openxmlformats.org/officeDocument/2006/relationships/font" Target="fonts/font2.fntdata"/><Relationship Id="rId31" Type="http://schemas.openxmlformats.org/officeDocument/2006/relationships/font" Target="fonts/font3.fntdata"/><Relationship Id="rId32" Type="http://schemas.openxmlformats.org/officeDocument/2006/relationships/font" Target="fonts/font4.fntdata"/><Relationship Id="rId33" Type="http://schemas.openxmlformats.org/officeDocument/2006/relationships/font" Target="fonts/font5.fntdata"/><Relationship Id="rId34" Type="http://schemas.openxmlformats.org/officeDocument/2006/relationships/font" Target="fonts/font6.fntdata"/><Relationship Id="rId35" Type="http://schemas.openxmlformats.org/officeDocument/2006/relationships/font" Target="fonts/font7.fntdata"/><Relationship Id="rId36" Type="http://schemas.openxmlformats.org/officeDocument/2006/relationships/font" Target="fonts/font8.fntdata"/><Relationship Id="rId37" Type="http://schemas.openxmlformats.org/officeDocument/2006/relationships/font" Target="fonts/font9.fntdata"/><Relationship Id="rId38" Type="http://schemas.openxmlformats.org/officeDocument/2006/relationships/tags" Target="tags/tag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1001" Type="http://schemas.openxmlformats.org/officeDocument/2006/relationships/slide" Target="slides/slide1.xml"/><Relationship Id="rId1002" Type="http://schemas.openxmlformats.org/officeDocument/2006/relationships/slide" Target="slides/slide2.xml"/><Relationship Id="rId1003" Type="http://schemas.openxmlformats.org/officeDocument/2006/relationships/slide" Target="slides/slide3.xml"/><Relationship Id="rId1004" Type="http://schemas.openxmlformats.org/officeDocument/2006/relationships/slide" Target="slides/slide4.xml"/><Relationship Id="rId1005" Type="http://schemas.openxmlformats.org/officeDocument/2006/relationships/slide" Target="slides/slide5.xml"/><Relationship Id="rId1006" Type="http://schemas.openxmlformats.org/officeDocument/2006/relationships/slide" Target="slides/slide6.xml"/><Relationship Id="rId1007" Type="http://schemas.openxmlformats.org/officeDocument/2006/relationships/slide" Target="slides/slide7.xml"/><Relationship Id="rId1008" Type="http://schemas.openxmlformats.org/officeDocument/2006/relationships/slide" Target="slides/slide8.xml"/><Relationship Id="rId1009" Type="http://schemas.openxmlformats.org/officeDocument/2006/relationships/slide" Target="slides/slide9.xml"/><Relationship Id="rId1010" Type="http://schemas.openxmlformats.org/officeDocument/2006/relationships/slide" Target="slides/slide10.xml"/><Relationship Id="rId1011" Type="http://schemas.openxmlformats.org/officeDocument/2006/relationships/slide" Target="slides/slide11.xml"/><Relationship Id="rId1012" Type="http://schemas.openxmlformats.org/officeDocument/2006/relationships/slide" Target="slides/slide12.xml"/><Relationship Id="rId1016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  <a:t>2025/3/19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54486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  <a:t>2025/3/19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99009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hangye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ea typeface="方正正大黑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02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131B5-A8C1-070E-E66A-F22278DE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119126965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</p:sldLayoutIdLst>
  <p:transition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4" Type="http://schemas.microsoft.com/office/2007/relationships/hdphoto" Target="../media/hdphoto1.wdp"/><Relationship Id="rId5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56ACB0B-2D5C-2E8D-1548-EB8DFE2689CC}"/>
              </a:ext>
            </a:extLst>
          </p:cNvPr>
          <p:cNvSpPr txBox="1"/>
          <p:nvPr/>
        </p:nvSpPr>
        <p:spPr>
          <a:xfrm>
            <a:off x="1185999" y="1564495"/>
            <a:ext cx="9841113" cy="15927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 kern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简体" panose="02000000000000000000" pitchFamily="2" charset="-122"/>
                <a:ea typeface="方正小标宋简体" panose="02000000000000000000" pitchFamily="2" charset="-122"/>
                <a:cs typeface="Times New Roman" panose="02020603050405020304" pitchFamily="18" charset="0"/>
              </a:rPr>
              <a:t>主要发达国家培育跨国药企的制度经验</a:t>
            </a:r>
            <a:endParaRPr lang="en-US" altLang="zh-CN" sz="4000" kern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小标宋简体" panose="02000000000000000000" pitchFamily="2" charset="-122"/>
              <a:ea typeface="方正小标宋简体" panose="02000000000000000000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4000" kern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简体" panose="02000000000000000000" pitchFamily="2" charset="-122"/>
                <a:ea typeface="方正小标宋简体" panose="02000000000000000000" pitchFamily="2" charset="-122"/>
                <a:cs typeface="Times New Roman" panose="02020603050405020304" pitchFamily="18" charset="0"/>
              </a:rPr>
              <a:t>瑞士、英国部分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391E96-1952-1DC9-F374-613A9135E28E}"/>
              </a:ext>
            </a:extLst>
          </p:cNvPr>
          <p:cNvSpPr txBox="1"/>
          <p:nvPr/>
        </p:nvSpPr>
        <p:spPr>
          <a:xfrm>
            <a:off x="1182385" y="4455074"/>
            <a:ext cx="9841113" cy="1136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kern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方正楷体_GBK" panose="03000509000000000000" pitchFamily="65" charset="-122"/>
                <a:cs typeface="Times New Roman" panose="02020603050405020304" pitchFamily="18" charset="0"/>
              </a:rPr>
              <a:t>中国科学院科技战略咨询研究院</a:t>
            </a:r>
            <a:endParaRPr lang="en-US" altLang="zh-CN" sz="2400" b="1" kern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方正楷体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kern="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方正楷体_GBK" panose="03000509000000000000" pitchFamily="65" charset="-122"/>
                <a:cs typeface="Times New Roman" panose="02020603050405020304" pitchFamily="18" charset="0"/>
              </a:rPr>
              <a:t>2026年8月  北京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C845C18-797D-163A-30B1-C64EF8AD2EF3}"/>
              </a:ext>
            </a:extLst>
          </p:cNvPr>
          <p:cNvGrpSpPr/>
          <p:nvPr/>
        </p:nvGrpSpPr>
        <p:grpSpPr>
          <a:xfrm>
            <a:off x="348034" y="183464"/>
            <a:ext cx="3555750" cy="503819"/>
            <a:chOff x="348034" y="183464"/>
            <a:chExt cx="3555750" cy="5038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5B44EDA0-1A89-154A-CB2C-6B1191F49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l="15075"/>
            <a:stretch/>
          </p:blipFill>
          <p:spPr>
            <a:xfrm>
              <a:off x="830911" y="183464"/>
              <a:ext cx="3072873" cy="50381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E289553-4511-5A43-D4E5-860052EE0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5773"/>
            <a:stretch/>
          </p:blipFill>
          <p:spPr>
            <a:xfrm>
              <a:off x="348034" y="199412"/>
              <a:ext cx="475989" cy="46585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7206069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2025年化学制药出口1521亿瑞郎，占全国出口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逾52%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；生命科学产业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98%的营收来自海外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罗氏、诺华位居全球企业研发投入前列；瑞士连续15年居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全球创新指数首位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2023年成为世界卫生组织列名监管机构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，全球首批之一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2026年8月中瑞完成自贸协定升级谈判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，中期内99.8%对华出口关税取消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一、全球产业地位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瑞士：培育跨国药企的制度经验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299FDF-0779-21A0-0F2E-2630952D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957" y="1305017"/>
            <a:ext cx="3360000" cy="5040000"/>
          </a:xfrm>
          <a:prstGeom prst="rect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9600000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萌芽期（19世纪中叶—1930s）：盖基1758、汽巴前身1859、山德士1886、罗氏1896相继于巴塞尔创立；</a:t>
            </a:r>
            <a:r>
              <a:rPr lang="zh-CN" altLang="en-US" sz="20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1907年前化学品不授予专利</a:t>
            </a: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，可合法仿制德法产品</a:t>
            </a:r>
          </a:p>
          <a:p>
            <a:pPr marL="342900" marR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成长期（1940s—70s）：1934年罗氏首家量产合成维生素C；1960年利眠宁、1963年安定；</a:t>
            </a:r>
            <a:r>
              <a:rPr lang="zh-CN" altLang="en-US" sz="20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药品物质专利迟至1978年才生效</a:t>
            </a:r>
          </a:p>
          <a:p>
            <a:pPr marL="342900" marR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扩张期（1980s—21世纪初）：1996年汽巴-嘉基与山德士合并为诺华；罗氏1990年控股、2009年全资收购基因泰克</a:t>
            </a:r>
          </a:p>
          <a:p>
            <a:pPr marL="342900" marR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成熟期（21世纪10年代至今）：全球健康产品程序邀请非洲七国专家共同审评；2025年美国关税由39%降至15%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二、发展历程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瑞士：培育跨国药企的制度经验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7206069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监管信誉的国际输出能力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：审评经费83%自筹，列名监管机构叠加三层依赖机制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要素高度开放：产业从业人员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45%为外籍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巴塞尔集群效应：罗氏、诺华全球研发投入前列，叠加两所联邦理工学院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税制环境：专利盒最高减免90%、研发加计最高150%；2025年重返地平线欧洲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三、产业优势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瑞士：培育跨国药企的制度经验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299FDF-0779-21A0-0F2E-2630952D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957" y="1305017"/>
            <a:ext cx="3360000" cy="5040000"/>
          </a:xfrm>
          <a:prstGeom prst="rect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7206069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“小国被迫全球化、以监管信誉换取全球市场”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——本土市场无法支撑规模，出口从萌芽期起即是生存条件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创新能力形成早于专利保护约四十年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，说明研发积累比制度保护更基础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国家不靠市场规模或价格补贴培育企业，而提供两类可携带的公共品：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监管信誉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与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要素开放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瑞士全球企业（约45国商务中心）+ swissnex（5地科创节点）双网络承接出海服务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四、发展模式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瑞士：培育跨国药企的制度经验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299FDF-0779-21A0-0F2E-2630952D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957" y="1305017"/>
            <a:ext cx="3360000" cy="5040000"/>
          </a:xfrm>
          <a:prstGeom prst="rect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7206069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成功要素：外向型基因源于市场约束；创新早于专利；以监管信誉换全球影响力；要素高度开放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制约因素：高价格锚定以极小市场为前提；2026年公投45.21%赞成限制人口，要素开放共识不稳固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最可借鉴：申请列名监管机构资格，建立面向全球南方的参与式审评通道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五、成功要素与制约因素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瑞士：培育跨国药企的制度经验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299FDF-0779-21A0-0F2E-2630952D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957" y="1305017"/>
            <a:ext cx="3360000" cy="5040000"/>
          </a:xfrm>
          <a:prstGeom prst="rect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7206069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全球创新指数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第6位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，欧洲最强基础研究体系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2025年7月《生命科学产业计划》配套资金超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20亿英镑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；2025年8月成为列名监管机构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2025年默沙东、阿斯利康等一度集中暂停在英投资；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2026年阿斯利康已恢复剑桥3亿英镑投资，默沙东仍未松动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一、全球产业地位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英国：培育跨国药企的制度经验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299FDF-0779-21A0-0F2E-2630952D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957" y="1305017"/>
            <a:ext cx="3360000" cy="5040000"/>
          </a:xfrm>
          <a:prstGeom prst="rect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9600000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萌芽期（19世纪中叶—1930s）：1880年宝威创立于伦敦，1894年设威康研究实验室；依托全球贸易网络，</a:t>
            </a:r>
            <a:r>
              <a:rPr lang="zh-CN" altLang="en-US" sz="20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起点高于瑞士</a:t>
            </a:r>
          </a:p>
          <a:p>
            <a:pPr marL="342900" marR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成长期（1940s—70s）：1964年布莱克在帝国化学工业做出普萘洛尔；</a:t>
            </a:r>
            <a:r>
              <a:rPr lang="zh-CN" altLang="en-US" sz="20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1948年国民保健体系、1957年药品定价自愿协议、1968年《药品法》同期确立</a:t>
            </a:r>
          </a:p>
          <a:p>
            <a:pPr marL="342900" marR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扩张期（1980s—21世纪初）：1989/1995/2000年三次合并成葛兰素史克；1993年捷利康分拆、1999年阿斯利康成立</a:t>
            </a:r>
          </a:p>
          <a:p>
            <a:pPr marL="342900" marR="0" indent="-342900"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成熟期（21世纪10年代至今）：临床试验启动由169天降至122天；</a:t>
            </a:r>
            <a:r>
              <a:rPr lang="zh-CN" altLang="en-US" sz="20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药品仅占卫生总支出9%</a:t>
            </a:r>
            <a:r>
              <a:rPr lang="zh-CN" altLang="en-US" sz="20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，新药可及比例由72%降至56%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二、发展历程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英国：培育跨国药企的制度经验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7206069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全球顶尖基础研究：牛津、剑桥、伦敦研究集群延续百年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难以复制的人群队列数据：UK Biobank、Our Future Health等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临床试验制度现代化：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合并审评、单一入口、时限考核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，成效可验证且不依赖大规模投入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监管国际互认：国际认可程序60/110天、列名监管机构、Access联盟、Orbis项目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三、产业优势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英国：培育跨国药企的制度经验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299FDF-0779-21A0-0F2E-2630952D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957" y="1305017"/>
            <a:ext cx="3360000" cy="5040000"/>
          </a:xfrm>
          <a:prstGeom prst="rect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7206069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“研发—临床强、支付弱”的失衡模式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——三层运行逻辑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萌芽期：全球贸易网络削弱了建立系统研发能力的紧迫性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成长期：1948/1957/1968三项制度同期确立，因研发成果在全球市场兑现，当时并不冲突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成熟期：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本土支付水平从边际变量转为决定变量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，成本侧优势无法对冲收入侧信号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四、发展模式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英国：培育跨国药企的制度经验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299FDF-0779-21A0-0F2E-2630952D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957" y="1305017"/>
            <a:ext cx="3360000" cy="5040000"/>
          </a:xfrm>
          <a:prstGeom prst="rect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7206069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成功要素：全球营销网络的历史积累；百年研究集群；临床试验改革成效可验证；国际互认低成本重建监管地位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制约因素：支付水平长期偏低；本土长期资本缺位；跨部门治理无法凌驾于支付制度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监管自主可以低成本重建，市场信心不能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五、成功要素与制约因素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英国：培育跨国药企的制度经验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299FDF-0779-21A0-0F2E-2630952D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957" y="1305017"/>
            <a:ext cx="3360000" cy="5040000"/>
          </a:xfrm>
          <a:prstGeom prst="rect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37A8D-DE10-D8A3-564C-D1558A566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6304FCD8-308D-A56D-540B-DD389C22582D}"/>
              </a:ext>
            </a:extLst>
          </p:cNvPr>
          <p:cNvSpPr txBox="1"/>
          <p:nvPr/>
        </p:nvSpPr>
        <p:spPr>
          <a:xfrm>
            <a:off x="548043" y="1696397"/>
            <a:ext cx="7206069" cy="443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注册认证：申请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世界卫生组织列名监管机构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，设立面向全球南方的参与式审评通道（学瑞士）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临床试验：合并审评、单一入口、公开的时限考核（学英国）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支付政策：出台前评估对产业投资的中长期影响——我国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大市场、相对低价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的组合与英国同构（戒英国）</a:t>
            </a:r>
          </a:p>
          <a:p>
            <a:pPr marL="342900" marR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kern="100" dirty="0">
              <a:latin typeface="仿宋_GB2312" panose="02010609030101010101" pitchFamily="49" charset="-122"/>
              <a:ea typeface="仿宋_GB2312" panose="02010609030101010101" pitchFamily="49" charset="-122"/>
            </a:endParaRP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阶段判断：我国正处于</a:t>
            </a:r>
            <a:r>
              <a:rPr lang="zh-CN" altLang="en-US" sz="2400" b="1" kern="1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资产被国际认可、企业尚未被国际认可</a:t>
            </a:r>
            <a:r>
              <a:rPr lang="zh-CN" altLang="en-US" sz="2400" kern="100" dirty="0">
                <a:latin typeface="仿宋_GB2312" panose="02010609030101010101" pitchFamily="49" charset="-122"/>
                <a:ea typeface="仿宋_GB2312" panose="02010609030101010101" pitchFamily="49" charset="-122"/>
              </a:rPr>
              <a:t>的阶段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5CC4E6-9B17-A389-2FD4-935F89549E80}"/>
              </a:ext>
            </a:extLst>
          </p:cNvPr>
          <p:cNvSpPr txBox="1"/>
          <p:nvPr/>
        </p:nvSpPr>
        <p:spPr>
          <a:xfrm>
            <a:off x="548043" y="999744"/>
            <a:ext cx="6791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瑞英经验对我国的三点启示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8B418F-2F77-2027-EC7B-EF5D69028F6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0" y="-8426"/>
            <a:ext cx="12192000" cy="7061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  <a:gs pos="62000">
                <a:srgbClr val="0C4DA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39C402-9F37-EE29-A75F-E3919A56BB08}"/>
              </a:ext>
            </a:extLst>
          </p:cNvPr>
          <p:cNvSpPr txBox="1"/>
          <p:nvPr/>
        </p:nvSpPr>
        <p:spPr>
          <a:xfrm>
            <a:off x="268916" y="107116"/>
            <a:ext cx="7851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</a:rPr>
              <a:t>启示与建议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C1DD6E-8FD7-C6B8-6F37-FB6E02BA5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9588" y="85850"/>
            <a:ext cx="3787007" cy="527305"/>
          </a:xfrm>
          <a:prstGeom prst="rect">
            <a:avLst/>
          </a:prstGeom>
          <a:effectLst/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299FDF-0779-21A0-0F2E-2630952D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957" y="1305017"/>
            <a:ext cx="3360000" cy="5040000"/>
          </a:xfrm>
          <a:prstGeom prst="rect">
            <a:avLst/>
          </a:prstGeom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66304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9C407-880A-9BA0-D8A1-DB50F783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5404A8D0-9AA0-A49B-BAE3-47117FA9C33F}"/>
              </a:ext>
            </a:extLst>
          </p:cNvPr>
          <p:cNvSpPr txBox="1"/>
          <p:nvPr/>
        </p:nvSpPr>
        <p:spPr>
          <a:xfrm>
            <a:off x="1185999" y="1564495"/>
            <a:ext cx="9841113" cy="15927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000" kern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简体" panose="02000000000000000000" pitchFamily="2" charset="-122"/>
                <a:ea typeface="方正小标宋简体" panose="02000000000000000000" pitchFamily="2" charset="-122"/>
                <a:cs typeface="Times New Roman" panose="02020603050405020304" pitchFamily="18" charset="0"/>
              </a:rPr>
              <a:t>主要发达国家培育跨国药企的制度经验</a:t>
            </a:r>
            <a:endParaRPr lang="en-US" altLang="zh-CN" sz="4000" kern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小标宋简体" panose="02000000000000000000" pitchFamily="2" charset="-122"/>
              <a:ea typeface="方正小标宋简体" panose="02000000000000000000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4000" kern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简体" panose="02000000000000000000" pitchFamily="2" charset="-122"/>
                <a:ea typeface="方正小标宋简体" panose="02000000000000000000" pitchFamily="2" charset="-122"/>
                <a:cs typeface="Times New Roman" panose="02020603050405020304" pitchFamily="18" charset="0"/>
              </a:rPr>
              <a:t>瑞士、英国部分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2494EB4-1161-CD74-69B5-5DE95FFD54F1}"/>
              </a:ext>
            </a:extLst>
          </p:cNvPr>
          <p:cNvSpPr txBox="1"/>
          <p:nvPr/>
        </p:nvSpPr>
        <p:spPr>
          <a:xfrm>
            <a:off x="1182385" y="4455074"/>
            <a:ext cx="9841113" cy="1136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kern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方正楷体_GBK" panose="03000509000000000000" pitchFamily="65" charset="-122"/>
                <a:cs typeface="Times New Roman" panose="02020603050405020304" pitchFamily="18" charset="0"/>
              </a:rPr>
              <a:t>中国科学院科技战略咨询研究院</a:t>
            </a:r>
            <a:endParaRPr lang="en-US" altLang="zh-CN" sz="2400" b="1" kern="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方正楷体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400" b="1" kern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方正楷体_GBK" panose="03000509000000000000" pitchFamily="65" charset="-122"/>
                <a:cs typeface="Times New Roman" panose="02020603050405020304" pitchFamily="18" charset="0"/>
              </a:rPr>
              <a:t>2026年8月  北京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0BC3DB5-A40D-A988-C6FD-F337A85A3795}"/>
              </a:ext>
            </a:extLst>
          </p:cNvPr>
          <p:cNvGrpSpPr/>
          <p:nvPr/>
        </p:nvGrpSpPr>
        <p:grpSpPr>
          <a:xfrm>
            <a:off x="348034" y="183464"/>
            <a:ext cx="3555750" cy="503819"/>
            <a:chOff x="348034" y="183464"/>
            <a:chExt cx="3555750" cy="50381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302CFA8-2F85-5F97-068C-0B24A268B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artisticPhotocopy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l="15075"/>
            <a:stretch/>
          </p:blipFill>
          <p:spPr>
            <a:xfrm>
              <a:off x="830911" y="183464"/>
              <a:ext cx="3072873" cy="50381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A8AAEDC-BD47-4B0F-062B-956DFEA2A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85773"/>
            <a:stretch/>
          </p:blipFill>
          <p:spPr>
            <a:xfrm>
              <a:off x="348034" y="199412"/>
              <a:ext cx="475989" cy="4658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982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mMxNzY4NzliODJmOGYzMWEyZDdkODA0MWI0NTdiODcifQ=="/>
  <p:tag name="ISPRING_FIRST_PUBLISH" val="1"/>
  <p:tag name="ISPRING_PRESENTATION_TITLE" val="PowerPoint 演示文稿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88ku">
      <a:majorFont>
        <a:latin typeface="Arial Black"/>
        <a:ea typeface="思源黑体 CN Bold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DengXian Light"/>
        <a:cs typeface="Arial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DengXian"/>
        <a:cs typeface="Arial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DengXian Light"/>
        <a:cs typeface="Arial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DengXian"/>
        <a:cs typeface="Arial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1453</TotalTime>
  <Words>2159</Words>
  <Application>Microsoft Office PowerPoint</Application>
  <PresentationFormat>宽屏</PresentationFormat>
  <Paragraphs>148</Paragraphs>
  <Slides>24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方正正大黑简体</vt:lpstr>
      <vt:lpstr>楷体</vt:lpstr>
      <vt:lpstr>华文隶书</vt:lpstr>
      <vt:lpstr>Wingdings</vt:lpstr>
      <vt:lpstr>微软雅黑</vt:lpstr>
      <vt:lpstr>等线</vt:lpstr>
      <vt:lpstr>方正小标宋简体</vt:lpstr>
      <vt:lpstr>Arial</vt:lpstr>
      <vt:lpstr>黑体</vt:lpstr>
      <vt:lpstr>Times New Roman</vt:lpstr>
      <vt:lpstr>仿宋_GB2312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发布会</dc:title>
  <dc:creator>第一PPT</dc:creator>
  <cp:keywords>www.1ppt.com</cp:keywords>
  <dc:description>www.1ppt.com</dc:description>
  <cp:lastModifiedBy>xiaojiong wang</cp:lastModifiedBy>
  <cp:revision>675</cp:revision>
  <dcterms:created xsi:type="dcterms:W3CDTF">2018-06-17T04:53:00Z</dcterms:created>
  <dcterms:modified xsi:type="dcterms:W3CDTF">2025-03-20T00:07:16Z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7A60496C5ED24F1796B22106BD827A85_12</vt:lpwstr>
  </property>
  <property fmtid="{D5CDD505-2E9C-101B-9397-08002B2CF9AE}" pid="3" name="KSOProductBuildVer">
    <vt:lpwstr>2052-12.1.0.19770</vt:lpwstr>
  </property>
</Properties>
</file>