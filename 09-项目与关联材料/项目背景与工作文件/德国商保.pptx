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338" r:id="rId3"/>
    <p:sldId id="326" r:id="rId4"/>
    <p:sldId id="330" r:id="rId5"/>
    <p:sldId id="332" r:id="rId6"/>
    <p:sldId id="331" r:id="rId7"/>
    <p:sldId id="329" r:id="rId8"/>
    <p:sldId id="334" r:id="rId9"/>
    <p:sldId id="335" r:id="rId10"/>
    <p:sldId id="336" r:id="rId11"/>
    <p:sldId id="337" r:id="rId12"/>
  </p:sldIdLst>
  <p:sldSz cx="12192000" cy="6858000"/>
  <p:notesSz cx="6858000" cy="9144000"/>
  <p:embeddedFontLst>
    <p:embeddedFont>
      <p:font typeface="微软雅黑" pitchFamily="34" charset="-122"/>
      <p:regular r:id="rId18"/>
    </p:embeddedFont>
    <p:embeddedFont>
      <p:font typeface="等线" charset="0"/>
      <p:regular r:id="rId1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蔺洁" initials="蔺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98"/>
    <a:srgbClr val="FFF2CC"/>
    <a:srgbClr val="CEF4F6"/>
    <a:srgbClr val="FFE5FF"/>
    <a:srgbClr val="CCECFF"/>
    <a:srgbClr val="FFABAB"/>
    <a:srgbClr val="FBAFF4"/>
    <a:srgbClr val="FFD9D9"/>
    <a:srgbClr val="E5F0FF"/>
    <a:srgbClr val="EFE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41" autoAdjust="0"/>
    <p:restoredTop sz="93928" autoAdjust="0"/>
  </p:normalViewPr>
  <p:slideViewPr>
    <p:cSldViewPr snapToGrid="0">
      <p:cViewPr varScale="1">
        <p:scale>
          <a:sx n="81" d="100"/>
          <a:sy n="81" d="100"/>
        </p:scale>
        <p:origin x="1227" y="7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9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990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94843-BED7-480F-82AD-6AE3B6813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991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8992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993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994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33943-AA9F-4D3D-A600-23F35EC9ABF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8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919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4892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2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2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2792-0B70-46B7-A51A-994257B925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标题 1"/>
          <p:cNvSpPr>
            <a:spLocks noGrp="1"/>
          </p:cNvSpPr>
          <p:nvPr>
            <p:ph type="title"/>
          </p:nvPr>
        </p:nvSpPr>
        <p:spPr>
          <a:xfrm>
            <a:off x="638556" y="778469"/>
            <a:ext cx="10914888" cy="567671"/>
          </a:xfrm>
        </p:spPr>
        <p:txBody>
          <a:bodyPr>
            <a:normAutofit/>
          </a:bodyPr>
          <a:lstStyle>
            <a:lvl1pPr>
              <a:defRPr sz="2600" b="1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48599" name="内容占位符 2"/>
          <p:cNvSpPr>
            <a:spLocks noGrp="1"/>
          </p:cNvSpPr>
          <p:nvPr>
            <p:ph idx="1"/>
          </p:nvPr>
        </p:nvSpPr>
        <p:spPr>
          <a:xfrm>
            <a:off x="638556" y="1505585"/>
            <a:ext cx="10515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4860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0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0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2792-0B70-46B7-A51A-994257B92555}" type="slidenum">
              <a:rPr lang="zh-CN" altLang="en-US" smtClean="0"/>
            </a:fld>
            <a:endParaRPr lang="zh-CN" altLang="en-US"/>
          </a:p>
        </p:txBody>
      </p:sp>
      <p:sp>
        <p:nvSpPr>
          <p:cNvPr id="1048603" name="矩形 8"/>
          <p:cNvSpPr/>
          <p:nvPr userDrawn="1">
            <p:custDataLst>
              <p:tags r:id="rId2"/>
            </p:custDataLst>
          </p:nvPr>
        </p:nvSpPr>
        <p:spPr>
          <a:xfrm flipH="1">
            <a:off x="0" y="-8426"/>
            <a:ext cx="12192000" cy="706120"/>
          </a:xfrm>
          <a:prstGeom prst="rect">
            <a:avLst/>
          </a:prstGeom>
          <a:gradFill>
            <a:gsLst>
              <a:gs pos="19000">
                <a:srgbClr val="0E49A2"/>
              </a:gs>
              <a:gs pos="59000">
                <a:srgbClr val="5D87C5"/>
              </a:gs>
              <a:gs pos="78000">
                <a:srgbClr val="0C4DA1"/>
              </a:gs>
              <a:gs pos="100000">
                <a:srgbClr val="0C4D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048604" name="文本框 10"/>
          <p:cNvSpPr txBox="1"/>
          <p:nvPr userDrawn="1"/>
        </p:nvSpPr>
        <p:spPr>
          <a:xfrm>
            <a:off x="207956" y="107116"/>
            <a:ext cx="7851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48605" name="文本框 11"/>
          <p:cNvSpPr txBox="1"/>
          <p:nvPr userDrawn="1"/>
        </p:nvSpPr>
        <p:spPr>
          <a:xfrm>
            <a:off x="325382" y="107116"/>
            <a:ext cx="526930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2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97155" name="图片 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7068" y="63199"/>
            <a:ext cx="531488" cy="531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4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945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94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4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4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2792-0B70-46B7-A51A-994257B92555}" type="slidenum">
              <a:rPr lang="zh-CN" altLang="en-US" smtClean="0"/>
            </a:fld>
            <a:endParaRPr lang="zh-CN" altLang="en-US"/>
          </a:p>
        </p:txBody>
      </p:sp>
      <p:sp>
        <p:nvSpPr>
          <p:cNvPr id="1048949" name="矩形 6"/>
          <p:cNvSpPr/>
          <p:nvPr userDrawn="1">
            <p:custDataLst>
              <p:tags r:id="rId2"/>
            </p:custDataLst>
          </p:nvPr>
        </p:nvSpPr>
        <p:spPr>
          <a:xfrm flipH="1">
            <a:off x="0" y="-8426"/>
            <a:ext cx="12192000" cy="706120"/>
          </a:xfrm>
          <a:prstGeom prst="rect">
            <a:avLst/>
          </a:prstGeom>
          <a:gradFill>
            <a:gsLst>
              <a:gs pos="19000">
                <a:srgbClr val="0E49A2"/>
              </a:gs>
              <a:gs pos="59000">
                <a:srgbClr val="5D87C5"/>
              </a:gs>
              <a:gs pos="78000">
                <a:srgbClr val="0C4DA1"/>
              </a:gs>
              <a:gs pos="100000">
                <a:srgbClr val="0C4D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048950" name="文本框 8"/>
          <p:cNvSpPr txBox="1"/>
          <p:nvPr userDrawn="1"/>
        </p:nvSpPr>
        <p:spPr>
          <a:xfrm>
            <a:off x="745624" y="107116"/>
            <a:ext cx="73141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200" b="1" dirty="0">
              <a:solidFill>
                <a:schemeClr val="bg1"/>
              </a:solidFill>
              <a:effectLst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" name="图片 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7068" y="63199"/>
            <a:ext cx="531488" cy="531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974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975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97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7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7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2792-0B70-46B7-A51A-994257B92555}" type="slidenum">
              <a:rPr lang="zh-CN" altLang="en-US" smtClean="0"/>
            </a:fld>
            <a:endParaRPr lang="zh-CN" altLang="en-US"/>
          </a:p>
        </p:txBody>
      </p:sp>
      <p:sp>
        <p:nvSpPr>
          <p:cNvPr id="1048979" name="矩形 9"/>
          <p:cNvSpPr/>
          <p:nvPr userDrawn="1">
            <p:custDataLst>
              <p:tags r:id="rId2"/>
            </p:custDataLst>
          </p:nvPr>
        </p:nvSpPr>
        <p:spPr>
          <a:xfrm flipH="1">
            <a:off x="0" y="-8426"/>
            <a:ext cx="12192000" cy="706120"/>
          </a:xfrm>
          <a:prstGeom prst="rect">
            <a:avLst/>
          </a:prstGeom>
          <a:gradFill>
            <a:gsLst>
              <a:gs pos="19000">
                <a:srgbClr val="0E49A2"/>
              </a:gs>
              <a:gs pos="59000">
                <a:srgbClr val="5D87C5"/>
              </a:gs>
              <a:gs pos="78000">
                <a:srgbClr val="0C4DA1"/>
              </a:gs>
              <a:gs pos="100000">
                <a:srgbClr val="0C4D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048980" name="文本框 11"/>
          <p:cNvSpPr txBox="1"/>
          <p:nvPr userDrawn="1"/>
        </p:nvSpPr>
        <p:spPr>
          <a:xfrm>
            <a:off x="838200" y="107116"/>
            <a:ext cx="72215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200" b="1" dirty="0">
              <a:solidFill>
                <a:schemeClr val="bg1"/>
              </a:solidFill>
              <a:effectLst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" name="图片 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7068" y="63199"/>
            <a:ext cx="531488" cy="531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1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952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953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954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955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956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57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58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2792-0B70-46B7-A51A-994257B92555}" type="slidenum">
              <a:rPr lang="zh-CN" altLang="en-US" smtClean="0"/>
            </a:fld>
            <a:endParaRPr lang="zh-CN" altLang="en-US"/>
          </a:p>
        </p:txBody>
      </p:sp>
      <p:sp>
        <p:nvSpPr>
          <p:cNvPr id="1048959" name="矩形 11"/>
          <p:cNvSpPr/>
          <p:nvPr userDrawn="1">
            <p:custDataLst>
              <p:tags r:id="rId2"/>
            </p:custDataLst>
          </p:nvPr>
        </p:nvSpPr>
        <p:spPr>
          <a:xfrm flipH="1">
            <a:off x="0" y="-8426"/>
            <a:ext cx="12192000" cy="706120"/>
          </a:xfrm>
          <a:prstGeom prst="rect">
            <a:avLst/>
          </a:prstGeom>
          <a:gradFill>
            <a:gsLst>
              <a:gs pos="19000">
                <a:srgbClr val="0E49A2"/>
              </a:gs>
              <a:gs pos="59000">
                <a:srgbClr val="5D87C5"/>
              </a:gs>
              <a:gs pos="78000">
                <a:srgbClr val="0C4DA1"/>
              </a:gs>
              <a:gs pos="100000">
                <a:srgbClr val="0C4D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048960" name="文本框 13"/>
          <p:cNvSpPr txBox="1"/>
          <p:nvPr userDrawn="1"/>
        </p:nvSpPr>
        <p:spPr>
          <a:xfrm>
            <a:off x="207956" y="107116"/>
            <a:ext cx="78517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200" b="1" dirty="0">
              <a:solidFill>
                <a:schemeClr val="bg1"/>
              </a:solidFill>
              <a:effectLst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" name="图片 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7068" y="63199"/>
            <a:ext cx="531488" cy="531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92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2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2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2792-0B70-46B7-A51A-994257B92555}" type="slidenum">
              <a:rPr lang="zh-CN" altLang="en-US" smtClean="0"/>
            </a:fld>
            <a:endParaRPr lang="zh-CN" altLang="en-US"/>
          </a:p>
        </p:txBody>
      </p:sp>
      <p:sp>
        <p:nvSpPr>
          <p:cNvPr id="1048927" name="矩形 7"/>
          <p:cNvSpPr/>
          <p:nvPr userDrawn="1">
            <p:custDataLst>
              <p:tags r:id="rId2"/>
            </p:custDataLst>
          </p:nvPr>
        </p:nvSpPr>
        <p:spPr>
          <a:xfrm flipH="1">
            <a:off x="0" y="-8426"/>
            <a:ext cx="12192000" cy="706120"/>
          </a:xfrm>
          <a:prstGeom prst="rect">
            <a:avLst/>
          </a:prstGeom>
          <a:gradFill>
            <a:gsLst>
              <a:gs pos="19000">
                <a:srgbClr val="0E49A2"/>
              </a:gs>
              <a:gs pos="59000">
                <a:srgbClr val="5D87C5"/>
              </a:gs>
              <a:gs pos="78000">
                <a:srgbClr val="0C4DA1"/>
              </a:gs>
              <a:gs pos="100000">
                <a:srgbClr val="0C4D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048928" name="文本框 9"/>
          <p:cNvSpPr txBox="1"/>
          <p:nvPr userDrawn="1"/>
        </p:nvSpPr>
        <p:spPr>
          <a:xfrm>
            <a:off x="207956" y="107116"/>
            <a:ext cx="7851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2" name="图片 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7068" y="63199"/>
            <a:ext cx="531488" cy="531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6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6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2792-0B70-46B7-A51A-994257B92555}" type="slidenum">
              <a:rPr lang="zh-CN" altLang="en-US" smtClean="0"/>
            </a:fld>
            <a:endParaRPr lang="zh-CN" altLang="en-US"/>
          </a:p>
        </p:txBody>
      </p:sp>
      <p:sp>
        <p:nvSpPr>
          <p:cNvPr id="1048964" name="矩形 6"/>
          <p:cNvSpPr/>
          <p:nvPr userDrawn="1">
            <p:custDataLst>
              <p:tags r:id="rId2"/>
            </p:custDataLst>
          </p:nvPr>
        </p:nvSpPr>
        <p:spPr>
          <a:xfrm flipH="1">
            <a:off x="0" y="-8426"/>
            <a:ext cx="12192000" cy="706120"/>
          </a:xfrm>
          <a:prstGeom prst="rect">
            <a:avLst/>
          </a:prstGeom>
          <a:gradFill>
            <a:gsLst>
              <a:gs pos="19000">
                <a:srgbClr val="0E49A2"/>
              </a:gs>
              <a:gs pos="59000">
                <a:srgbClr val="5D87C5"/>
              </a:gs>
              <a:gs pos="78000">
                <a:srgbClr val="0C4DA1"/>
              </a:gs>
              <a:gs pos="100000">
                <a:srgbClr val="0C4D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048965" name="文本框 8"/>
          <p:cNvSpPr txBox="1"/>
          <p:nvPr userDrawn="1"/>
        </p:nvSpPr>
        <p:spPr>
          <a:xfrm>
            <a:off x="207956" y="107116"/>
            <a:ext cx="7851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2" name="图片 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7068" y="63199"/>
            <a:ext cx="531488" cy="531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98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983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98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8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8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2792-0B70-46B7-A51A-994257B92555}" type="slidenum">
              <a:rPr lang="zh-CN" altLang="en-US" smtClean="0"/>
            </a:fld>
            <a:endParaRPr lang="zh-CN" altLang="en-US"/>
          </a:p>
        </p:txBody>
      </p:sp>
      <p:sp>
        <p:nvSpPr>
          <p:cNvPr id="1048987" name="矩形 9"/>
          <p:cNvSpPr/>
          <p:nvPr userDrawn="1">
            <p:custDataLst>
              <p:tags r:id="rId2"/>
            </p:custDataLst>
          </p:nvPr>
        </p:nvSpPr>
        <p:spPr>
          <a:xfrm flipH="1">
            <a:off x="0" y="-8426"/>
            <a:ext cx="12192000" cy="706120"/>
          </a:xfrm>
          <a:prstGeom prst="rect">
            <a:avLst/>
          </a:prstGeom>
          <a:gradFill>
            <a:gsLst>
              <a:gs pos="19000">
                <a:srgbClr val="0E49A2"/>
              </a:gs>
              <a:gs pos="59000">
                <a:srgbClr val="5D87C5"/>
              </a:gs>
              <a:gs pos="78000">
                <a:srgbClr val="0C4DA1"/>
              </a:gs>
              <a:gs pos="100000">
                <a:srgbClr val="0C4D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048988" name="文本框 11"/>
          <p:cNvSpPr txBox="1"/>
          <p:nvPr userDrawn="1"/>
        </p:nvSpPr>
        <p:spPr>
          <a:xfrm>
            <a:off x="207956" y="107116"/>
            <a:ext cx="7851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2" name="图片 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7068" y="63199"/>
            <a:ext cx="531488" cy="531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937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938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93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4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4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2792-0B70-46B7-A51A-994257B92555}" type="slidenum">
              <a:rPr lang="zh-CN" altLang="en-US" smtClean="0"/>
            </a:fld>
            <a:endParaRPr lang="zh-CN" altLang="en-US"/>
          </a:p>
        </p:txBody>
      </p:sp>
      <p:sp>
        <p:nvSpPr>
          <p:cNvPr id="1048942" name="矩形 9"/>
          <p:cNvSpPr/>
          <p:nvPr userDrawn="1">
            <p:custDataLst>
              <p:tags r:id="rId2"/>
            </p:custDataLst>
          </p:nvPr>
        </p:nvSpPr>
        <p:spPr>
          <a:xfrm flipH="1">
            <a:off x="0" y="-8426"/>
            <a:ext cx="12192000" cy="706120"/>
          </a:xfrm>
          <a:prstGeom prst="rect">
            <a:avLst/>
          </a:prstGeom>
          <a:gradFill>
            <a:gsLst>
              <a:gs pos="19000">
                <a:srgbClr val="0E49A2"/>
              </a:gs>
              <a:gs pos="59000">
                <a:srgbClr val="5D87C5"/>
              </a:gs>
              <a:gs pos="78000">
                <a:srgbClr val="0C4DA1"/>
              </a:gs>
              <a:gs pos="100000">
                <a:srgbClr val="0C4D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048943" name="文本框 11"/>
          <p:cNvSpPr txBox="1"/>
          <p:nvPr userDrawn="1"/>
        </p:nvSpPr>
        <p:spPr>
          <a:xfrm>
            <a:off x="207956" y="107116"/>
            <a:ext cx="7851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2" name="图片 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7068" y="63199"/>
            <a:ext cx="531488" cy="531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967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96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6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7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2792-0B70-46B7-A51A-994257B92555}" type="slidenum">
              <a:rPr lang="zh-CN" altLang="en-US" smtClean="0"/>
            </a:fld>
            <a:endParaRPr lang="zh-CN" altLang="en-US"/>
          </a:p>
        </p:txBody>
      </p:sp>
      <p:sp>
        <p:nvSpPr>
          <p:cNvPr id="1048971" name="矩形 8"/>
          <p:cNvSpPr/>
          <p:nvPr userDrawn="1">
            <p:custDataLst>
              <p:tags r:id="rId2"/>
            </p:custDataLst>
          </p:nvPr>
        </p:nvSpPr>
        <p:spPr>
          <a:xfrm flipH="1">
            <a:off x="0" y="-8426"/>
            <a:ext cx="12192000" cy="706120"/>
          </a:xfrm>
          <a:prstGeom prst="rect">
            <a:avLst/>
          </a:prstGeom>
          <a:gradFill>
            <a:gsLst>
              <a:gs pos="19000">
                <a:srgbClr val="0E49A2"/>
              </a:gs>
              <a:gs pos="59000">
                <a:srgbClr val="5D87C5"/>
              </a:gs>
              <a:gs pos="78000">
                <a:srgbClr val="0C4DA1"/>
              </a:gs>
              <a:gs pos="100000">
                <a:srgbClr val="0C4D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048972" name="文本框 10"/>
          <p:cNvSpPr txBox="1"/>
          <p:nvPr userDrawn="1"/>
        </p:nvSpPr>
        <p:spPr>
          <a:xfrm>
            <a:off x="207956" y="107116"/>
            <a:ext cx="7851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2" name="图片 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7068" y="63199"/>
            <a:ext cx="531488" cy="531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9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930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93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3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3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2792-0B70-46B7-A51A-994257B92555}" type="slidenum">
              <a:rPr lang="zh-CN" altLang="en-US" smtClean="0"/>
            </a:fld>
            <a:endParaRPr lang="zh-CN" altLang="en-US"/>
          </a:p>
        </p:txBody>
      </p:sp>
      <p:sp>
        <p:nvSpPr>
          <p:cNvPr id="1048934" name="矩形 8"/>
          <p:cNvSpPr/>
          <p:nvPr userDrawn="1">
            <p:custDataLst>
              <p:tags r:id="rId2"/>
            </p:custDataLst>
          </p:nvPr>
        </p:nvSpPr>
        <p:spPr>
          <a:xfrm flipH="1">
            <a:off x="0" y="-8426"/>
            <a:ext cx="12192000" cy="706120"/>
          </a:xfrm>
          <a:prstGeom prst="rect">
            <a:avLst/>
          </a:prstGeom>
          <a:gradFill>
            <a:gsLst>
              <a:gs pos="19000">
                <a:srgbClr val="0E49A2"/>
              </a:gs>
              <a:gs pos="59000">
                <a:srgbClr val="5D87C5"/>
              </a:gs>
              <a:gs pos="78000">
                <a:srgbClr val="0C4DA1"/>
              </a:gs>
              <a:gs pos="100000">
                <a:srgbClr val="0C4D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048935" name="文本框 10"/>
          <p:cNvSpPr txBox="1"/>
          <p:nvPr userDrawn="1"/>
        </p:nvSpPr>
        <p:spPr>
          <a:xfrm>
            <a:off x="207956" y="107116"/>
            <a:ext cx="7851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2" name="图片 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7068" y="63199"/>
            <a:ext cx="531488" cy="53103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52792-0B70-46B7-A51A-994257B9255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2792-0B70-46B7-A51A-994257B925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353841" y="1925838"/>
            <a:ext cx="7494122" cy="1346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 lvl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/>
            </a:pPr>
            <a:r>
              <a:rPr lang="zh-CN" altLang="en-US" sz="3400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关于德国商业健康保险（</a:t>
            </a:r>
            <a:r>
              <a:rPr lang="en-US" altLang="zh-CN" sz="3400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PKV</a:t>
            </a:r>
            <a:r>
              <a:rPr lang="zh-CN" altLang="en-US" sz="3400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）</a:t>
            </a:r>
            <a:endParaRPr lang="en-US" altLang="zh-CN" sz="3400" b="1" dirty="0">
              <a:solidFill>
                <a:srgbClr val="004098"/>
              </a:solidFill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  <a:p>
            <a:pPr marL="92075" lvl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/>
            </a:pPr>
            <a:r>
              <a:rPr lang="zh-CN" altLang="en-US" sz="3400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基本情况与价格谈判机制的初步梳理</a:t>
            </a:r>
            <a:endParaRPr lang="zh-CN" altLang="en-US" sz="3400" b="1" dirty="0">
              <a:solidFill>
                <a:srgbClr val="004098"/>
              </a:solidFill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48939" y="4339657"/>
            <a:ext cx="7494122" cy="46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 lvl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/>
            </a:pPr>
            <a:r>
              <a:rPr lang="en-US" altLang="zh-CN" sz="2200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2025</a:t>
            </a:r>
            <a:r>
              <a:rPr lang="zh-CN" altLang="en-US" sz="2200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年</a:t>
            </a:r>
            <a:r>
              <a:rPr lang="en-US" altLang="zh-CN" sz="2200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10</a:t>
            </a:r>
            <a:r>
              <a:rPr lang="zh-CN" altLang="en-US" sz="2200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月</a:t>
            </a:r>
            <a:endParaRPr lang="zh-CN" altLang="en-US" sz="2200" b="1" dirty="0">
              <a:solidFill>
                <a:srgbClr val="004098"/>
              </a:solidFill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文本框 5"/>
          <p:cNvSpPr txBox="1"/>
          <p:nvPr/>
        </p:nvSpPr>
        <p:spPr>
          <a:xfrm>
            <a:off x="711200" y="101632"/>
            <a:ext cx="989583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基本情况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：保险体系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6720" y="844290"/>
            <a:ext cx="7494122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 lvl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/>
            </a:pPr>
            <a:r>
              <a:rPr lang="zh-CN" altLang="en-US" sz="2000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双元制健康保险体系</a:t>
            </a:r>
            <a:endParaRPr lang="zh-CN" altLang="en-US" sz="2000" b="1" dirty="0">
              <a:solidFill>
                <a:srgbClr val="004098"/>
              </a:solidFill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33828" y="1320985"/>
          <a:ext cx="6763575" cy="541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826"/>
                <a:gridCol w="2968707"/>
                <a:gridCol w="3036042"/>
              </a:tblGrid>
              <a:tr h="370840">
                <a:tc>
                  <a:txBody>
                    <a:bodyPr/>
                    <a:lstStyle/>
                    <a:p>
                      <a:endParaRPr lang="zh-CN" altLang="en-US" sz="1800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bg1"/>
                          </a:solidFill>
                          <a:latin typeface="微软雅黑" pitchFamily="34" charset="-122"/>
                          <a:ea typeface="微软雅黑" pitchFamily="34" charset="-122"/>
                          <a:cs typeface="Times New Roman" panose="02020503050405090304" pitchFamily="18" charset="0"/>
                        </a:rPr>
                        <a:t>法定健康保险（</a:t>
                      </a:r>
                      <a:r>
                        <a:rPr lang="en-US" altLang="zh-CN" sz="1800" b="1" dirty="0">
                          <a:solidFill>
                            <a:schemeClr val="bg1"/>
                          </a:solidFill>
                          <a:latin typeface="微软雅黑" pitchFamily="34" charset="-122"/>
                          <a:ea typeface="微软雅黑" pitchFamily="34" charset="-122"/>
                          <a:cs typeface="Times New Roman" panose="02020503050405090304" pitchFamily="18" charset="0"/>
                        </a:rPr>
                        <a:t>GKV</a:t>
                      </a:r>
                      <a:r>
                        <a:rPr lang="zh-CN" altLang="en-US" sz="1800" b="1" dirty="0">
                          <a:solidFill>
                            <a:schemeClr val="bg1"/>
                          </a:solidFill>
                          <a:latin typeface="微软雅黑" pitchFamily="34" charset="-122"/>
                          <a:ea typeface="微软雅黑" pitchFamily="34" charset="-122"/>
                          <a:cs typeface="Times New Roman" panose="02020503050405090304" pitchFamily="18" charset="0"/>
                        </a:rPr>
                        <a:t>）</a:t>
                      </a:r>
                      <a:endParaRPr lang="en-US" altLang="zh-CN" sz="1800" b="1" dirty="0">
                        <a:solidFill>
                          <a:schemeClr val="bg1"/>
                        </a:solidFill>
                        <a:latin typeface="微软雅黑" pitchFamily="34" charset="-122"/>
                        <a:ea typeface="微软雅黑" pitchFamily="34" charset="-122"/>
                        <a:cs typeface="Times New Roman" panose="0202050305040509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chemeClr val="bg1"/>
                          </a:solidFill>
                          <a:latin typeface="微软雅黑" pitchFamily="34" charset="-122"/>
                          <a:ea typeface="微软雅黑" pitchFamily="34" charset="-122"/>
                          <a:cs typeface="Times New Roman" panose="02020503050405090304" pitchFamily="18" charset="0"/>
                        </a:rPr>
                        <a:t>商业健康保险（</a:t>
                      </a:r>
                      <a:r>
                        <a:rPr lang="en-US" altLang="zh-CN" sz="1800" b="1" kern="1200" dirty="0">
                          <a:solidFill>
                            <a:schemeClr val="bg1"/>
                          </a:solidFill>
                          <a:latin typeface="微软雅黑" pitchFamily="34" charset="-122"/>
                          <a:ea typeface="微软雅黑" pitchFamily="34" charset="-122"/>
                          <a:cs typeface="Times New Roman" panose="02020503050405090304" pitchFamily="18" charset="0"/>
                        </a:rPr>
                        <a:t>PKV</a:t>
                      </a:r>
                      <a:r>
                        <a:rPr lang="zh-CN" altLang="en-US" sz="1800" b="1" kern="1200" dirty="0">
                          <a:solidFill>
                            <a:schemeClr val="bg1"/>
                          </a:solidFill>
                          <a:latin typeface="微软雅黑" pitchFamily="34" charset="-122"/>
                          <a:ea typeface="微软雅黑" pitchFamily="34" charset="-122"/>
                          <a:cs typeface="Times New Roman" panose="02020503050405090304" pitchFamily="18" charset="0"/>
                        </a:rPr>
                        <a:t>）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微软雅黑" pitchFamily="34" charset="-122"/>
                        <a:ea typeface="微软雅黑" pitchFamily="34" charset="-122"/>
                        <a:cs typeface="Times New Roman" panose="0202050305040509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latin typeface="微软雅黑" pitchFamily="34" charset="-122"/>
                          <a:ea typeface="微软雅黑" pitchFamily="34" charset="-122"/>
                        </a:rPr>
                        <a:t>规模</a:t>
                      </a:r>
                      <a:endParaRPr lang="zh-CN" altLang="en-US" sz="1800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基本主导，约覆盖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88%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人口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基本替代，约覆盖</a:t>
                      </a:r>
                      <a:r>
                        <a:rPr lang="en-US" altLang="zh-CN" sz="1800" b="1" kern="120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45%</a:t>
                      </a: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人口</a:t>
                      </a:r>
                      <a:endParaRPr lang="zh-CN" altLang="en-US" sz="1800" b="1" kern="1200" dirty="0">
                        <a:solidFill>
                          <a:srgbClr val="C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latin typeface="微软雅黑" pitchFamily="34" charset="-122"/>
                          <a:ea typeface="微软雅黑" pitchFamily="34" charset="-122"/>
                        </a:rPr>
                        <a:t>支出占比</a:t>
                      </a:r>
                      <a:endParaRPr lang="zh-CN" altLang="en-US" sz="1800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2021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年，德国一般性卫生支出中，法定健康保险占比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68.16%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商业健康险支付占比</a:t>
                      </a:r>
                      <a:r>
                        <a:rPr lang="en-US" altLang="zh-CN" sz="1800" b="1" kern="120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7.88%</a:t>
                      </a:r>
                      <a:endParaRPr lang="zh-CN" altLang="en-US" sz="1800" b="1" kern="1200" dirty="0">
                        <a:solidFill>
                          <a:srgbClr val="C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>
                          <a:latin typeface="微软雅黑" pitchFamily="34" charset="-122"/>
                          <a:ea typeface="微软雅黑" pitchFamily="34" charset="-122"/>
                        </a:rPr>
                        <a:t>险费</a:t>
                      </a:r>
                      <a:endParaRPr lang="zh-CN" altLang="en-US" sz="1800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基本费率为总工资的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15.5%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，雇主和雇员各支付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50%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的保费，家属无需额外缴费即可获得保险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高收入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人群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>
                          <a:latin typeface="微软雅黑" pitchFamily="34" charset="-122"/>
                          <a:ea typeface="微软雅黑" pitchFamily="34" charset="-122"/>
                        </a:rPr>
                        <a:t>运营主体</a:t>
                      </a:r>
                      <a:endParaRPr lang="zh-CN" altLang="en-US" sz="1800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公法实体，疾病基金运作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私法企业，</a:t>
                      </a: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专业健康保险公司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运作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latin typeface="微软雅黑" pitchFamily="34" charset="-122"/>
                          <a:ea typeface="微软雅黑" pitchFamily="34" charset="-122"/>
                        </a:rPr>
                        <a:t>服务</a:t>
                      </a:r>
                      <a:endParaRPr lang="zh-CN" altLang="en-US" sz="1800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以基本医疗疾病治疗为主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以</a:t>
                      </a: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高质量，个性化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医疗服务为主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latin typeface="微软雅黑" pitchFamily="34" charset="-122"/>
                          <a:ea typeface="微软雅黑" pitchFamily="34" charset="-122"/>
                        </a:rPr>
                        <a:t>合同</a:t>
                      </a:r>
                      <a:endParaRPr lang="zh-CN" altLang="en-US" sz="1800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强制性的缔约形式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自愿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加入，</a:t>
                      </a: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合同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约定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风险结构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基于风险结构调整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根据投保人的健康状况来决定相应的费用，</a:t>
                      </a: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原则上不做平衡</a:t>
                      </a:r>
                      <a:endParaRPr lang="zh-CN" altLang="en-US" sz="1800" b="1" kern="1200" dirty="0">
                        <a:solidFill>
                          <a:srgbClr val="C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7403" y="2985895"/>
            <a:ext cx="5010150" cy="34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矩形 12"/>
          <p:cNvSpPr/>
          <p:nvPr/>
        </p:nvSpPr>
        <p:spPr>
          <a:xfrm>
            <a:off x="7374577" y="3104645"/>
            <a:ext cx="225631" cy="1147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文本框 5"/>
          <p:cNvSpPr txBox="1"/>
          <p:nvPr/>
        </p:nvSpPr>
        <p:spPr>
          <a:xfrm>
            <a:off x="711200" y="101632"/>
            <a:ext cx="989583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基本情况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：商保分类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6720" y="844290"/>
            <a:ext cx="7494122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 lvl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/>
            </a:pPr>
            <a:r>
              <a:rPr lang="zh-CN" altLang="en-US" sz="2000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商业健康保险（</a:t>
            </a:r>
            <a:r>
              <a:rPr lang="en-US" altLang="zh-CN" sz="2000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PKV</a:t>
            </a:r>
            <a:r>
              <a:rPr lang="zh-CN" altLang="en-US" sz="2000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）</a:t>
            </a:r>
            <a:endParaRPr lang="zh-CN" altLang="en-US" sz="2000" b="1" dirty="0">
              <a:solidFill>
                <a:srgbClr val="004098"/>
              </a:solidFill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66486" y="1323998"/>
            <a:ext cx="11459027" cy="4323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）综合医疗保险。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法定健康险的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替代型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产品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2022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年参保人数达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870.50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万人，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占德国总人口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10.46%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。保障范围及水平不低于法定健康险，政府对其购买权限设置了要求，仅允许政府公职人员（不被法定健康险覆盖，财政承担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50%-80%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的保费，公务员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50%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，配偶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70%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，子女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80%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）、自由职业者（除艺术家和农民外）、高收入雇员（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2023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年为年薪超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66000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欧元且自愿脱离法定健康险的职工，保费由员工和雇主各支付一半）购买。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）补充医疗保险。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法定健康险的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补充型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产品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2022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年参保人数达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2912.50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万人，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占德国总人口的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34.99%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。主要对法定健康险内的个人自付费用及报销目录外的部分形成补充，提供消费医疗项目（如齿科、长护等）的报销及服务升级（如单人病房、更快使用创新药）。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）长期护理保险。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德国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1995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年起实施的护理保险制度采取“护理保险遵从医疗保险”原则，凡参加综合商业医疗保险的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须同时参加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商业护理保险。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2022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年德国该险参保人数达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918.80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万人，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占德国总人口的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11.04%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）特殊医疗保险。</a:t>
            </a:r>
            <a:r>
              <a:rPr lang="zh-CN" altLang="en-US" dirty="0"/>
              <a:t>一个相对小众但功能明确的险种，主要覆盖法定医保或综合商业医保不常包含的特定场景。包括境外旅游</a:t>
            </a:r>
            <a:r>
              <a:rPr lang="en-US" altLang="zh-CN" dirty="0"/>
              <a:t>、</a:t>
            </a:r>
            <a:r>
              <a:rPr lang="zh-CN" altLang="en-US" dirty="0"/>
              <a:t>再保险</a:t>
            </a:r>
            <a:r>
              <a:rPr lang="en-US" altLang="zh-CN" dirty="0"/>
              <a:t>、</a:t>
            </a:r>
            <a:r>
              <a:rPr lang="zh-CN" altLang="en-US" dirty="0"/>
              <a:t>其他专项等医疗险</a:t>
            </a:r>
            <a:r>
              <a:rPr lang="en-US" altLang="zh-CN" dirty="0"/>
              <a:t>。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文本框 5"/>
          <p:cNvSpPr txBox="1"/>
          <p:nvPr/>
        </p:nvSpPr>
        <p:spPr>
          <a:xfrm>
            <a:off x="711200" y="101632"/>
            <a:ext cx="989583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基本情况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：参保情况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6720" y="844290"/>
            <a:ext cx="7494122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 lvl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/>
            </a:pPr>
            <a:r>
              <a:rPr lang="zh-CN" altLang="en-US" sz="2000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商业健康保险（</a:t>
            </a:r>
            <a:r>
              <a:rPr lang="en-US" altLang="zh-CN" sz="2000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PKV</a:t>
            </a:r>
            <a:r>
              <a:rPr lang="zh-CN" altLang="en-US" sz="2000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rPr>
              <a:t>）参保人数及参保率</a:t>
            </a:r>
            <a:endParaRPr lang="zh-CN" altLang="en-US" sz="2000" b="1" dirty="0">
              <a:solidFill>
                <a:srgbClr val="004098"/>
              </a:solidFill>
              <a:latin typeface="微软雅黑" pitchFamily="34" charset="-122"/>
              <a:ea typeface="微软雅黑" pitchFamily="34" charset="-122"/>
              <a:cs typeface="Times New Roman" panose="0202050305040509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7516" b="11808"/>
          <a:stretch>
            <a:fillRect/>
          </a:stretch>
        </p:blipFill>
        <p:spPr>
          <a:xfrm>
            <a:off x="311001" y="1971304"/>
            <a:ext cx="11569998" cy="40424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/>
          <p:cNvSpPr/>
          <p:nvPr/>
        </p:nvSpPr>
        <p:spPr>
          <a:xfrm>
            <a:off x="818075" y="1698171"/>
            <a:ext cx="345704" cy="273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文本框 5"/>
          <p:cNvSpPr txBox="1"/>
          <p:nvPr/>
        </p:nvSpPr>
        <p:spPr>
          <a:xfrm>
            <a:off x="711200" y="101632"/>
            <a:ext cx="989583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基本情况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：支出结构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6720" y="844290"/>
            <a:ext cx="7494122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/>
            </a:pPr>
            <a:r>
              <a:rPr lang="en-US" altLang="zh-CN" sz="2000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2022</a:t>
            </a:r>
            <a:r>
              <a:rPr lang="zh-CN" altLang="en-US" sz="2000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年德国商业健康险赔付支出结构：</a:t>
            </a:r>
            <a:endParaRPr lang="zh-CN" altLang="en-US" sz="2000" b="1" dirty="0">
              <a:solidFill>
                <a:srgbClr val="00409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66487" y="1323998"/>
            <a:ext cx="6734957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700"/>
              </a:lnSpc>
              <a:buFont typeface="Arial" panose="020B0604020202090204" pitchFamily="34" charset="0"/>
              <a:buChar char="•"/>
            </a:pP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总赔付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7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333.13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亿欧元，同比增长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4.65%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，占当年保费收入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70.78%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ts val="2700"/>
              </a:lnSpc>
              <a:buFont typeface="Arial" panose="020B0604020202090204" pitchFamily="34" charset="0"/>
              <a:buChar char="•"/>
            </a:pP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分险种占比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：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7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综合医疗保险：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286.74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亿欧元（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86.08%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），赔付率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93.68%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7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sym typeface="+mn-ea"/>
              </a:rPr>
              <a:t>长期护理保险：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sym typeface="+mn-ea"/>
              </a:rPr>
              <a:t>27.94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sym typeface="+mn-ea"/>
              </a:rPr>
              <a:t>亿欧元（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sym typeface="+mn-ea"/>
              </a:rPr>
              <a:t>8.39%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sym typeface="+mn-ea"/>
              </a:rPr>
              <a:t>），赔付率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sym typeface="+mn-ea"/>
              </a:rPr>
              <a:t>55.04%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7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补充医疗保险：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12.56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亿欧元（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3.77%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），赔付率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11.95%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7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特殊医疗保险：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5.89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亿欧元（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1.77%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），赔付率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67.30%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ts val="2700"/>
              </a:lnSpc>
              <a:buFont typeface="Arial" panose="020B0604020202090204" pitchFamily="34" charset="0"/>
              <a:buChar char="•"/>
            </a:pP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费用流向（占总赔付）：</a:t>
            </a:r>
            <a:endParaRPr lang="zh-CN" altLang="en-US" b="1" dirty="0">
              <a:solidFill>
                <a:srgbClr val="004098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7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门诊：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47.96%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（↑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7.9pp vs 2000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7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住院：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28.32%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（↓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7.15pp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7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牙科：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15.48%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（↑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1.38pp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7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其他：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8.24%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（↓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2.13pp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 flipV="1">
            <a:off x="6899564" y="1365662"/>
            <a:ext cx="308758" cy="1543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8792" y="736269"/>
            <a:ext cx="3387642" cy="299258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720" y="3728851"/>
            <a:ext cx="3265714" cy="291065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8063346" y="844290"/>
            <a:ext cx="225631" cy="1147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063346" y="3808839"/>
            <a:ext cx="225631" cy="1147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文本框 5"/>
          <p:cNvSpPr txBox="1"/>
          <p:nvPr/>
        </p:nvSpPr>
        <p:spPr>
          <a:xfrm>
            <a:off x="711200" y="101632"/>
            <a:ext cx="989583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基本情况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：盈余情况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08758" y="2838138"/>
            <a:ext cx="5644738" cy="3360780"/>
            <a:chOff x="6543303" y="1282471"/>
            <a:chExt cx="5393243" cy="2963022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543303" y="1282471"/>
              <a:ext cx="5393243" cy="2963022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 flipV="1">
              <a:off x="6899564" y="1365662"/>
              <a:ext cx="308758" cy="1543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340" y="3184867"/>
            <a:ext cx="5534025" cy="302958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308757" y="1103531"/>
            <a:ext cx="11574485" cy="1099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700"/>
              </a:lnSpc>
              <a:buFont typeface="Arial" panose="020B0604020202090204" pitchFamily="34" charset="0"/>
              <a:buChar char="•"/>
            </a:pP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法定健康险长期赤字，依赖政府税收补贴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2022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年法定健康险实现盈余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3.9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亿欧元（剔除财政补贴亏损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281.1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亿欧元），占保费的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0.13%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ts val="2700"/>
              </a:lnSpc>
              <a:buFont typeface="Arial" panose="020B0604020202090204" pitchFamily="34" charset="0"/>
              <a:buChar char="•"/>
            </a:pP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商业健康险</a:t>
            </a:r>
            <a:r>
              <a:rPr lang="en-US" altLang="zh-CN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2022</a:t>
            </a: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年实现盈余</a:t>
            </a:r>
            <a:r>
              <a:rPr lang="en-US" altLang="zh-CN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60.28</a:t>
            </a: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亿欧元，占当年毛保费的</a:t>
            </a:r>
            <a:r>
              <a:rPr lang="en-US" altLang="zh-CN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12.85%</a:t>
            </a: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文本框 5"/>
          <p:cNvSpPr txBox="1"/>
          <p:nvPr/>
        </p:nvSpPr>
        <p:spPr>
          <a:xfrm>
            <a:off x="711200" y="101632"/>
            <a:ext cx="989583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治理体系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8757" y="1103531"/>
            <a:ext cx="5787243" cy="4908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700"/>
              </a:lnSpc>
              <a:buFont typeface="Arial" panose="020B0604020202090204" pitchFamily="34" charset="0"/>
              <a:buChar char="•"/>
            </a:pP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高度自治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7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商业健康保险协会（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PKV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统一与医疗供给方谈判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服务标准、价格与药品折扣。有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46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家商保公司会员。发挥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行业利益代言人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统一与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医院、医师、药企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谈判，避免单家险企弱势地位，形成统一商保药品目录与诊疗目录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）和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数据处理与统计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会员公司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定期上报数据，协会按性别、年龄、门诊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住院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牙科编制“个人风险统计表”和“退保统计表”，用于保费测算与行业监管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）作用。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ts val="2700"/>
              </a:lnSpc>
              <a:buFont typeface="Arial" panose="020B0604020202090204" pitchFamily="34" charset="0"/>
              <a:buChar char="•"/>
            </a:pP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严格监管</a:t>
            </a:r>
            <a:endParaRPr lang="en-US" altLang="zh-CN" b="1" dirty="0">
              <a:solidFill>
                <a:srgbClr val="004098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7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联邦金融监管局（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BaFin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）下设联邦保险监督局。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专司商业健康险监管，确保参保人利益和公司偿付能力。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7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联邦保险法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》《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保险监督法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》《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保险合同法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等。重点包括：保费审核测算、偿付能力监管、风险储备金审定、资本投资监管。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1622748"/>
            <a:ext cx="6185877" cy="41317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文本框 5"/>
          <p:cNvSpPr txBox="1"/>
          <p:nvPr/>
        </p:nvSpPr>
        <p:spPr>
          <a:xfrm>
            <a:off x="711200" y="101632"/>
            <a:ext cx="989583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价格谈判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-1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8757" y="1103531"/>
            <a:ext cx="11507191" cy="4629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）商业健康保险协会代表商业健康险公司同步参与药品评估与定价，制定商保药品目录。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ts val="3000"/>
              </a:lnSpc>
              <a:buFont typeface="Arial" panose="020B0604020202090204" pitchFamily="34" charset="0"/>
              <a:buChar char="•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前期准备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ts val="3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企业提交药品信息、临床数据、价格建议。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PKV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协会组织评估，包括药品疗效对比、成本效益分析、与现有治疗方案的差异。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ts val="3000"/>
              </a:lnSpc>
              <a:buFont typeface="Arial" panose="020B0604020202090204" pitchFamily="34" charset="0"/>
              <a:buChar char="•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正式谈判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ts val="3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商业健康保险协会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代表各商业健康险公司参与</a:t>
            </a: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药品额外效益评估和价格谈判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（主要是联邦联合委员会谈判中未被分配到固定金额组的药物），并形成统一的</a:t>
            </a:r>
            <a:r>
              <a:rPr lang="zh-CN" altLang="en-US" b="1" u="sng" dirty="0">
                <a:latin typeface="微软雅黑" pitchFamily="34" charset="-122"/>
                <a:ea typeface="微软雅黑" pitchFamily="34" charset="-122"/>
              </a:rPr>
              <a:t>商保药品目录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，所有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PKV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成员公司可自愿采纳。与基本医保目录相比，商保目录负面清单更少、对创新药赔付更多、使用更快，仿制药赔付更好。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ts val="3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商业健康保险协会可以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与制药公司谈判，</a:t>
            </a: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就药品赔付及被保险人的药品供应达成协议</a:t>
            </a:r>
            <a:r>
              <a:rPr lang="en-US" altLang="zh-CN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合同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特别是可以商定与数量相关的降价幅度、年销售额与额外收入的补偿或取决于可衡量的治疗效果的赔付金额，还可以就赔付金额商定额外的折扣。合同可分为年度或多年期，明确价格、折扣、支付条件。合同期内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PKV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协会定期监测药品使用量、实际疗效、费用支出是否超标，若未达标，可触发重新谈判或降价条款。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文本框 5"/>
          <p:cNvSpPr txBox="1"/>
          <p:nvPr/>
        </p:nvSpPr>
        <p:spPr>
          <a:xfrm>
            <a:off x="711200" y="101632"/>
            <a:ext cx="989583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价格谈判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-2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8757" y="1103531"/>
            <a:ext cx="11554692" cy="4283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3000"/>
              </a:lnSpc>
              <a:buFont typeface="Arial" panose="020B0604020202090204" pitchFamily="34" charset="0"/>
              <a:buChar char="•"/>
            </a:pP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）在德国，商业健康险的住院支付标准也执行政府</a:t>
            </a:r>
            <a:r>
              <a:rPr lang="en-US" altLang="zh-CN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DRG</a:t>
            </a: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标准。</a:t>
            </a:r>
            <a:endParaRPr lang="en-US" altLang="zh-CN" b="1" dirty="0">
              <a:solidFill>
                <a:srgbClr val="004098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3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    德国通过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DRG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每年大约分配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85%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的医院费用，目前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DRG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基本覆盖所有病人，也基本实现病种全覆盖（除精神疾病外）。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医院协会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全国法定医保基金协会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协商确认住院的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DRG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支付标准，德国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DRG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DIMDI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编码基础，医院支付系统研究中心每年更新，编码，权重系数全国统一）共定义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1296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种病组（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2022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年），每一种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DRG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又分成若干等级，有明确的费用给付标准，给付标准由各州确定，但差异不大。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3000"/>
              </a:lnSpc>
            </a:pPr>
            <a:endParaRPr lang="en-US" altLang="zh-CN" b="1" dirty="0">
              <a:solidFill>
                <a:srgbClr val="004098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ts val="3000"/>
              </a:lnSpc>
              <a:buFont typeface="Arial" panose="020B0604020202090204" pitchFamily="34" charset="0"/>
              <a:buChar char="•"/>
            </a:pP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b="1" dirty="0">
                <a:solidFill>
                  <a:srgbClr val="004098"/>
                </a:solidFill>
                <a:latin typeface="微软雅黑" pitchFamily="34" charset="-122"/>
                <a:ea typeface="微软雅黑" pitchFamily="34" charset="-122"/>
              </a:rPr>
              <a:t>）德国商保目录确定门诊服务基本费用</a:t>
            </a:r>
            <a:endParaRPr lang="zh-CN" altLang="en-US" b="1" dirty="0">
              <a:solidFill>
                <a:srgbClr val="004098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3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联邦医学会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医学专业协会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各州医生协会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一起为商业健康险参保人的医疗费用制定标准（德国商业健康保险协会参与谈判），形成</a:t>
            </a:r>
            <a:r>
              <a:rPr lang="zh-CN" altLang="en-US" b="1" u="sng" dirty="0">
                <a:latin typeface="微软雅黑" pitchFamily="34" charset="-122"/>
                <a:ea typeface="微软雅黑" pitchFamily="34" charset="-122"/>
              </a:rPr>
              <a:t>商保诊疗目录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。德国商保诊疗目录规定了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6000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多项商保医疗服务项目的基本费用，医生可以根据治疗的复杂性、所需的时间等计算增加系数，增加系数通常是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2.3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倍；如果治疗特别复杂，最高可以达到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3.5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倍。德国商保诊疗目录中规定的基本费用通常是法定健康险的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1.0~2.3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倍。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文本框 5"/>
          <p:cNvSpPr txBox="1"/>
          <p:nvPr/>
        </p:nvSpPr>
        <p:spPr>
          <a:xfrm>
            <a:off x="711200" y="101632"/>
            <a:ext cx="989583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资料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8757" y="1103531"/>
            <a:ext cx="11364688" cy="5052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ts val="3000"/>
              </a:lnSpc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参考资料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 latinLnBrk="1">
              <a:lnSpc>
                <a:spcPts val="3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商保目录的国际经验及启示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[J].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中国医疗保险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,2025,(02):19-27.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 latinLnBrk="1">
              <a:lnSpc>
                <a:spcPts val="3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兴业证券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.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海外商业健康险复盘系列报告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：德国商业健康险如何实现盈利？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.2024,03,31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 latinLnBrk="1">
              <a:lnSpc>
                <a:spcPts val="3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商业健康保险与基本医疗保险融合发展的国际经验及启示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[J].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卫生经济研究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,2023,40(03):61-64.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 latinLnBrk="1">
              <a:lnSpc>
                <a:spcPts val="3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商业健康保险在德国医保体系中的定位与策略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[J].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保险理论与实践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,2021,(10):30-39.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 latinLnBrk="1">
              <a:lnSpc>
                <a:spcPts val="3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德国医保治理及商业健康保险融合发展的研究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[J].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保险理论与实践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,2021,(02):112-129.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 latinLnBrk="1">
              <a:lnSpc>
                <a:spcPts val="3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德国商业健康险如何生存？德国商保与医保融合发展与实践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.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36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期卫生政策上海圆桌会议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.2021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latinLnBrk="1">
              <a:lnSpc>
                <a:spcPts val="3000"/>
              </a:lnSpc>
            </a:pP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latinLnBrk="1">
              <a:lnSpc>
                <a:spcPts val="3000"/>
              </a:lnSpc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其他参考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 latinLnBrk="1">
              <a:lnSpc>
                <a:spcPts val="3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德国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社会法典第五卷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》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 latinLnBrk="1">
              <a:lnSpc>
                <a:spcPts val="3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德国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保险合同法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》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 latinLnBrk="1">
              <a:lnSpc>
                <a:spcPts val="3000"/>
              </a:lnSpc>
              <a:buFont typeface="Arial" panose="020B0604020202090204" pitchFamily="34" charset="0"/>
              <a:buChar char="•"/>
            </a:pP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ts val="3000"/>
              </a:lnSpc>
              <a:buFont typeface="Arial" panose="020B0604020202090204" pitchFamily="34" charset="0"/>
              <a:buChar char="•"/>
            </a:pP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2768</Words>
  <Application>WPS 文字</Application>
  <PresentationFormat>宽屏</PresentationFormat>
  <Paragraphs>133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Times New Roman</vt:lpstr>
      <vt:lpstr>楷体</vt:lpstr>
      <vt:lpstr>汉仪楷体KW</vt:lpstr>
      <vt:lpstr>等线</vt:lpstr>
      <vt:lpstr>宋体</vt:lpstr>
      <vt:lpstr>汉仪书宋二KW</vt:lpstr>
      <vt:lpstr>Arial Unicode MS</vt:lpstr>
      <vt:lpstr>等线 Light</vt:lpstr>
      <vt:lpstr>汉仪中等线KW</vt:lpstr>
      <vt:lpstr>Calibri</vt:lpstr>
      <vt:lpstr>Helvetica Neue</vt:lpstr>
      <vt:lpstr>微软雅黑</vt:lpstr>
      <vt:lpstr>楷体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yuchao Wang</dc:creator>
  <cp:lastModifiedBy>WPS_1633742157</cp:lastModifiedBy>
  <cp:revision>119</cp:revision>
  <dcterms:created xsi:type="dcterms:W3CDTF">2025-10-28T04:11:10Z</dcterms:created>
  <dcterms:modified xsi:type="dcterms:W3CDTF">2025-10-28T04:11:10Z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690DC6D0A6C1638B5A1F006929BC02F3_43</vt:lpwstr>
  </property>
  <property fmtid="{D5CDD505-2E9C-101B-9397-08002B2CF9AE}" pid="3" name="KSOProductBuildVer">
    <vt:lpwstr>2052-7.5.1.8994</vt:lpwstr>
  </property>
</Properties>
</file>